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310" r:id="rId2"/>
    <p:sldId id="257" r:id="rId3"/>
    <p:sldId id="270" r:id="rId4"/>
    <p:sldId id="271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47843-8C6C-4CDB-9108-80F1BD59601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27056-9766-402F-B720-BAD5E91A4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97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B,C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27056-9766-402F-B720-BAD5E91A4EE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3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B,C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27056-9766-402F-B720-BAD5E91A4EE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218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27056-9766-402F-B720-BAD5E91A4EE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008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27056-9766-402F-B720-BAD5E91A4EE6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520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 err="1"/>
              <a:t>B,b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27056-9766-402F-B720-BAD5E91A4EE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303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27056-9766-402F-B720-BAD5E91A4EE6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62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27056-9766-402F-B720-BAD5E91A4EE6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239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27056-9766-402F-B720-BAD5E91A4EE6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457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27056-9766-402F-B720-BAD5E91A4EE6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367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920" y="2131127"/>
            <a:ext cx="10364160" cy="14687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61" y="3885945"/>
            <a:ext cx="8534400" cy="1752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5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1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840" y="4406247"/>
            <a:ext cx="10362240" cy="136315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840" y="2906778"/>
            <a:ext cx="10362240" cy="149946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9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41" y="1631943"/>
            <a:ext cx="5456640" cy="4239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76801" y="1631943"/>
            <a:ext cx="5456640" cy="4239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50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561" y="274552"/>
            <a:ext cx="10972800" cy="114235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0560" y="1535946"/>
            <a:ext cx="538560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560" y="2175285"/>
            <a:ext cx="538560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921" y="1535946"/>
            <a:ext cx="538944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921" y="2175285"/>
            <a:ext cx="538944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1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46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560" y="272630"/>
            <a:ext cx="4010880" cy="116156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361" y="272630"/>
            <a:ext cx="6816000" cy="58538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0560" y="1434190"/>
            <a:ext cx="4010880" cy="46923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4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401" y="4799832"/>
            <a:ext cx="7315200" cy="56830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401" y="612460"/>
            <a:ext cx="7315200" cy="4114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401" y="5368133"/>
            <a:ext cx="7315200" cy="8044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6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1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22241" y="326389"/>
            <a:ext cx="2828160" cy="55447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5840" y="326389"/>
            <a:ext cx="8302080" cy="55447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84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40" y="2613030"/>
            <a:ext cx="11097600" cy="8658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41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ChangeArrowheads="1"/>
          </p:cNvSpPr>
          <p:nvPr/>
        </p:nvSpPr>
        <p:spPr bwMode="auto">
          <a:xfrm>
            <a:off x="1" y="216954"/>
            <a:ext cx="11756160" cy="1088601"/>
          </a:xfrm>
          <a:prstGeom prst="rect">
            <a:avLst/>
          </a:prstGeom>
          <a:solidFill>
            <a:srgbClr val="C9211E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 sz="1800"/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9143041" y="6203304"/>
            <a:ext cx="3047040" cy="489582"/>
          </a:xfrm>
          <a:prstGeom prst="rect">
            <a:avLst/>
          </a:prstGeom>
          <a:solidFill>
            <a:srgbClr val="C9211E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 sz="1800"/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1088641" y="6203304"/>
            <a:ext cx="7837440" cy="489582"/>
          </a:xfrm>
          <a:prstGeom prst="rect">
            <a:avLst/>
          </a:prstGeom>
          <a:solidFill>
            <a:srgbClr val="B2B2B2"/>
          </a:solidFill>
          <a:ln w="9360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 sz="1800"/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216960" y="6203304"/>
            <a:ext cx="652800" cy="4895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 sz="1800"/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35841" y="326389"/>
            <a:ext cx="11314560" cy="86589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3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5840" y="1631943"/>
            <a:ext cx="11097600" cy="42392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216960" y="6203304"/>
            <a:ext cx="652800" cy="489582"/>
          </a:xfrm>
          <a:prstGeom prst="rect">
            <a:avLst/>
          </a:prstGeom>
          <a:solidFill>
            <a:srgbClr val="C9211E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 sz="1800"/>
          </a:p>
        </p:txBody>
      </p:sp>
      <p:sp>
        <p:nvSpPr>
          <p:cNvPr id="2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-216960" y="6203305"/>
            <a:ext cx="1518720" cy="4838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Segoe UI" charset="0"/>
              </a:defRPr>
            </a:lvl1pPr>
          </a:lstStyle>
          <a:p>
            <a:fld id="{7C85A727-A508-4E7D-BE80-CDE3D531BF8B}" type="slidenum">
              <a:rPr lang="en-US" smtClean="0"/>
              <a:t>‹#›</a:t>
            </a:fld>
            <a:endParaRPr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ftr"/>
          </p:nvPr>
        </p:nvSpPr>
        <p:spPr bwMode="auto">
          <a:xfrm>
            <a:off x="1088640" y="6203305"/>
            <a:ext cx="7831680" cy="4838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Segoe UI" charset="0"/>
              </a:defRPr>
            </a:lvl1pPr>
          </a:lstStyle>
          <a:p>
            <a:endParaRPr 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/>
          </p:nvPr>
        </p:nvSpPr>
        <p:spPr bwMode="auto">
          <a:xfrm>
            <a:off x="9143041" y="6203303"/>
            <a:ext cx="2824320" cy="4684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Segoe UI" charset="0"/>
              </a:defRPr>
            </a:lvl1pPr>
          </a:lstStyle>
          <a:p>
            <a:fld id="{17C997F1-B288-4864-BE87-C50AB6BE36D1}" type="datetimeFigureOut">
              <a:rPr lang="en-US" smtClean="0"/>
              <a:t>4/21/2026</a:t>
            </a:fld>
            <a:endParaRPr lang="en-US"/>
          </a:p>
        </p:txBody>
      </p:sp>
      <p:pic>
        <p:nvPicPr>
          <p:cNvPr id="1036" name="Picture 1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9400320" y="216954"/>
            <a:ext cx="2382720" cy="112508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41435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2pPr>
      <a:lvl3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3pPr>
      <a:lvl4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4pPr>
      <a:lvl5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9pPr>
    </p:titleStyle>
    <p:bodyStyle>
      <a:lvl1pPr marL="342900" indent="-342900" algn="l" defTabSz="457200" rtl="0" eaLnBrk="1" fontAlgn="base" hangingPunct="1">
        <a:lnSpc>
          <a:spcPct val="104000"/>
        </a:lnSpc>
        <a:spcBef>
          <a:spcPct val="0"/>
        </a:spcBef>
        <a:spcAft>
          <a:spcPts val="863"/>
        </a:spcAft>
        <a:buClr>
          <a:srgbClr val="000000"/>
        </a:buClr>
        <a:buSzPct val="100000"/>
        <a:buFont typeface="Times New Roman" pitchFamily="18" charset="0"/>
        <a:buChar char="•"/>
        <a:defRPr sz="2000" b="1">
          <a:solidFill>
            <a:srgbClr val="1C1C1C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lnSpc>
          <a:spcPct val="104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8" charset="0"/>
        <a:buChar char="–"/>
        <a:defRPr sz="1700">
          <a:solidFill>
            <a:srgbClr val="1C1C1C"/>
          </a:solidFill>
          <a:latin typeface="Source Sans Pro Light" pitchFamily="32" charset="0"/>
          <a:cs typeface="+mn-cs"/>
        </a:defRPr>
      </a:lvl2pPr>
      <a:lvl3pPr marL="1143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638"/>
        </a:spcAft>
        <a:buClr>
          <a:srgbClr val="000000"/>
        </a:buClr>
        <a:buSzPct val="100000"/>
        <a:buFont typeface="Times New Roman" pitchFamily="18" charset="0"/>
        <a:buChar char="•"/>
        <a:defRPr sz="1400">
          <a:solidFill>
            <a:srgbClr val="1C1C1C"/>
          </a:solidFill>
          <a:latin typeface="Source Sans Pro Light" pitchFamily="32" charset="0"/>
          <a:cs typeface="+mn-cs"/>
        </a:defRPr>
      </a:lvl3pPr>
      <a:lvl4pPr marL="1600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425"/>
        </a:spcAft>
        <a:buClr>
          <a:srgbClr val="000000"/>
        </a:buClr>
        <a:buSzPct val="100000"/>
        <a:buFont typeface="Times New Roman" pitchFamily="18" charset="0"/>
        <a:buChar char="–"/>
        <a:defRPr sz="1200">
          <a:solidFill>
            <a:srgbClr val="1C1C1C"/>
          </a:solidFill>
          <a:latin typeface="Source Sans Pro Light" pitchFamily="32" charset="0"/>
          <a:cs typeface="+mn-cs"/>
        </a:defRPr>
      </a:lvl4pPr>
      <a:lvl5pPr marL="20574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8" charset="0"/>
        <a:buChar char="»"/>
        <a:defRPr sz="1200">
          <a:solidFill>
            <a:srgbClr val="1C1C1C"/>
          </a:solidFill>
          <a:latin typeface="Source Sans Pro Light" pitchFamily="32" charset="0"/>
          <a:cs typeface="+mn-cs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76C8-97EA-6996-4DC6-33D99E1B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Unit:-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(CI) with GitHub Actions</a:t>
            </a:r>
            <a:br>
              <a:rPr lang="en-US" alt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AB91-C1B1-F494-7575-91E6521A5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n-US" sz="3200" dirty="0"/>
          </a:p>
          <a:p>
            <a:pPr marL="0" indent="0" algn="ctr">
              <a:lnSpc>
                <a:spcPct val="150000"/>
              </a:lnSpc>
              <a:buNone/>
            </a:pPr>
            <a:endParaRPr lang="en-US" sz="3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200" dirty="0"/>
              <a:t>INT 332 – </a:t>
            </a:r>
            <a:r>
              <a:rPr lang="en-US" sz="32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Virtualization And Configuration Management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40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dirty="0"/>
              <a:t>Introduction to GitHub Actions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98EF63-44BD-FB0B-E0BD-BBCDF4A43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1302026"/>
            <a:ext cx="11384353" cy="4569129"/>
          </a:xfrm>
        </p:spPr>
        <p:txBody>
          <a:bodyPr/>
          <a:lstStyle/>
          <a:p>
            <a:pPr>
              <a:buNone/>
            </a:pPr>
            <a:r>
              <a:rPr lang="en-US" b="1" dirty="0"/>
              <a:t>GitHub Actions</a:t>
            </a:r>
            <a:r>
              <a:rPr lang="en-US" dirty="0"/>
              <a:t> is a CI/CD (Continuous Integration &amp; Continuous Deployment) platform that allows you to automate workflows directly inside your GitHub repository.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It helps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Building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Running tests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Deploying 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Automating repetitive development tasks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  <a:r>
              <a:rPr lang="en-US" b="1" dirty="0"/>
              <a:t>Analogy:</a:t>
            </a:r>
            <a:br>
              <a:rPr lang="en-US" dirty="0"/>
            </a:br>
            <a:r>
              <a:rPr lang="en-US" dirty="0"/>
              <a:t>Think of GitHub Actions like a </a:t>
            </a:r>
            <a:r>
              <a:rPr lang="en-US" b="1" dirty="0"/>
              <a:t>smart assistant</a:t>
            </a:r>
            <a:r>
              <a:rPr lang="en-US" dirty="0"/>
              <a:t> that automatically performs tasks (like testing or deployment) whenever something happens in your repository.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53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83B6-6470-1EC5-90D0-1EE4927E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41" y="326389"/>
            <a:ext cx="11314560" cy="1303628"/>
          </a:xfrm>
        </p:spPr>
        <p:txBody>
          <a:bodyPr/>
          <a:lstStyle/>
          <a:p>
            <a:r>
              <a:rPr lang="en-US" dirty="0"/>
              <a:t>Understanding Workflow Automation</a:t>
            </a:r>
            <a:br>
              <a:rPr lang="en-US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1393-CF72-F66F-1DFD-F0E7D7F3B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80" y="1461052"/>
            <a:ext cx="11314560" cy="44101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What is a Workflow?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workflow is an automated process defined in a YAML file.</a:t>
            </a:r>
          </a:p>
          <a:p>
            <a:r>
              <a:rPr lang="en-US" dirty="0"/>
              <a:t>Stored inside .</a:t>
            </a:r>
            <a:r>
              <a:rPr lang="en-US" dirty="0" err="1"/>
              <a:t>github</a:t>
            </a:r>
            <a:r>
              <a:rPr lang="en-US" dirty="0"/>
              <a:t>/workflows/ </a:t>
            </a:r>
          </a:p>
          <a:p>
            <a:r>
              <a:rPr lang="en-US" dirty="0"/>
              <a:t>Contains one or more jobs </a:t>
            </a:r>
          </a:p>
          <a:p>
            <a:r>
              <a:rPr lang="en-US" dirty="0"/>
              <a:t>Each job has steps (commands/actions)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693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641CB-99E4-AD32-7D15-A93BF4773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980D-BFEF-C7DF-6B44-A78F23BA0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70" y="1371600"/>
            <a:ext cx="11414170" cy="449955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name: My First Workflow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on: push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jobs:</a:t>
            </a:r>
          </a:p>
          <a:p>
            <a:pPr marL="0" indent="0">
              <a:buNone/>
            </a:pPr>
            <a:r>
              <a:rPr lang="en-US" dirty="0"/>
              <a:t>  build:</a:t>
            </a:r>
          </a:p>
          <a:p>
            <a:pPr marL="0" indent="0">
              <a:buNone/>
            </a:pPr>
            <a:r>
              <a:rPr lang="en-US" dirty="0"/>
              <a:t>    runs-on: ubuntu-latest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steps:</a:t>
            </a:r>
          </a:p>
          <a:p>
            <a:pPr marL="0" indent="0">
              <a:buNone/>
            </a:pPr>
            <a:r>
              <a:rPr lang="en-US" dirty="0"/>
              <a:t>      - name: Checkout code</a:t>
            </a:r>
          </a:p>
          <a:p>
            <a:pPr marL="0" indent="0">
              <a:buNone/>
            </a:pPr>
            <a:r>
              <a:rPr lang="en-US" dirty="0"/>
              <a:t>        uses: actions/checkout@v3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- name: Run a script</a:t>
            </a:r>
          </a:p>
          <a:p>
            <a:pPr marL="0" indent="0">
              <a:buNone/>
            </a:pPr>
            <a:r>
              <a:rPr lang="en-US" dirty="0"/>
              <a:t>        run: echo "Hello World"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71532-6DE7-692B-EAAE-02A59BD0C392}"/>
              </a:ext>
            </a:extLst>
          </p:cNvPr>
          <p:cNvSpPr txBox="1"/>
          <p:nvPr/>
        </p:nvSpPr>
        <p:spPr>
          <a:xfrm>
            <a:off x="874643" y="617513"/>
            <a:ext cx="61026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Basic Structure of a Workflow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30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DD2B-2F00-5BBA-2513-27FD49375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Workflow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C28F4-12D4-1DEA-D4A1-935C3CD2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 (on) → When to run </a:t>
            </a:r>
          </a:p>
          <a:p>
            <a:r>
              <a:rPr lang="en-US" dirty="0"/>
              <a:t>Jobs → What to do </a:t>
            </a:r>
          </a:p>
          <a:p>
            <a:r>
              <a:rPr lang="en-US" dirty="0"/>
              <a:t>Steps → How to do </a:t>
            </a:r>
          </a:p>
          <a:p>
            <a:r>
              <a:rPr lang="en-US" dirty="0"/>
              <a:t>Actions → Predefined reusable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586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942C-D0A8-D8B1-A6CF-510CC021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Events in GitHub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7C3F-414E-E391-99AA-C05F0EF6F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41" y="1522612"/>
            <a:ext cx="11097600" cy="4239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are Events?</a:t>
            </a:r>
          </a:p>
          <a:p>
            <a:r>
              <a:rPr lang="en-US" dirty="0"/>
              <a:t>Events are activities that trigger workflows.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E10FBD-B490-202C-E552-3F233C1E0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546102"/>
              </p:ext>
            </p:extLst>
          </p:nvPr>
        </p:nvGraphicFramePr>
        <p:xfrm>
          <a:off x="658560" y="2654269"/>
          <a:ext cx="7839397" cy="21945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472163">
                  <a:extLst>
                    <a:ext uri="{9D8B030D-6E8A-4147-A177-3AD203B41FA5}">
                      <a16:colId xmlns:a16="http://schemas.microsoft.com/office/drawing/2014/main" val="3107203998"/>
                    </a:ext>
                  </a:extLst>
                </a:gridCol>
                <a:gridCol w="5367234">
                  <a:extLst>
                    <a:ext uri="{9D8B030D-6E8A-4147-A177-3AD203B41FA5}">
                      <a16:colId xmlns:a16="http://schemas.microsoft.com/office/drawing/2014/main" val="4097671106"/>
                    </a:ext>
                  </a:extLst>
                </a:gridCol>
              </a:tblGrid>
              <a:tr h="360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Event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64450"/>
                  </a:ext>
                </a:extLst>
              </a:tr>
              <a:tr h="360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When code is pushed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935977"/>
                  </a:ext>
                </a:extLst>
              </a:tr>
              <a:tr h="360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pull_request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When PR is created/updated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488906"/>
                  </a:ext>
                </a:extLst>
              </a:tr>
              <a:tr h="360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workflow_dispatch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Manual trigger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406281"/>
                  </a:ext>
                </a:extLst>
              </a:tr>
              <a:tr h="360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Runs on cron timing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953177"/>
                  </a:ext>
                </a:extLst>
              </a:tr>
              <a:tr h="360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When issue is created/updated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421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53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D8E8-458B-B182-9FFD-859FAC62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Triggers in GitHub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12B75-E923-54FE-12FC-7D2A98DAC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40" y="1631942"/>
            <a:ext cx="11097600" cy="46098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a Trigger?</a:t>
            </a:r>
          </a:p>
          <a:p>
            <a:pPr marL="0" indent="0">
              <a:buNone/>
            </a:pPr>
            <a:r>
              <a:rPr lang="en-US" dirty="0"/>
              <a:t>A trigger is the condition under which an event runs a workflow.</a:t>
            </a:r>
          </a:p>
          <a:p>
            <a:r>
              <a:rPr lang="en-US" dirty="0"/>
              <a:t> Event = "push"</a:t>
            </a:r>
            <a:br>
              <a:rPr lang="en-US" dirty="0"/>
            </a:br>
            <a:r>
              <a:rPr lang="en-US" dirty="0"/>
              <a:t> Trigger = "only on main branch“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Example with Filters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on:</a:t>
            </a:r>
          </a:p>
          <a:p>
            <a:pPr marL="0" indent="0">
              <a:buNone/>
            </a:pPr>
            <a:r>
              <a:rPr lang="en-US" dirty="0"/>
              <a:t>  push:</a:t>
            </a:r>
          </a:p>
          <a:p>
            <a:pPr marL="0" indent="0">
              <a:buNone/>
            </a:pPr>
            <a:r>
              <a:rPr lang="en-US" dirty="0"/>
              <a:t> branches:</a:t>
            </a:r>
          </a:p>
          <a:p>
            <a:pPr marL="0" indent="0">
              <a:buNone/>
            </a:pPr>
            <a:r>
              <a:rPr lang="en-US" dirty="0"/>
              <a:t>     - main</a:t>
            </a:r>
          </a:p>
          <a:p>
            <a:pPr marL="0" indent="0">
              <a:buNone/>
            </a:pPr>
            <a:r>
              <a:rPr lang="en-US" dirty="0"/>
              <a:t>   paths:</a:t>
            </a:r>
          </a:p>
          <a:p>
            <a:r>
              <a:rPr lang="en-US" dirty="0"/>
              <a:t>      - '</a:t>
            </a:r>
            <a:r>
              <a:rPr lang="en-US" dirty="0" err="1"/>
              <a:t>src</a:t>
            </a:r>
            <a:r>
              <a:rPr lang="en-US" dirty="0"/>
              <a:t>/**'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2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4D42-5992-4B23-BE44-6877F167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2312D-C139-2CA9-A4B6-275D843B2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80" y="1550504"/>
            <a:ext cx="11314560" cy="4320651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IN" dirty="0"/>
              <a:t>Branch-based Trigger</a:t>
            </a:r>
          </a:p>
          <a:p>
            <a:pPr marL="0" indent="0">
              <a:buNone/>
            </a:pPr>
            <a:r>
              <a:rPr lang="en-IN" dirty="0"/>
              <a:t>branches: [main, dev]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Path-based Trigger</a:t>
            </a:r>
          </a:p>
          <a:p>
            <a:pPr marL="0" indent="0">
              <a:buNone/>
            </a:pPr>
            <a:r>
              <a:rPr lang="en-IN" dirty="0"/>
              <a:t>paths: - 'app/**’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3. Tag-based Trigger</a:t>
            </a:r>
          </a:p>
          <a:p>
            <a:pPr marL="0" indent="0">
              <a:buNone/>
            </a:pPr>
            <a:r>
              <a:rPr lang="en-IN" dirty="0"/>
              <a:t>tags:- 'v1.*'</a:t>
            </a:r>
          </a:p>
        </p:txBody>
      </p:sp>
    </p:spTree>
    <p:extLst>
      <p:ext uri="{BB962C8B-B14F-4D97-AF65-F5344CB8AC3E}">
        <p14:creationId xmlns:p14="http://schemas.microsoft.com/office/powerpoint/2010/main" val="257168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D9EC-9125-6191-954F-57D04827A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90E2B-99D4-5C21-C10F-1C3894888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79" y="1309394"/>
            <a:ext cx="11097600" cy="531006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4. Time-based Trigger (Cron)</a:t>
            </a:r>
          </a:p>
          <a:p>
            <a:pPr marL="0" indent="0">
              <a:buNone/>
            </a:pPr>
            <a:r>
              <a:rPr lang="en-US" dirty="0"/>
              <a:t>on:</a:t>
            </a:r>
          </a:p>
          <a:p>
            <a:pPr marL="0" indent="0">
              <a:buNone/>
            </a:pPr>
            <a:r>
              <a:rPr lang="en-US" dirty="0"/>
              <a:t>  schedule:</a:t>
            </a:r>
          </a:p>
          <a:p>
            <a:pPr marL="0" indent="0">
              <a:buNone/>
            </a:pPr>
            <a:r>
              <a:rPr lang="en-US" dirty="0"/>
              <a:t>    - </a:t>
            </a:r>
            <a:r>
              <a:rPr lang="en-US" dirty="0" err="1"/>
              <a:t>cron</a:t>
            </a:r>
            <a:r>
              <a:rPr lang="en-US" dirty="0"/>
              <a:t>: '0 0 * * *’</a:t>
            </a:r>
          </a:p>
          <a:p>
            <a:pPr marL="0" indent="0">
              <a:buNone/>
            </a:pPr>
            <a:r>
              <a:rPr lang="en-IN" dirty="0"/>
              <a:t>5. Workflow Directory Structure</a:t>
            </a:r>
          </a:p>
          <a:p>
            <a:pPr marL="0" indent="0">
              <a:buNone/>
            </a:pPr>
            <a:r>
              <a:rPr lang="en-IN" dirty="0"/>
              <a:t>repository/</a:t>
            </a:r>
          </a:p>
          <a:p>
            <a:pPr marL="0" indent="0">
              <a:buNone/>
            </a:pPr>
            <a:r>
              <a:rPr lang="en-IN" sz="1200" dirty="0"/>
              <a:t>├── .</a:t>
            </a:r>
            <a:r>
              <a:rPr lang="en-IN" sz="1200" dirty="0" err="1"/>
              <a:t>github</a:t>
            </a:r>
            <a:r>
              <a:rPr lang="en-IN" sz="1200" dirty="0"/>
              <a:t>/</a:t>
            </a:r>
          </a:p>
          <a:p>
            <a:pPr marL="0" indent="0">
              <a:buNone/>
            </a:pPr>
            <a:r>
              <a:rPr lang="en-IN" sz="1200" dirty="0"/>
              <a:t>│   └── workflows/</a:t>
            </a:r>
          </a:p>
          <a:p>
            <a:pPr marL="0" indent="0">
              <a:buNone/>
            </a:pPr>
            <a:r>
              <a:rPr lang="en-IN" sz="1200" dirty="0"/>
              <a:t>│       ├── </a:t>
            </a:r>
            <a:r>
              <a:rPr lang="en-IN" sz="1200" dirty="0" err="1"/>
              <a:t>build.yml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│       ├── </a:t>
            </a:r>
            <a:r>
              <a:rPr lang="en-IN" sz="1200" dirty="0" err="1"/>
              <a:t>deploy.yml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│</a:t>
            </a:r>
          </a:p>
          <a:p>
            <a:pPr marL="0" indent="0">
              <a:buNone/>
            </a:pPr>
            <a:r>
              <a:rPr lang="en-IN" sz="1200" dirty="0"/>
              <a:t>├── </a:t>
            </a:r>
            <a:r>
              <a:rPr lang="en-IN" sz="1200" dirty="0" err="1"/>
              <a:t>src</a:t>
            </a:r>
            <a:r>
              <a:rPr lang="en-IN" sz="1200" dirty="0"/>
              <a:t>/</a:t>
            </a:r>
          </a:p>
          <a:p>
            <a:pPr marL="0" indent="0">
              <a:buNone/>
            </a:pPr>
            <a:r>
              <a:rPr lang="en-IN" sz="1200" dirty="0"/>
              <a:t>├── tests/</a:t>
            </a:r>
          </a:p>
          <a:p>
            <a:pPr marL="0" indent="0">
              <a:buNone/>
            </a:pPr>
            <a:r>
              <a:rPr lang="en-IN" sz="1200" dirty="0"/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38720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FD89-709A-8EA9-B184-70696325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43382-00FD-076C-2073-732D373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6. Jobs and Steps</a:t>
            </a:r>
          </a:p>
          <a:p>
            <a:pPr marL="0" indent="0">
              <a:buNone/>
            </a:pPr>
            <a:r>
              <a:rPr lang="en-US" dirty="0"/>
              <a:t>Jobs</a:t>
            </a:r>
          </a:p>
          <a:p>
            <a:pPr marL="0" indent="0">
              <a:buNone/>
            </a:pPr>
            <a:r>
              <a:rPr lang="en-US" dirty="0"/>
              <a:t>A workflow contains multiple jobs </a:t>
            </a:r>
          </a:p>
          <a:p>
            <a:pPr marL="0" indent="0">
              <a:buNone/>
            </a:pPr>
            <a:r>
              <a:rPr lang="en-US" dirty="0"/>
              <a:t>Jobs run in parallel by default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jobs:</a:t>
            </a:r>
          </a:p>
          <a:p>
            <a:pPr marL="0" indent="0">
              <a:buNone/>
            </a:pPr>
            <a:r>
              <a:rPr lang="en-US" dirty="0"/>
              <a:t>  build:</a:t>
            </a:r>
          </a:p>
          <a:p>
            <a:pPr marL="0" indent="0">
              <a:buNone/>
            </a:pPr>
            <a:r>
              <a:rPr lang="en-US" dirty="0"/>
              <a:t>  test: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75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9809-E452-25B9-BCD0-6B5D9158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9FC9C-154F-5388-635F-59EF7C478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</a:t>
            </a:r>
          </a:p>
          <a:p>
            <a:r>
              <a:rPr lang="en-US" dirty="0"/>
              <a:t>Each job has steps executed sequentially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steps:</a:t>
            </a:r>
          </a:p>
          <a:p>
            <a:pPr marL="0" indent="0">
              <a:buNone/>
            </a:pPr>
            <a:r>
              <a:rPr lang="en-US" dirty="0"/>
              <a:t>  - name: Step 1</a:t>
            </a:r>
          </a:p>
          <a:p>
            <a:pPr marL="0" indent="0">
              <a:buNone/>
            </a:pPr>
            <a:r>
              <a:rPr lang="en-US" dirty="0"/>
              <a:t>    run: echo "Hello“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78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3BB7-EBD6-72CD-FEEB-CD58466D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Actions (Reusable Components)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C5305-B52E-D65E-5083-332CB9214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40" y="1631943"/>
            <a:ext cx="11097600" cy="47092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are Actions?</a:t>
            </a:r>
          </a:p>
          <a:p>
            <a:pPr marL="0" indent="0">
              <a:buNone/>
            </a:pPr>
            <a:r>
              <a:rPr lang="en-US" dirty="0"/>
              <a:t>Reusable units of code.</a:t>
            </a:r>
          </a:p>
          <a:p>
            <a:pPr marL="0" indent="0">
              <a:buNone/>
            </a:pPr>
            <a:r>
              <a:rPr lang="en-US" dirty="0"/>
              <a:t>      Example:</a:t>
            </a:r>
          </a:p>
          <a:p>
            <a:pPr marL="0" indent="0">
              <a:buNone/>
            </a:pPr>
            <a:r>
              <a:rPr lang="en-US" dirty="0"/>
              <a:t>uses: actions/checkout@v3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8. Runners</a:t>
            </a:r>
          </a:p>
          <a:p>
            <a:pPr marL="0" indent="0">
              <a:buNone/>
            </a:pPr>
            <a:r>
              <a:rPr lang="en-US" dirty="0"/>
              <a:t>What is a Runner?</a:t>
            </a:r>
          </a:p>
          <a:p>
            <a:pPr marL="0" indent="0">
              <a:buNone/>
            </a:pPr>
            <a:r>
              <a:rPr lang="en-US" dirty="0"/>
              <a:t>A server that runs your workflow.</a:t>
            </a:r>
          </a:p>
          <a:p>
            <a:pPr marL="0" indent="0">
              <a:buNone/>
            </a:pPr>
            <a:r>
              <a:rPr lang="en-US" dirty="0"/>
              <a:t>Types:</a:t>
            </a:r>
          </a:p>
          <a:p>
            <a:r>
              <a:rPr lang="en-US" dirty="0"/>
              <a:t>GitHub-hosted (Ubuntu, Windows, macOS) </a:t>
            </a:r>
          </a:p>
          <a:p>
            <a:r>
              <a:rPr lang="en-US" dirty="0"/>
              <a:t>Self-hosted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856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FD165-46E0-933E-E1DB-5D9948115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Real-Life Example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3170D-CFC7-9042-42D5-F26072FDA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80" y="1313890"/>
            <a:ext cx="11097600" cy="6070883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          name: Java CI Pipeline</a:t>
            </a:r>
          </a:p>
          <a:p>
            <a:r>
              <a:rPr lang="en-US" sz="1200" dirty="0"/>
              <a:t>on:</a:t>
            </a:r>
          </a:p>
          <a:p>
            <a:r>
              <a:rPr lang="en-US" sz="1200" dirty="0"/>
              <a:t>  push:</a:t>
            </a:r>
          </a:p>
          <a:p>
            <a:r>
              <a:rPr lang="en-US" sz="1200" dirty="0"/>
              <a:t>    branches: [main]</a:t>
            </a:r>
          </a:p>
          <a:p>
            <a:r>
              <a:rPr lang="en-US" sz="1200" dirty="0"/>
              <a:t>jobs:</a:t>
            </a:r>
          </a:p>
          <a:p>
            <a:r>
              <a:rPr lang="en-US" sz="1200" dirty="0"/>
              <a:t>  build:</a:t>
            </a:r>
          </a:p>
          <a:p>
            <a:r>
              <a:rPr lang="en-US" sz="1200" dirty="0"/>
              <a:t>    runs-on: ubuntu-latest</a:t>
            </a:r>
          </a:p>
          <a:p>
            <a:r>
              <a:rPr lang="en-US" sz="1200" dirty="0"/>
              <a:t>    steps:</a:t>
            </a:r>
          </a:p>
          <a:p>
            <a:r>
              <a:rPr lang="en-US" sz="1200" dirty="0"/>
              <a:t>      - uses: actions/checkout@v3</a:t>
            </a:r>
          </a:p>
          <a:p>
            <a:endParaRPr lang="en-US" sz="1200" dirty="0"/>
          </a:p>
          <a:p>
            <a:r>
              <a:rPr lang="en-US" sz="1200" dirty="0"/>
              <a:t>      - name: Set up Java</a:t>
            </a:r>
          </a:p>
          <a:p>
            <a:r>
              <a:rPr lang="en-US" sz="1200" dirty="0"/>
              <a:t>        uses: actions/setup-java@v3</a:t>
            </a:r>
          </a:p>
          <a:p>
            <a:r>
              <a:rPr lang="en-US" sz="1200" dirty="0"/>
              <a:t>        with:</a:t>
            </a:r>
          </a:p>
          <a:p>
            <a:r>
              <a:rPr lang="en-US" sz="1200" dirty="0"/>
              <a:t>          java-version: '17'</a:t>
            </a:r>
          </a:p>
          <a:p>
            <a:r>
              <a:rPr lang="en-US" sz="1200" dirty="0"/>
              <a:t>      - name: Build with Maven</a:t>
            </a:r>
          </a:p>
          <a:p>
            <a:r>
              <a:rPr lang="en-US" sz="1200" dirty="0"/>
              <a:t>        run: </a:t>
            </a:r>
            <a:r>
              <a:rPr lang="en-US" sz="1200" dirty="0" err="1"/>
              <a:t>mvn</a:t>
            </a:r>
            <a:r>
              <a:rPr lang="en-US" sz="1200" dirty="0"/>
              <a:t> clean install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124714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250E-61F6-2F46-555C-BA72B5EE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660F-7AE4-C8C6-F801-33A1228E6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300000"/>
              </a:lnSpc>
              <a:buNone/>
            </a:pPr>
            <a:endParaRPr lang="en-IN" dirty="0"/>
          </a:p>
          <a:p>
            <a:pPr marL="0" indent="0" algn="ctr">
              <a:lnSpc>
                <a:spcPct val="300000"/>
              </a:lnSpc>
              <a:buNone/>
            </a:pPr>
            <a:r>
              <a:rPr lang="en-IN" sz="3600" dirty="0">
                <a:highlight>
                  <a:srgbClr val="FFFF00"/>
                </a:highlight>
              </a:rPr>
              <a:t>GitHub Actions Workflows</a:t>
            </a:r>
          </a:p>
        </p:txBody>
      </p:sp>
    </p:spTree>
    <p:extLst>
      <p:ext uri="{BB962C8B-B14F-4D97-AF65-F5344CB8AC3E}">
        <p14:creationId xmlns:p14="http://schemas.microsoft.com/office/powerpoint/2010/main" val="981299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1DA1-1612-FEC1-1815-9A0B2248A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Workflow Triggers in GitHub Actions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D81CB-9028-3996-9351-A40FA76E8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1.1 Push Trigger</a:t>
            </a:r>
          </a:p>
          <a:p>
            <a:pPr marL="0" indent="0">
              <a:buNone/>
            </a:pPr>
            <a:r>
              <a:rPr lang="en-US" dirty="0"/>
              <a:t>Runs workflow when code is pushed.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on:</a:t>
            </a:r>
          </a:p>
          <a:p>
            <a:pPr marL="0" indent="0">
              <a:buNone/>
            </a:pPr>
            <a:r>
              <a:rPr lang="en-IN" dirty="0"/>
              <a:t>  push:</a:t>
            </a:r>
          </a:p>
          <a:p>
            <a:pPr marL="0" indent="0">
              <a:buNone/>
            </a:pPr>
            <a:r>
              <a:rPr lang="en-IN" dirty="0"/>
              <a:t>    branches: [main]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Use case:</a:t>
            </a:r>
          </a:p>
          <a:p>
            <a:r>
              <a:rPr lang="en-US" dirty="0"/>
              <a:t>Continuous Integration (CI) </a:t>
            </a:r>
          </a:p>
          <a:p>
            <a:r>
              <a:rPr lang="en-US" dirty="0"/>
              <a:t>Build &amp; test on every commit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701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036B9-9C8B-A0B0-9E19-74278986F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41" y="326389"/>
            <a:ext cx="11314560" cy="538315"/>
          </a:xfrm>
        </p:spPr>
        <p:txBody>
          <a:bodyPr/>
          <a:lstStyle/>
          <a:p>
            <a:r>
              <a:rPr lang="en-IN" dirty="0"/>
              <a:t>1.2 Pull Request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5A0CF-19F1-CB9F-2AD3-BE69ABFDF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Triggered when a PR is opened, updated, or merged.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on: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pull_request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    branches: [main]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Use case:</a:t>
            </a:r>
          </a:p>
          <a:p>
            <a:r>
              <a:rPr lang="en-US" dirty="0"/>
              <a:t>Code review validation </a:t>
            </a:r>
          </a:p>
          <a:p>
            <a:r>
              <a:rPr lang="en-US" dirty="0"/>
              <a:t>Testing before merging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60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CFDD-F303-FEAD-2D87-6AAC1B6C3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41" y="326389"/>
            <a:ext cx="11314560" cy="578072"/>
          </a:xfrm>
        </p:spPr>
        <p:txBody>
          <a:bodyPr/>
          <a:lstStyle/>
          <a:p>
            <a:r>
              <a:rPr lang="en-US" dirty="0"/>
              <a:t>1.3 Schedule Trigger (Cron Jobs)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C192B-3147-6556-71C9-1EA11C364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80" y="1431235"/>
            <a:ext cx="11314560" cy="44399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Runs workflow at scheduled intervals.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on:</a:t>
            </a:r>
          </a:p>
          <a:p>
            <a:pPr marL="0" indent="0">
              <a:buNone/>
            </a:pPr>
            <a:r>
              <a:rPr lang="en-US" dirty="0"/>
              <a:t>  schedule:</a:t>
            </a:r>
          </a:p>
          <a:p>
            <a:pPr marL="0" indent="0">
              <a:buNone/>
            </a:pPr>
            <a:r>
              <a:rPr lang="en-US" dirty="0"/>
              <a:t>    - </a:t>
            </a:r>
            <a:r>
              <a:rPr lang="en-US" dirty="0" err="1"/>
              <a:t>cron</a:t>
            </a:r>
            <a:r>
              <a:rPr lang="en-US" dirty="0"/>
              <a:t>: '0 0 * * *’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Nightly builds </a:t>
            </a:r>
          </a:p>
          <a:p>
            <a:r>
              <a:rPr lang="en-US" dirty="0"/>
              <a:t>Automated backups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103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BB1B-AB5D-62E7-6FF1-794E27DA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41" y="326389"/>
            <a:ext cx="11314560" cy="660456"/>
          </a:xfrm>
        </p:spPr>
        <p:txBody>
          <a:bodyPr/>
          <a:lstStyle/>
          <a:p>
            <a:r>
              <a:rPr lang="en-US" dirty="0"/>
              <a:t>1.4 Manual Trigger (</a:t>
            </a:r>
            <a:r>
              <a:rPr lang="en-US" dirty="0" err="1"/>
              <a:t>workflow_dispatch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84A3-9297-E3F8-C46E-6B9D8922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80" y="1391478"/>
            <a:ext cx="11314560" cy="44796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Allows user to trigger workflow manually from GitHub UI.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on: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workflow_dispatch</a:t>
            </a:r>
            <a:r>
              <a:rPr lang="en-IN" dirty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Use case:</a:t>
            </a:r>
          </a:p>
          <a:p>
            <a:r>
              <a:rPr lang="en-US" dirty="0"/>
              <a:t>On-demand deployments </a:t>
            </a:r>
          </a:p>
          <a:p>
            <a:r>
              <a:rPr lang="en-US" dirty="0"/>
              <a:t>Testing pipelines manually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3199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E010-03AD-26DB-5824-BE235B29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2.Jobs &amp; Matrix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EC97D-1D1A-3BD8-CE83-7E318C61E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1" y="1351722"/>
            <a:ext cx="11434049" cy="45194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a Job?</a:t>
            </a:r>
          </a:p>
          <a:p>
            <a:pPr marL="0" indent="0">
              <a:buNone/>
            </a:pPr>
            <a:r>
              <a:rPr lang="en-US" dirty="0"/>
              <a:t>      A job is a set of steps executed on the same runner.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jobs:</a:t>
            </a:r>
          </a:p>
          <a:p>
            <a:pPr marL="0" indent="0">
              <a:buNone/>
            </a:pPr>
            <a:r>
              <a:rPr lang="en-US" dirty="0"/>
              <a:t>  build:</a:t>
            </a:r>
          </a:p>
          <a:p>
            <a:pPr marL="0" indent="0">
              <a:buNone/>
            </a:pPr>
            <a:r>
              <a:rPr lang="en-US" dirty="0"/>
              <a:t>    runs-on: ubuntu-latest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401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A7EA-9CB8-70DA-AA9A-8EA28B2E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C9DF4-5336-806F-6D63-D0F7F96B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40" y="1631942"/>
            <a:ext cx="11097600" cy="61205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Matrix Strategy (Parallel Execution)</a:t>
            </a:r>
          </a:p>
          <a:p>
            <a:r>
              <a:rPr lang="en-US" dirty="0"/>
              <a:t>Runs the same job with multiple configurations.</a:t>
            </a:r>
          </a:p>
          <a:p>
            <a:pPr marL="0" indent="0">
              <a:buNone/>
            </a:pPr>
            <a:r>
              <a:rPr lang="en-IN" sz="1400" dirty="0"/>
              <a:t>jobs:</a:t>
            </a:r>
          </a:p>
          <a:p>
            <a:pPr marL="0" indent="0">
              <a:buNone/>
            </a:pPr>
            <a:r>
              <a:rPr lang="en-IN" sz="1400" dirty="0"/>
              <a:t>  test:</a:t>
            </a:r>
          </a:p>
          <a:p>
            <a:pPr marL="0" indent="0">
              <a:buNone/>
            </a:pPr>
            <a:r>
              <a:rPr lang="en-IN" sz="1400" dirty="0"/>
              <a:t>    runs-on: ubuntu-latest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strategy:</a:t>
            </a:r>
          </a:p>
          <a:p>
            <a:pPr marL="0" indent="0">
              <a:buNone/>
            </a:pPr>
            <a:r>
              <a:rPr lang="en-IN" sz="1400" dirty="0"/>
              <a:t>      matrix:</a:t>
            </a:r>
          </a:p>
          <a:p>
            <a:pPr marL="0" indent="0">
              <a:buNone/>
            </a:pPr>
            <a:r>
              <a:rPr lang="en-IN" sz="1400" dirty="0"/>
              <a:t>        node-version: [14, 16, 18]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steps:</a:t>
            </a:r>
          </a:p>
          <a:p>
            <a:pPr marL="0" indent="0">
              <a:buNone/>
            </a:pPr>
            <a:r>
              <a:rPr lang="en-IN" sz="1400" dirty="0"/>
              <a:t>      - uses: actions/setup-node@v3</a:t>
            </a:r>
          </a:p>
          <a:p>
            <a:pPr marL="0" indent="0">
              <a:buNone/>
            </a:pPr>
            <a:r>
              <a:rPr lang="en-IN" sz="1400" dirty="0"/>
              <a:t>        with:</a:t>
            </a:r>
          </a:p>
          <a:p>
            <a:pPr marL="0" indent="0">
              <a:buNone/>
            </a:pPr>
            <a:r>
              <a:rPr lang="en-IN" sz="1400" dirty="0"/>
              <a:t>          node-version: ${{ </a:t>
            </a:r>
            <a:r>
              <a:rPr lang="en-IN" sz="1400" dirty="0" err="1"/>
              <a:t>matrix.node</a:t>
            </a:r>
            <a:r>
              <a:rPr lang="en-IN" sz="1400" dirty="0"/>
              <a:t>-version }}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304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05D9-3EC1-715F-273C-CEDA37D7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Steps &amp; Shell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93824-D333-8F82-D179-9E2ED2984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</a:t>
            </a:r>
          </a:p>
          <a:p>
            <a:r>
              <a:rPr lang="en-US" dirty="0"/>
              <a:t>Each job consists of sequential steps.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Steps:</a:t>
            </a:r>
          </a:p>
          <a:p>
            <a:r>
              <a:rPr lang="en-US" dirty="0"/>
              <a:t>  - name: Step 1</a:t>
            </a:r>
          </a:p>
          <a:p>
            <a:r>
              <a:rPr lang="en-US" dirty="0"/>
              <a:t>    run: echo "Hello World"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405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EC8B9-83CD-0E89-810F-D10B246F1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Shell Commands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89CA4-5856-DD51-64E0-0C81B1F5D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OS-level commands directly.</a:t>
            </a:r>
          </a:p>
          <a:p>
            <a:pPr marL="0" indent="0">
              <a:buNone/>
            </a:pPr>
            <a:r>
              <a:rPr lang="en-IN" dirty="0"/>
              <a:t>- name: List files</a:t>
            </a:r>
          </a:p>
          <a:p>
            <a:pPr marL="0" indent="0">
              <a:buNone/>
            </a:pPr>
            <a:r>
              <a:rPr lang="en-IN" dirty="0"/>
              <a:t>  run: ls -la</a:t>
            </a:r>
          </a:p>
        </p:txBody>
      </p:sp>
    </p:spTree>
    <p:extLst>
      <p:ext uri="{BB962C8B-B14F-4D97-AF65-F5344CB8AC3E}">
        <p14:creationId xmlns:p14="http://schemas.microsoft.com/office/powerpoint/2010/main" val="93157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C305-E049-D17D-7012-F5065600A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/>
              <a:t>Quick Quiz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7E09D-E45A-04FE-82E2-70A781960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03" y="1313793"/>
            <a:ext cx="11428337" cy="45573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Identify the correct order of execution:</a:t>
            </a:r>
          </a:p>
          <a:p>
            <a:r>
              <a:rPr lang="en-US" dirty="0"/>
              <a:t>A. Steps → Jobs → Workflow</a:t>
            </a:r>
            <a:br>
              <a:rPr lang="en-US" dirty="0"/>
            </a:br>
            <a:r>
              <a:rPr lang="en-US" dirty="0"/>
              <a:t>B. Workflow → Jobs → Steps</a:t>
            </a:r>
            <a:br>
              <a:rPr lang="en-US" dirty="0"/>
            </a:br>
            <a:r>
              <a:rPr lang="en-US" dirty="0"/>
              <a:t>C. Jobs → Workflow → Steps</a:t>
            </a:r>
            <a:br>
              <a:rPr lang="en-US" dirty="0"/>
            </a:br>
            <a:r>
              <a:rPr lang="en-US" dirty="0"/>
              <a:t>D. Steps → Workflow → Jobs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US" dirty="0"/>
              <a:t>Which of the following is a reusable unit in GitHub Actions?</a:t>
            </a:r>
          </a:p>
          <a:p>
            <a:pPr marL="0" indent="0">
              <a:buNone/>
            </a:pPr>
            <a:r>
              <a:rPr lang="en-US" dirty="0"/>
              <a:t>A. Job</a:t>
            </a:r>
            <a:br>
              <a:rPr lang="en-US" dirty="0"/>
            </a:br>
            <a:r>
              <a:rPr lang="en-US" dirty="0"/>
              <a:t>B. Step</a:t>
            </a:r>
            <a:br>
              <a:rPr lang="en-US" dirty="0"/>
            </a:br>
            <a:r>
              <a:rPr lang="en-US" dirty="0"/>
              <a:t>C. Action</a:t>
            </a:r>
            <a:br>
              <a:rPr lang="en-US" dirty="0"/>
            </a:br>
            <a:r>
              <a:rPr lang="en-US" dirty="0"/>
              <a:t>D. Runner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5857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7AA88-4E05-B9F5-7966-FEA055742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03" y="1324303"/>
            <a:ext cx="11428337" cy="45468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 A workflow in GitHub Actions is defined using:</a:t>
            </a:r>
          </a:p>
          <a:p>
            <a:r>
              <a:rPr lang="en-US" dirty="0"/>
              <a:t>A. JSON file</a:t>
            </a:r>
            <a:br>
              <a:rPr lang="en-US" dirty="0"/>
            </a:br>
            <a:r>
              <a:rPr lang="en-US" dirty="0"/>
              <a:t>B. YAML file</a:t>
            </a:r>
            <a:br>
              <a:rPr lang="en-US" dirty="0"/>
            </a:br>
            <a:r>
              <a:rPr lang="en-US" dirty="0"/>
              <a:t>C. XML file</a:t>
            </a:r>
            <a:br>
              <a:rPr lang="en-US" dirty="0"/>
            </a:br>
            <a:r>
              <a:rPr lang="en-US" dirty="0"/>
              <a:t>D. Properties file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Where are workflow files stored in a repository?</a:t>
            </a:r>
          </a:p>
          <a:p>
            <a:r>
              <a:rPr lang="en-US" dirty="0"/>
              <a:t>A. /</a:t>
            </a:r>
            <a:r>
              <a:rPr lang="en-US" dirty="0" err="1"/>
              <a:t>src</a:t>
            </a:r>
            <a:r>
              <a:rPr lang="en-US" dirty="0"/>
              <a:t>/workflows/</a:t>
            </a:r>
            <a:br>
              <a:rPr lang="en-US" dirty="0"/>
            </a:br>
            <a:r>
              <a:rPr lang="en-US" dirty="0"/>
              <a:t>B. /</a:t>
            </a:r>
            <a:r>
              <a:rPr lang="en-US" dirty="0" err="1"/>
              <a:t>github</a:t>
            </a:r>
            <a:r>
              <a:rPr lang="en-US" dirty="0"/>
              <a:t>/actions/</a:t>
            </a:r>
            <a:br>
              <a:rPr lang="en-US" dirty="0"/>
            </a:br>
            <a:r>
              <a:rPr lang="en-US" dirty="0"/>
              <a:t>C. /.</a:t>
            </a:r>
            <a:r>
              <a:rPr lang="en-US" dirty="0" err="1"/>
              <a:t>github</a:t>
            </a:r>
            <a:r>
              <a:rPr lang="en-US" dirty="0"/>
              <a:t>/workflows/</a:t>
            </a:r>
            <a:br>
              <a:rPr lang="en-US" dirty="0"/>
            </a:br>
            <a:r>
              <a:rPr lang="en-US" dirty="0"/>
              <a:t>D. /ci-cd/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015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24B7B-11BB-DD16-8244-6F446DE4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283B-E63C-E379-29EF-7F4489C00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5. Which component defines </a:t>
            </a:r>
            <a:r>
              <a:rPr lang="en-US" i="1" dirty="0"/>
              <a:t>when</a:t>
            </a:r>
            <a:r>
              <a:rPr lang="en-US" dirty="0"/>
              <a:t> a workflow runs?</a:t>
            </a:r>
          </a:p>
          <a:p>
            <a:pPr marL="0" indent="0" algn="ctr">
              <a:buNone/>
            </a:pPr>
            <a:r>
              <a:rPr lang="en-US" sz="3600" dirty="0"/>
              <a:t>A. Jobs</a:t>
            </a:r>
            <a:br>
              <a:rPr lang="en-US" sz="3600" dirty="0"/>
            </a:br>
            <a:r>
              <a:rPr lang="en-US" sz="3600" dirty="0"/>
              <a:t>B. Steps</a:t>
            </a:r>
            <a:br>
              <a:rPr lang="en-US" sz="3600" dirty="0"/>
            </a:br>
            <a:r>
              <a:rPr lang="en-US" sz="3600" dirty="0"/>
              <a:t>C. Events</a:t>
            </a:r>
            <a:br>
              <a:rPr lang="en-US" sz="3600" dirty="0"/>
            </a:br>
            <a:r>
              <a:rPr lang="en-US" sz="3600" dirty="0"/>
              <a:t>D. Actions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272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3E04-AEFD-989B-82F7-75B82148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8790B-55C6-518E-5B3A-ABE48BA95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40" y="1631942"/>
            <a:ext cx="11097600" cy="46532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6. Which of the following is a valid push trigger?</a:t>
            </a:r>
          </a:p>
          <a:p>
            <a:pPr marL="0" indent="0">
              <a:buNone/>
            </a:pPr>
            <a:r>
              <a:rPr lang="en-US" dirty="0"/>
              <a:t>A.</a:t>
            </a:r>
          </a:p>
          <a:p>
            <a:r>
              <a:rPr lang="en-US" dirty="0"/>
              <a:t>on: push</a:t>
            </a:r>
          </a:p>
          <a:p>
            <a:pPr marL="0" indent="0">
              <a:buNone/>
            </a:pPr>
            <a:r>
              <a:rPr lang="en-US" dirty="0"/>
              <a:t>B.</a:t>
            </a:r>
          </a:p>
          <a:p>
            <a:r>
              <a:rPr lang="en-US" dirty="0"/>
              <a:t>on:</a:t>
            </a:r>
            <a:br>
              <a:rPr lang="en-US" dirty="0"/>
            </a:br>
            <a:r>
              <a:rPr lang="en-US" dirty="0"/>
              <a:t>  push:</a:t>
            </a:r>
            <a:br>
              <a:rPr lang="en-US" dirty="0"/>
            </a:br>
            <a:r>
              <a:rPr lang="en-US" dirty="0"/>
              <a:t>    branches: [main]</a:t>
            </a:r>
          </a:p>
          <a:p>
            <a:pPr marL="0" indent="0">
              <a:buNone/>
            </a:pPr>
            <a:r>
              <a:rPr lang="en-US" dirty="0"/>
              <a:t>C.</a:t>
            </a:r>
          </a:p>
          <a:p>
            <a:r>
              <a:rPr lang="en-US" dirty="0"/>
              <a:t>trigger: push</a:t>
            </a:r>
          </a:p>
          <a:p>
            <a:pPr marL="0" indent="0">
              <a:buNone/>
            </a:pPr>
            <a:r>
              <a:rPr lang="en-US" dirty="0"/>
              <a:t>D.</a:t>
            </a:r>
          </a:p>
          <a:p>
            <a:r>
              <a:rPr lang="en-US" dirty="0"/>
              <a:t>event: push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6733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8A68B-4BBE-E364-908D-BC4058F6A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14" y="1429407"/>
            <a:ext cx="11417826" cy="44417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7. What is the role of a runner?</a:t>
            </a:r>
          </a:p>
          <a:p>
            <a:pPr marL="0" indent="0">
              <a:buNone/>
            </a:pPr>
            <a:r>
              <a:rPr lang="en-US" dirty="0"/>
              <a:t>A. Stores code</a:t>
            </a:r>
            <a:br>
              <a:rPr lang="en-US" dirty="0"/>
            </a:br>
            <a:r>
              <a:rPr lang="en-US" dirty="0"/>
              <a:t>B. Executes workflows</a:t>
            </a:r>
            <a:br>
              <a:rPr lang="en-US" dirty="0"/>
            </a:br>
            <a:r>
              <a:rPr lang="en-US" dirty="0"/>
              <a:t>C. Triggers events</a:t>
            </a:r>
            <a:br>
              <a:rPr lang="en-US" dirty="0"/>
            </a:br>
            <a:r>
              <a:rPr lang="en-US" dirty="0"/>
              <a:t>D. Builds UI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8. </a:t>
            </a:r>
            <a:r>
              <a:rPr lang="en-US" dirty="0"/>
              <a:t>Jobs in a workflow run:</a:t>
            </a:r>
          </a:p>
          <a:p>
            <a:pPr marL="0" indent="0">
              <a:buNone/>
            </a:pPr>
            <a:r>
              <a:rPr lang="en-US" dirty="0"/>
              <a:t>A. Sequentially by default</a:t>
            </a:r>
            <a:br>
              <a:rPr lang="en-US" dirty="0"/>
            </a:br>
            <a:r>
              <a:rPr lang="en-US" dirty="0"/>
              <a:t>B. In parallel by default</a:t>
            </a:r>
            <a:br>
              <a:rPr lang="en-US" dirty="0"/>
            </a:br>
            <a:r>
              <a:rPr lang="en-US" dirty="0"/>
              <a:t>C. Only manually</a:t>
            </a:r>
            <a:br>
              <a:rPr lang="en-US" dirty="0"/>
            </a:br>
            <a:r>
              <a:rPr lang="en-US" dirty="0"/>
              <a:t>D. Only on Windows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163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7C76-C6C4-F1B2-3F18-3FCC96F3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61A8D-5332-A7C3-B583-2069F5297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/>
              <a:t>9. Steps inside a job run:</a:t>
            </a:r>
          </a:p>
          <a:p>
            <a:pPr algn="ctr"/>
            <a:r>
              <a:rPr lang="en-US" sz="3600" dirty="0"/>
              <a:t>A. In parallel</a:t>
            </a:r>
            <a:br>
              <a:rPr lang="en-US" sz="3600" dirty="0"/>
            </a:br>
            <a:r>
              <a:rPr lang="en-US" sz="3600" dirty="0"/>
              <a:t>B. Randomly</a:t>
            </a:r>
            <a:br>
              <a:rPr lang="en-US" sz="3600" dirty="0"/>
            </a:br>
            <a:r>
              <a:rPr lang="en-US" sz="3600" dirty="0"/>
              <a:t>C. Sequentially</a:t>
            </a:r>
            <a:br>
              <a:rPr lang="en-US" sz="3600" dirty="0"/>
            </a:br>
            <a:r>
              <a:rPr lang="en-US" sz="3600" dirty="0"/>
              <a:t>D. Only once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596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B02F-8A1F-073B-C7F3-B9E779A8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065B-A5BD-37BE-7AFA-FAF8EF531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dirty="0"/>
              <a:t>10.Identify the correct order of execution:</a:t>
            </a:r>
          </a:p>
          <a:p>
            <a:pPr marL="0" indent="0" algn="ctr">
              <a:buNone/>
            </a:pPr>
            <a:r>
              <a:rPr lang="en-US" sz="3200" dirty="0"/>
              <a:t>A. Steps → Jobs → Workflow</a:t>
            </a:r>
            <a:br>
              <a:rPr lang="en-US" sz="3200" dirty="0"/>
            </a:br>
            <a:r>
              <a:rPr lang="en-US" sz="3200" dirty="0"/>
              <a:t>B. Workflow → Jobs → Steps</a:t>
            </a:r>
            <a:br>
              <a:rPr lang="en-US" sz="3200" dirty="0"/>
            </a:br>
            <a:r>
              <a:rPr lang="en-US" sz="3200" dirty="0"/>
              <a:t>C. Jobs → Workflow → Steps</a:t>
            </a:r>
            <a:br>
              <a:rPr lang="en-US" sz="3200" dirty="0"/>
            </a:br>
            <a:r>
              <a:rPr lang="en-US" sz="3200" dirty="0"/>
              <a:t>D. Steps → Workflow → Jobs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894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7436-B487-41D8-AB08-867C41B9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52A1E-4157-E505-0D6F-F459FF958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11. What does this </a:t>
            </a:r>
            <a:r>
              <a:rPr lang="en-US" sz="2800" dirty="0" err="1"/>
              <a:t>cron</a:t>
            </a:r>
            <a:r>
              <a:rPr lang="en-US" sz="2800" dirty="0"/>
              <a:t> expression mean?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cron</a:t>
            </a:r>
            <a:r>
              <a:rPr lang="en-US" sz="2800" dirty="0"/>
              <a:t>: '0 0 * * *’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A. Every hour</a:t>
            </a:r>
            <a:br>
              <a:rPr lang="en-US" sz="2800" dirty="0"/>
            </a:br>
            <a:r>
              <a:rPr lang="en-US" sz="2800" dirty="0"/>
              <a:t>B. Every minute</a:t>
            </a:r>
            <a:br>
              <a:rPr lang="en-US" sz="2800" dirty="0"/>
            </a:br>
            <a:r>
              <a:rPr lang="en-US" sz="2800" dirty="0"/>
              <a:t>C. Every day at midnight</a:t>
            </a:r>
            <a:br>
              <a:rPr lang="en-US" sz="2800" dirty="0"/>
            </a:br>
            <a:r>
              <a:rPr lang="en-US" sz="2800" dirty="0"/>
              <a:t>D. Every week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6671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AE7C-134F-E001-7F7D-5E7313B2C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8BF52-D40C-ED02-8557-213B2312D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12. You want to test code on multiple Node.js versions simultaneously. What should you use?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A. Steps</a:t>
            </a:r>
            <a:br>
              <a:rPr lang="en-US" sz="2800" dirty="0"/>
            </a:br>
            <a:r>
              <a:rPr lang="en-US" sz="2800" dirty="0"/>
              <a:t>B. Matrix strategy</a:t>
            </a:r>
            <a:br>
              <a:rPr lang="en-US" sz="2800" dirty="0"/>
            </a:br>
            <a:r>
              <a:rPr lang="en-US" sz="2800" dirty="0"/>
              <a:t>C. Runner</a:t>
            </a:r>
            <a:br>
              <a:rPr lang="en-US" sz="2800" dirty="0"/>
            </a:br>
            <a:r>
              <a:rPr lang="en-US" sz="2800" dirty="0"/>
              <a:t>D. Trigger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147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3117-2341-17A4-685E-2D4EB42D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5EA88-4E40-1824-59FE-3549478B5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13. If a workflow fails at step 2, what happens?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A. Step 3 still runs</a:t>
            </a:r>
            <a:br>
              <a:rPr lang="en-US" sz="2800" dirty="0"/>
            </a:br>
            <a:r>
              <a:rPr lang="en-US" sz="2800" dirty="0"/>
              <a:t>B. Job stops execution</a:t>
            </a:r>
            <a:br>
              <a:rPr lang="en-US" sz="2800" dirty="0"/>
            </a:br>
            <a:r>
              <a:rPr lang="en-US" sz="2800" dirty="0"/>
              <a:t>C. Workflow restarts</a:t>
            </a:r>
            <a:br>
              <a:rPr lang="en-US" sz="2800" dirty="0"/>
            </a:br>
            <a:r>
              <a:rPr lang="en-US" sz="2800" dirty="0"/>
              <a:t>D. Next job starts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80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0042-FCD5-082A-350E-25594D14F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F98B9-F68C-82AB-4B5B-F5E4C7759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14. GitHub-hosted runners support: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A. Only Linux</a:t>
            </a:r>
            <a:br>
              <a:rPr lang="en-US" sz="3200" dirty="0"/>
            </a:br>
            <a:r>
              <a:rPr lang="en-US" sz="3200" dirty="0"/>
              <a:t>B. Only Windows</a:t>
            </a:r>
            <a:br>
              <a:rPr lang="en-US" sz="3200" dirty="0"/>
            </a:br>
            <a:r>
              <a:rPr lang="en-US" sz="3200" dirty="0"/>
              <a:t>C. Linux, Windows, macOS</a:t>
            </a:r>
            <a:br>
              <a:rPr lang="en-US" sz="3200" dirty="0"/>
            </a:br>
            <a:r>
              <a:rPr lang="en-US" sz="3200" dirty="0"/>
              <a:t>D. None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03343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F44E-D00E-9FFC-C62E-4FA0EE6F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0A3C-61F9-A5A1-58E8-D927B1CEE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84" y="1309394"/>
            <a:ext cx="11097600" cy="55486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Identify Error</a:t>
            </a:r>
          </a:p>
          <a:p>
            <a:r>
              <a:rPr lang="en-US" dirty="0"/>
              <a:t>Find the error in the following YAML:</a:t>
            </a:r>
          </a:p>
          <a:p>
            <a:pPr marL="0" indent="0">
              <a:buNone/>
            </a:pPr>
            <a:r>
              <a:rPr lang="en-US" dirty="0"/>
              <a:t>name: CI Pipeline</a:t>
            </a:r>
          </a:p>
          <a:p>
            <a:pPr marL="0" indent="0">
              <a:buNone/>
            </a:pPr>
            <a:r>
              <a:rPr lang="en-US" dirty="0"/>
              <a:t>on push:</a:t>
            </a:r>
          </a:p>
          <a:p>
            <a:pPr marL="0" indent="0">
              <a:buNone/>
            </a:pPr>
            <a:r>
              <a:rPr lang="en-US" dirty="0"/>
              <a:t>  branches:</a:t>
            </a:r>
          </a:p>
          <a:p>
            <a:pPr marL="0" indent="0">
              <a:buNone/>
            </a:pPr>
            <a:r>
              <a:rPr lang="en-US" dirty="0"/>
              <a:t>    - main</a:t>
            </a:r>
          </a:p>
          <a:p>
            <a:pPr marL="0" indent="0">
              <a:buNone/>
            </a:pPr>
            <a:r>
              <a:rPr lang="en-US" dirty="0"/>
              <a:t>jobs:</a:t>
            </a:r>
          </a:p>
          <a:p>
            <a:pPr marL="0" indent="0">
              <a:buNone/>
            </a:pPr>
            <a:r>
              <a:rPr lang="en-US" dirty="0"/>
              <a:t> build:</a:t>
            </a:r>
          </a:p>
          <a:p>
            <a:pPr marL="0" indent="0">
              <a:buNone/>
            </a:pPr>
            <a:r>
              <a:rPr lang="en-US" dirty="0"/>
              <a:t>  runs-on ubuntu-latest</a:t>
            </a:r>
          </a:p>
          <a:p>
            <a:pPr marL="0" indent="0">
              <a:buNone/>
            </a:pPr>
            <a:r>
              <a:rPr lang="en-US" dirty="0"/>
              <a:t>  steps:</a:t>
            </a:r>
          </a:p>
          <a:p>
            <a:pPr marL="0" indent="0">
              <a:buNone/>
            </a:pPr>
            <a:r>
              <a:rPr lang="en-US" dirty="0"/>
              <a:t>    - name Checkout code</a:t>
            </a:r>
          </a:p>
          <a:p>
            <a:pPr marL="0" indent="0">
              <a:buNone/>
            </a:pPr>
            <a:r>
              <a:rPr lang="en-US" dirty="0"/>
              <a:t>      uses actions/checkout@v3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8191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3106-C069-2F63-7176-75D44D18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56F1-E0F0-E0DF-6510-656388412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Workflow Trigger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Write a GitHub Actions workflow that triggers:</a:t>
            </a:r>
          </a:p>
          <a:p>
            <a:pPr marL="0" indent="0">
              <a:buNone/>
            </a:pPr>
            <a:r>
              <a:rPr lang="en-US" dirty="0"/>
              <a:t>On push </a:t>
            </a:r>
          </a:p>
          <a:p>
            <a:pPr marL="0" indent="0">
              <a:buNone/>
            </a:pPr>
            <a:r>
              <a:rPr lang="en-US" dirty="0"/>
              <a:t>Only for develop branch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223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B01B8-F63B-0447-557C-7FEC65DF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Basic Workflow File</a:t>
            </a:r>
            <a:br>
              <a:rPr lang="en-US" dirty="0"/>
            </a:b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EE0BB-3AE0-D6C5-DE35-04EC7CA5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24" y="1334814"/>
            <a:ext cx="11407316" cy="45363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Create a minimal GitHub Actions .</a:t>
            </a:r>
            <a:r>
              <a:rPr lang="en-US" dirty="0" err="1"/>
              <a:t>yml</a:t>
            </a:r>
            <a:r>
              <a:rPr lang="en-US" dirty="0"/>
              <a:t> file that:</a:t>
            </a:r>
          </a:p>
          <a:p>
            <a:pPr marL="0" indent="0">
              <a:buNone/>
            </a:pPr>
            <a:r>
              <a:rPr lang="en-US" dirty="0"/>
              <a:t>      Checks out code </a:t>
            </a:r>
          </a:p>
          <a:p>
            <a:pPr marL="0" indent="0">
              <a:buNone/>
            </a:pPr>
            <a:r>
              <a:rPr lang="en-US" dirty="0"/>
              <a:t>      Prints "Hello World"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5135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0AF3-C50E-B1E3-6646-6D5BC892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IN" dirty="0"/>
              <a:t>Complete CI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4C52-A6E0-BC70-11C1-FF8F0CF80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Write a full .</a:t>
            </a:r>
            <a:r>
              <a:rPr lang="en-US" dirty="0" err="1"/>
              <a:t>yml</a:t>
            </a:r>
            <a:r>
              <a:rPr lang="en-US" dirty="0"/>
              <a:t> file that:</a:t>
            </a:r>
          </a:p>
          <a:p>
            <a:r>
              <a:rPr lang="en-US" dirty="0"/>
              <a:t>Triggers on push </a:t>
            </a:r>
          </a:p>
          <a:p>
            <a:r>
              <a:rPr lang="en-US" dirty="0"/>
              <a:t>Runs on Ubuntu </a:t>
            </a:r>
          </a:p>
          <a:p>
            <a:r>
              <a:rPr lang="en-US" b="0" dirty="0">
                <a:solidFill>
                  <a:srgbClr val="C00000"/>
                </a:solidFill>
              </a:rPr>
              <a:t>Steps: 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Checkout code 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Build project (use echo "Building") 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Test project (use echo "Testing")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4094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767EB-3068-0997-A713-39536811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Multiple Steps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FA5D5-8755-AA83-F7B3-17598A00D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Write a job with two steps:</a:t>
            </a:r>
          </a:p>
          <a:p>
            <a:endParaRPr lang="en-US" dirty="0"/>
          </a:p>
          <a:p>
            <a:r>
              <a:rPr lang="en-US" dirty="0"/>
              <a:t>Install dependencies </a:t>
            </a:r>
          </a:p>
          <a:p>
            <a:r>
              <a:rPr lang="en-US" dirty="0"/>
              <a:t>Run tests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607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FF30-82B6-B270-1F9B-EBB724A2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87044-CC71-6D04-3840-5925305C2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jobs:</a:t>
            </a:r>
          </a:p>
          <a:p>
            <a:pPr marL="0" indent="0">
              <a:buNone/>
            </a:pPr>
            <a:r>
              <a:rPr lang="en-US" dirty="0"/>
              <a:t>  build:</a:t>
            </a:r>
          </a:p>
          <a:p>
            <a:pPr marL="0" indent="0">
              <a:buNone/>
            </a:pPr>
            <a:r>
              <a:rPr lang="en-US" dirty="0"/>
              <a:t>    runs-on: ubuntu-latest</a:t>
            </a:r>
          </a:p>
          <a:p>
            <a:pPr marL="0" indent="0">
              <a:buNone/>
            </a:pPr>
            <a:r>
              <a:rPr lang="en-US" dirty="0"/>
              <a:t>    steps:</a:t>
            </a:r>
          </a:p>
          <a:p>
            <a:pPr marL="0" indent="0">
              <a:buNone/>
            </a:pPr>
            <a:r>
              <a:rPr lang="en-US" dirty="0"/>
              <a:t>      - name: Build</a:t>
            </a:r>
          </a:p>
          <a:p>
            <a:pPr marL="0" indent="0">
              <a:buNone/>
            </a:pPr>
            <a:r>
              <a:rPr lang="en-US" dirty="0"/>
              <a:t>        run: 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890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D994-86B1-1B86-5466-16500F82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D8C9-E7F5-D41E-B160-A6C47ADE4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378" y="326388"/>
            <a:ext cx="10640061" cy="6442273"/>
          </a:xfrm>
        </p:spPr>
        <p:txBody>
          <a:bodyPr/>
          <a:lstStyle/>
          <a:p>
            <a:r>
              <a:rPr lang="en-US" sz="1800" dirty="0"/>
              <a:t>name: Node CI</a:t>
            </a:r>
          </a:p>
          <a:p>
            <a:endParaRPr lang="en-US" sz="1800" dirty="0"/>
          </a:p>
          <a:p>
            <a:r>
              <a:rPr lang="en-US" sz="1800" dirty="0"/>
              <a:t>on:</a:t>
            </a:r>
          </a:p>
          <a:p>
            <a:r>
              <a:rPr lang="en-US" sz="1800" dirty="0"/>
              <a:t>  push:</a:t>
            </a:r>
          </a:p>
          <a:p>
            <a:r>
              <a:rPr lang="en-US" sz="1800" dirty="0"/>
              <a:t>    branches:</a:t>
            </a:r>
          </a:p>
          <a:p>
            <a:r>
              <a:rPr lang="en-US" sz="1800" dirty="0"/>
              <a:t>      - main</a:t>
            </a:r>
          </a:p>
          <a:p>
            <a:endParaRPr lang="en-US" sz="1800" dirty="0"/>
          </a:p>
          <a:p>
            <a:r>
              <a:rPr lang="en-US" sz="1800" dirty="0"/>
              <a:t>jobs:</a:t>
            </a:r>
          </a:p>
          <a:p>
            <a:r>
              <a:rPr lang="en-US" sz="1800" dirty="0"/>
              <a:t>  build:</a:t>
            </a:r>
          </a:p>
          <a:p>
            <a:r>
              <a:rPr lang="en-US" sz="1800" dirty="0"/>
              <a:t>    runs-on: ubuntu-latest</a:t>
            </a:r>
          </a:p>
          <a:p>
            <a:r>
              <a:rPr lang="en-US" sz="1800" dirty="0"/>
              <a:t>    steps:</a:t>
            </a:r>
          </a:p>
          <a:p>
            <a:r>
              <a:rPr lang="en-US" sz="1800" dirty="0"/>
              <a:t>      - name: Install dependencies</a:t>
            </a:r>
          </a:p>
          <a:p>
            <a:r>
              <a:rPr lang="en-US" sz="1800" dirty="0"/>
              <a:t>        run: </a:t>
            </a:r>
            <a:r>
              <a:rPr lang="en-US" sz="1800" dirty="0" err="1"/>
              <a:t>npm</a:t>
            </a:r>
            <a:r>
              <a:rPr lang="en-US" sz="1800" dirty="0"/>
              <a:t> install</a:t>
            </a:r>
          </a:p>
          <a:p>
            <a:endParaRPr lang="en-US" sz="1800" dirty="0"/>
          </a:p>
          <a:p>
            <a:r>
              <a:rPr lang="en-US" sz="1800" dirty="0"/>
              <a:t>      - name: Run tests</a:t>
            </a:r>
          </a:p>
          <a:p>
            <a:r>
              <a:rPr lang="en-US" sz="1800" dirty="0"/>
              <a:t>        run: </a:t>
            </a:r>
            <a:r>
              <a:rPr lang="en-US" sz="1800" dirty="0" err="1"/>
              <a:t>npm</a:t>
            </a:r>
            <a:r>
              <a:rPr lang="en-US" sz="1800" dirty="0"/>
              <a:t> test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76043139"/>
      </p:ext>
    </p:extLst>
  </p:cSld>
  <p:clrMapOvr>
    <a:masterClrMapping/>
  </p:clrMapOvr>
</p:sld>
</file>

<file path=ppt/theme/theme1.xml><?xml version="1.0" encoding="utf-8"?>
<a:theme xmlns:a="http://schemas.openxmlformats.org/drawingml/2006/main" name="LPU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Source Sans Pro Black"/>
        <a:ea typeface=""/>
        <a:cs typeface="Segoe UI"/>
      </a:majorFont>
      <a:minorFont>
        <a:latin typeface="Source Sans Pro Semibold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PU Theme" id="{61F576D2-CC2E-4E77-80BE-E11D1557A267}" vid="{83AF1651-A6A0-4B77-821B-5B7F26574C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LPU Theme</Template>
  <TotalTime>5286</TotalTime>
  <Words>1609</Words>
  <Application>Microsoft Office PowerPoint</Application>
  <PresentationFormat>Widescreen</PresentationFormat>
  <Paragraphs>336</Paragraphs>
  <Slides>40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Source Sans Pro Black</vt:lpstr>
      <vt:lpstr>Source Sans Pro Light</vt:lpstr>
      <vt:lpstr>Source Sans Pro Semibold</vt:lpstr>
      <vt:lpstr>Times New Roman</vt:lpstr>
      <vt:lpstr>Wingdings</vt:lpstr>
      <vt:lpstr>LPU Theme</vt:lpstr>
      <vt:lpstr>Unit:-5 Continuous Integration (CI) with GitHub Actions </vt:lpstr>
      <vt:lpstr> Introduction to GitHub Actions </vt:lpstr>
      <vt:lpstr>Understanding Workflow Automation  </vt:lpstr>
      <vt:lpstr> </vt:lpstr>
      <vt:lpstr>Components of Workflow </vt:lpstr>
      <vt:lpstr>Events in GitHub Actions</vt:lpstr>
      <vt:lpstr>Triggers in GitHub Actions</vt:lpstr>
      <vt:lpstr>Types of Triggers</vt:lpstr>
      <vt:lpstr>PowerPoint Presentation</vt:lpstr>
      <vt:lpstr>PowerPoint Presentation</vt:lpstr>
      <vt:lpstr>PowerPoint Presentation</vt:lpstr>
      <vt:lpstr>7. Actions (Reusable Components)</vt:lpstr>
      <vt:lpstr>Real-Life Example Workflow</vt:lpstr>
      <vt:lpstr>PowerPoint Presentation</vt:lpstr>
      <vt:lpstr>1. Workflow Triggers in GitHub Actions </vt:lpstr>
      <vt:lpstr>1.2 Pull Request Trigger</vt:lpstr>
      <vt:lpstr>1.3 Schedule Trigger (Cron Jobs)</vt:lpstr>
      <vt:lpstr>1.4 Manual Trigger (workflow_dispatch)</vt:lpstr>
      <vt:lpstr>2.Jobs &amp; Matrix Strategies</vt:lpstr>
      <vt:lpstr>Matrix Strategy</vt:lpstr>
      <vt:lpstr>3. Steps &amp; Shell Commands</vt:lpstr>
      <vt:lpstr>    Shell Commands </vt:lpstr>
      <vt:lpstr>Quick 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Questions: </vt:lpstr>
      <vt:lpstr>2. </vt:lpstr>
      <vt:lpstr>3. Basic Workflow File  </vt:lpstr>
      <vt:lpstr>4. Complete CI Workflow</vt:lpstr>
      <vt:lpstr>5. Multiple Steps </vt:lpstr>
      <vt:lpstr>6. </vt:lpstr>
      <vt:lpstr>7.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HRD</dc:creator>
  <cp:lastModifiedBy>Manpreet Kaur</cp:lastModifiedBy>
  <cp:revision>63</cp:revision>
  <dcterms:created xsi:type="dcterms:W3CDTF">2022-01-13T03:32:26Z</dcterms:created>
  <dcterms:modified xsi:type="dcterms:W3CDTF">2026-04-21T06:22:38Z</dcterms:modified>
</cp:coreProperties>
</file>