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86" r:id="rId3"/>
    <p:sldId id="287" r:id="rId4"/>
    <p:sldId id="259" r:id="rId5"/>
    <p:sldId id="288" r:id="rId6"/>
    <p:sldId id="260" r:id="rId7"/>
    <p:sldId id="290" r:id="rId8"/>
    <p:sldId id="289" r:id="rId9"/>
    <p:sldId id="291" r:id="rId10"/>
    <p:sldId id="292" r:id="rId11"/>
    <p:sldId id="293" r:id="rId12"/>
    <p:sldId id="294" r:id="rId13"/>
    <p:sldId id="295" r:id="rId14"/>
    <p:sldId id="306" r:id="rId15"/>
    <p:sldId id="305" r:id="rId16"/>
    <p:sldId id="310" r:id="rId17"/>
    <p:sldId id="311" r:id="rId18"/>
    <p:sldId id="308" r:id="rId19"/>
    <p:sldId id="309" r:id="rId20"/>
    <p:sldId id="307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303" r:id="rId36"/>
    <p:sldId id="268" r:id="rId37"/>
    <p:sldId id="304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7B4A7-9F95-4900-8D58-2275146EB34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1B0B6-6805-4B0A-8562-092A3283CD9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nkins.io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eetkaur18/neww.git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ebp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2822" y="2228671"/>
            <a:ext cx="931545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CI/CD is a process of automating code integration, build creation, and testing.</a:t>
            </a:r>
            <a:endParaRPr lang="en-IN" sz="36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6269" y="979117"/>
            <a:ext cx="60994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CI /CD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02" y="1412773"/>
            <a:ext cx="10731119" cy="3076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047" y="586176"/>
            <a:ext cx="9933791" cy="56856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71" y="1677176"/>
            <a:ext cx="11386857" cy="3503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073"/>
            <a:ext cx="11976376" cy="4352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61109"/>
            <a:ext cx="11879722" cy="6005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32105" y="1382395"/>
            <a:ext cx="11571605" cy="33451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sz="2800" b="1"/>
              <a:t>What is Jenkins?</a:t>
            </a:r>
          </a:p>
          <a:p>
            <a:r>
              <a:rPr sz="2800"/>
              <a:t>Jenkins is an open-source automation server. </a:t>
            </a:r>
          </a:p>
          <a:p>
            <a:r>
              <a:rPr sz="2800"/>
              <a:t>It helps automate the parts of software development related to building, testing, and deploying, facilitating Continuous Integration and Continuous Delivery (CI/CD).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27990" y="698500"/>
            <a:ext cx="11336655" cy="5461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2800" b="1"/>
              <a:t>Why Use Jenkins?</a:t>
            </a:r>
          </a:p>
          <a:p>
            <a:pPr>
              <a:spcAft>
                <a:spcPct val="60000"/>
              </a:spcAft>
            </a:pPr>
            <a:endParaRPr sz="2800" b="1"/>
          </a:p>
          <a:p>
            <a:pPr>
              <a:buFont typeface="Arial" panose="020B0604020202020204"/>
              <a:buChar char="•"/>
            </a:pPr>
            <a:r>
              <a:rPr sz="2800"/>
              <a:t>Automates code builds and tests</a:t>
            </a:r>
          </a:p>
          <a:p>
            <a:pPr>
              <a:buFont typeface="Arial" panose="020B0604020202020204"/>
              <a:buChar char="•"/>
            </a:pPr>
            <a:endParaRPr sz="2800"/>
          </a:p>
          <a:p>
            <a:pPr>
              <a:buFont typeface="Arial" panose="020B0604020202020204"/>
              <a:buChar char="•"/>
            </a:pPr>
            <a:r>
              <a:rPr sz="2800"/>
              <a:t>Integrates with Git, Docker, Maven, Kubernetes, etc.</a:t>
            </a:r>
          </a:p>
          <a:p>
            <a:pPr>
              <a:buFont typeface="Arial" panose="020B0604020202020204"/>
              <a:buChar char="•"/>
            </a:pPr>
            <a:endParaRPr sz="2800"/>
          </a:p>
          <a:p>
            <a:pPr>
              <a:buFont typeface="Arial" panose="020B0604020202020204"/>
              <a:buChar char="•"/>
            </a:pPr>
            <a:r>
              <a:rPr sz="2800"/>
              <a:t>Supports pipelines for end-to-end automation</a:t>
            </a:r>
          </a:p>
          <a:p>
            <a:pPr>
              <a:buFont typeface="Arial" panose="020B0604020202020204"/>
              <a:buChar char="•"/>
            </a:pPr>
            <a:endParaRPr sz="2800"/>
          </a:p>
          <a:p>
            <a:pPr>
              <a:buFont typeface="Arial" panose="020B0604020202020204"/>
              <a:buChar char="•"/>
            </a:pPr>
            <a:r>
              <a:rPr sz="2800"/>
              <a:t>Has 1800+ plugins for customization</a:t>
            </a:r>
          </a:p>
          <a:p>
            <a:pPr>
              <a:buFont typeface="Arial" panose="020B0604020202020204"/>
              <a:buChar char="•"/>
            </a:pPr>
            <a:endParaRPr sz="2800"/>
          </a:p>
          <a:p>
            <a:pPr>
              <a:buFont typeface="Arial" panose="020B0604020202020204"/>
              <a:buChar char="•"/>
            </a:pPr>
            <a:r>
              <a:rPr sz="2800"/>
              <a:t>Works across different OS platforms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38100" y="0"/>
          <a:ext cx="11703685" cy="6896735"/>
        </p:xfrm>
        <a:graphic>
          <a:graphicData uri="http://schemas.openxmlformats.org/drawingml/2006/table">
            <a:tbl>
              <a:tblPr/>
              <a:tblGrid>
                <a:gridCol w="524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2800"/>
                        <a:t>Term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/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680">
                <a:tc>
                  <a:txBody>
                    <a:bodyPr/>
                    <a:lstStyle/>
                    <a:p>
                      <a:r>
                        <a:rPr sz="2800"/>
                        <a:t>Job/Project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/>
                        <a:t>A task to be executed (e.g., build a project)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r>
                        <a:rPr sz="2800"/>
                        <a:t>Build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/>
                        <a:t>A single run of a job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4600">
                <a:tc>
                  <a:txBody>
                    <a:bodyPr/>
                    <a:lstStyle/>
                    <a:p>
                      <a:r>
                        <a:rPr sz="2800"/>
                        <a:t>Node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/>
                        <a:t>A machine where Jenkins runs jobs (Master or Agent/Slave)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1805">
                <a:tc>
                  <a:txBody>
                    <a:bodyPr/>
                    <a:lstStyle/>
                    <a:p>
                      <a:r>
                        <a:rPr sz="2800"/>
                        <a:t>Pipeline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/>
                        <a:t>A series of steps (scripted or declarative) to define CI/CD workflow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0725">
                <a:tc>
                  <a:txBody>
                    <a:bodyPr/>
                    <a:lstStyle/>
                    <a:p>
                      <a:r>
                        <a:rPr sz="2800"/>
                        <a:t>Plugin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/>
                        <a:t>Add-on that gives Jenkins extra functionality (e.g., Git plugin, Docker plugin)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4940" y="267970"/>
            <a:ext cx="11791315" cy="632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2800" b="1"/>
              <a:t>Jenkins Setup Basics</a:t>
            </a:r>
          </a:p>
          <a:p>
            <a:pPr>
              <a:spcAft>
                <a:spcPct val="60000"/>
              </a:spcAft>
            </a:pPr>
            <a:endParaRPr sz="2800" b="1"/>
          </a:p>
          <a:p>
            <a:pPr>
              <a:buAutoNum type="arabicPeriod"/>
            </a:pPr>
            <a:r>
              <a:rPr sz="2800" b="1"/>
              <a:t>Install Jenkins</a:t>
            </a:r>
          </a:p>
          <a:p>
            <a:pPr>
              <a:buAutoNum type="arabicPeriod"/>
            </a:pPr>
            <a:endParaRPr sz="2800" b="1"/>
          </a:p>
          <a:p>
            <a:pPr lvl="1">
              <a:buFont typeface="Arial" panose="020B0604020202020204"/>
              <a:buChar char="◦"/>
            </a:pPr>
            <a:r>
              <a:rPr sz="2800" b="1"/>
              <a:t>Download from </a:t>
            </a:r>
            <a:r>
              <a:rPr sz="2800" b="1">
                <a:hlinkClick r:id="rId2"/>
              </a:rPr>
              <a:t>jenkins.io</a:t>
            </a:r>
          </a:p>
          <a:p>
            <a:pPr lvl="1">
              <a:buFont typeface="Arial" panose="020B0604020202020204"/>
              <a:buChar char="◦"/>
            </a:pPr>
            <a:endParaRPr sz="2800" b="1">
              <a:hlinkClick r:id="rId2"/>
            </a:endParaRPr>
          </a:p>
          <a:p>
            <a:pPr lvl="1">
              <a:buFont typeface="Arial" panose="020B0604020202020204"/>
              <a:buChar char="◦"/>
            </a:pPr>
            <a:r>
              <a:rPr sz="2800" b="1"/>
              <a:t>Run with Java (java -jar jenkins.war) or install via Docker</a:t>
            </a:r>
          </a:p>
          <a:p>
            <a:pPr lvl="1">
              <a:buFont typeface="Arial" panose="020B0604020202020204"/>
              <a:buChar char="◦"/>
            </a:pPr>
            <a:endParaRPr sz="2800" b="1"/>
          </a:p>
          <a:p>
            <a:pPr>
              <a:buAutoNum type="arabicPeriod"/>
            </a:pPr>
            <a:r>
              <a:rPr sz="2800" b="1"/>
              <a:t>Access Jenkins Dashboard</a:t>
            </a:r>
          </a:p>
          <a:p>
            <a:pPr>
              <a:buAutoNum type="arabicPeriod"/>
            </a:pPr>
            <a:endParaRPr sz="2800" b="1"/>
          </a:p>
          <a:p>
            <a:pPr lvl="1">
              <a:buFont typeface="Arial" panose="020B0604020202020204"/>
              <a:buChar char="◦"/>
            </a:pPr>
            <a:r>
              <a:rPr sz="2800" b="1"/>
              <a:t>Go to </a:t>
            </a:r>
            <a:r>
              <a:rPr sz="2800" b="1">
                <a:solidFill>
                  <a:schemeClr val="accent1"/>
                </a:solidFill>
              </a:rPr>
              <a:t>http://localhost:8080</a:t>
            </a:r>
            <a:r>
              <a:rPr sz="2800" b="1"/>
              <a:t> in your browser</a:t>
            </a:r>
          </a:p>
          <a:p>
            <a:pPr lvl="1">
              <a:buFont typeface="Arial" panose="020B0604020202020204"/>
              <a:buChar char="◦"/>
            </a:pPr>
            <a:endParaRPr sz="2800" b="1"/>
          </a:p>
          <a:p>
            <a:pPr lvl="1">
              <a:buFont typeface="Arial" panose="020B0604020202020204"/>
              <a:buChar char="◦"/>
            </a:pPr>
            <a:r>
              <a:rPr sz="2800" b="1"/>
              <a:t>Enter the admin password (found in the Jenkins home folder)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8775" y="946785"/>
            <a:ext cx="11316335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/>
              <a:t>Install Suggested Plugins</a:t>
            </a:r>
          </a:p>
          <a:p>
            <a:endParaRPr sz="3200" b="1"/>
          </a:p>
          <a:p>
            <a:pPr>
              <a:buFont typeface="Arial" panose="020B0604020202020204"/>
              <a:buChar char="•"/>
            </a:pPr>
            <a:r>
              <a:rPr sz="3200" b="1"/>
              <a:t>During setup, Jenkins will recommend a few plugins—install them.</a:t>
            </a:r>
          </a:p>
          <a:p>
            <a:pPr>
              <a:buFont typeface="Arial" panose="020B0604020202020204"/>
              <a:buChar char="•"/>
            </a:pPr>
            <a:endParaRPr sz="3200" b="1"/>
          </a:p>
          <a:p>
            <a:r>
              <a:rPr sz="3200" b="1"/>
              <a:t>Create First Admin User</a:t>
            </a:r>
          </a:p>
          <a:p>
            <a:endParaRPr sz="3200" b="1"/>
          </a:p>
          <a:p>
            <a:pPr>
              <a:buFont typeface="Arial" panose="020B0604020202020204"/>
              <a:buChar char="•"/>
            </a:pPr>
            <a:r>
              <a:rPr sz="3200" b="1"/>
              <a:t>Set up username, password, and email.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77165" y="0"/>
            <a:ext cx="12014835" cy="6853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3200" b="1">
                <a:highlight>
                  <a:srgbClr val="FFFF00"/>
                </a:highlight>
              </a:rPr>
              <a:t>Creating Your First Job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sz="3200" b="1"/>
              <a:t>Click “New Item”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b="1"/>
              <a:t>Enter a 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b="1"/>
              <a:t>Choose “Freestyle project”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b="1"/>
              <a:t>Configure:</a:t>
            </a:r>
          </a:p>
          <a:p>
            <a:pPr marL="914400" lvl="1" indent="-457200">
              <a:buFont typeface="Arial" panose="020B0604020202020204"/>
              <a:buChar char="◦"/>
            </a:pPr>
            <a:r>
              <a:rPr sz="3200" b="1"/>
              <a:t>Source Code Management (Git)</a:t>
            </a:r>
          </a:p>
          <a:p>
            <a:pPr marL="914400" lvl="1" indent="-457200">
              <a:buFont typeface="Arial" panose="020B0604020202020204"/>
              <a:buChar char="◦"/>
            </a:pPr>
            <a:r>
              <a:rPr sz="3200" b="1"/>
              <a:t>Build Trigger (e.g., Poll SCM or on Push)</a:t>
            </a:r>
          </a:p>
          <a:p>
            <a:pPr marL="914400" lvl="1" indent="-457200">
              <a:buFont typeface="Arial" panose="020B0604020202020204"/>
              <a:buChar char="◦"/>
            </a:pPr>
            <a:r>
              <a:rPr sz="3200" b="1"/>
              <a:t>Build (e.g., Execute Shell or Invoke Maven)</a:t>
            </a:r>
          </a:p>
          <a:p>
            <a:pPr marL="914400" lvl="1" indent="-457200">
              <a:buFont typeface="Arial" panose="020B0604020202020204"/>
              <a:buChar char="◦"/>
            </a:pPr>
            <a:endParaRPr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b="1"/>
              <a:t>Click “Save” and then “Build Now”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81635" y="1259840"/>
            <a:ext cx="11429365" cy="4883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3200" b="1"/>
              <a:t>Think of a Job as:</a:t>
            </a:r>
          </a:p>
          <a:p>
            <a:r>
              <a:rPr sz="3200"/>
              <a:t>"Tell Jenkins what to do and when to do it."</a:t>
            </a:r>
          </a:p>
          <a:p>
            <a:r>
              <a:rPr sz="3200"/>
              <a:t>Jobs are the core unit of automation in Jenkins.</a:t>
            </a:r>
          </a:p>
          <a:p>
            <a:endParaRPr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/>
              <a:t>Automating Repetitive 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/>
              <a:t>Enabling Continuous Integration (CI)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/>
              <a:t>Setting Up Continuous Delivery (CD)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/>
              <a:t> Custom Workflows and Pipelines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/>
              <a:t>Integrations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0E9C9D-D972-A59A-13B3-142F48560550}"/>
              </a:ext>
            </a:extLst>
          </p:cNvPr>
          <p:cNvSpPr txBox="1"/>
          <p:nvPr/>
        </p:nvSpPr>
        <p:spPr>
          <a:xfrm>
            <a:off x="426720" y="1173480"/>
            <a:ext cx="109880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/>
              <a:t>End-to-End </a:t>
            </a:r>
            <a:r>
              <a:rPr lang="en-US" sz="6600" dirty="0"/>
              <a:t>CI/CD Pipeline Implementation using Jenkins, GitHub, Maven, and Docker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Required Plugins 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291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442614-9206-56D3-C1CB-C8DE6E218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854191"/>
              </p:ext>
            </p:extLst>
          </p:nvPr>
        </p:nvGraphicFramePr>
        <p:xfrm>
          <a:off x="350520" y="283752"/>
          <a:ext cx="11170920" cy="6574248"/>
        </p:xfrm>
        <a:graphic>
          <a:graphicData uri="http://schemas.openxmlformats.org/drawingml/2006/table">
            <a:tbl>
              <a:tblPr/>
              <a:tblGrid>
                <a:gridCol w="5585460">
                  <a:extLst>
                    <a:ext uri="{9D8B030D-6E8A-4147-A177-3AD203B41FA5}">
                      <a16:colId xmlns:a16="http://schemas.microsoft.com/office/drawing/2014/main" val="543565878"/>
                    </a:ext>
                  </a:extLst>
                </a:gridCol>
                <a:gridCol w="5585460">
                  <a:extLst>
                    <a:ext uri="{9D8B030D-6E8A-4147-A177-3AD203B41FA5}">
                      <a16:colId xmlns:a16="http://schemas.microsoft.com/office/drawing/2014/main" val="1182949540"/>
                    </a:ext>
                  </a:extLst>
                </a:gridCol>
              </a:tblGrid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Pipeline Graph Analysis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Success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29666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Pipeline: REST API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Success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014314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Pipeline: Stage View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Success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983251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 dirty="0">
                          <a:effectLst/>
                        </a:rPr>
                        <a:t>Dev Tools Symbols API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Success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821930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Javadoc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Success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835911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JSch dependency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Installing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46921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 dirty="0">
                          <a:effectLst/>
                        </a:rPr>
                        <a:t>Maven Integration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318474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Authentication Tokens API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94764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Docker Commons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41286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SSH server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572768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Git server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350684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Docker Pipeline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424122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HTML Publisher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Role-based Authorization Strategy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939551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SSH Agent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513975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Commons Compress API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145736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Pipeline Utility Steps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200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344145"/>
                  </a:ext>
                </a:extLst>
              </a:tr>
              <a:tr h="3404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>
                          <a:effectLst/>
                        </a:rPr>
                        <a:t>Loading plugin extensions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2000" dirty="0">
                          <a:effectLst/>
                        </a:rPr>
                        <a:t> Pending</a:t>
                      </a:r>
                    </a:p>
                  </a:txBody>
                  <a:tcPr marL="60435" marR="60435" marT="30218" marB="302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451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895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5E55D6-DB21-DD8D-450B-CD074E36670A}"/>
              </a:ext>
            </a:extLst>
          </p:cNvPr>
          <p:cNvSpPr txBox="1"/>
          <p:nvPr/>
        </p:nvSpPr>
        <p:spPr>
          <a:xfrm>
            <a:off x="0" y="197346"/>
            <a:ext cx="1406652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mkdir</a:t>
            </a:r>
            <a:r>
              <a:rPr lang="en-IN" b="1" dirty="0"/>
              <a:t> </a:t>
            </a:r>
            <a:r>
              <a:rPr lang="en-IN" b="1" dirty="0" err="1"/>
              <a:t>neww</a:t>
            </a:r>
            <a:endParaRPr lang="en-IN" b="1" dirty="0"/>
          </a:p>
          <a:p>
            <a:r>
              <a:rPr lang="en-IN" b="1" dirty="0"/>
              <a:t>cd new</a:t>
            </a:r>
          </a:p>
          <a:p>
            <a:r>
              <a:rPr lang="pt-BR" b="1" dirty="0"/>
              <a:t>mkdir -p src/main/java/com/example</a:t>
            </a:r>
          </a:p>
          <a:p>
            <a:r>
              <a:rPr lang="en-IN" b="1" dirty="0"/>
              <a:t>notepad </a:t>
            </a:r>
            <a:r>
              <a:rPr lang="en-IN" b="1" dirty="0" err="1"/>
              <a:t>src</a:t>
            </a:r>
            <a:r>
              <a:rPr lang="en-IN" b="1" dirty="0"/>
              <a:t>/main/java/com/example/Application.java</a:t>
            </a:r>
          </a:p>
          <a:p>
            <a:r>
              <a:rPr lang="en-IN" dirty="0"/>
              <a:t>package </a:t>
            </a:r>
            <a:r>
              <a:rPr lang="en-IN" dirty="0" err="1"/>
              <a:t>com.example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org.springframework.boot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org.springframework.boot.autoconfigure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org.springframework.web.bind.annotation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@SpringBootApplication</a:t>
            </a:r>
          </a:p>
          <a:p>
            <a:r>
              <a:rPr lang="en-IN" dirty="0"/>
              <a:t>@RestController</a:t>
            </a:r>
          </a:p>
          <a:p>
            <a:r>
              <a:rPr lang="en-IN" dirty="0"/>
              <a:t>public class Application {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SpringApplication.run</a:t>
            </a:r>
            <a:r>
              <a:rPr lang="en-IN" dirty="0"/>
              <a:t>(</a:t>
            </a:r>
            <a:r>
              <a:rPr lang="en-IN" dirty="0" err="1"/>
              <a:t>Application.class</a:t>
            </a:r>
            <a:r>
              <a:rPr lang="en-IN" dirty="0"/>
              <a:t>, 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@GetMapping("/")</a:t>
            </a:r>
          </a:p>
          <a:p>
            <a:r>
              <a:rPr lang="en-IN" dirty="0"/>
              <a:t>    public String home() {</a:t>
            </a:r>
          </a:p>
          <a:p>
            <a:r>
              <a:rPr lang="en-IN" dirty="0"/>
              <a:t>        return "CI/CD Working!";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1909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26964-5A48-864B-447E-9BF5673ECA62}"/>
              </a:ext>
            </a:extLst>
          </p:cNvPr>
          <p:cNvSpPr txBox="1"/>
          <p:nvPr/>
        </p:nvSpPr>
        <p:spPr>
          <a:xfrm>
            <a:off x="701040" y="411480"/>
            <a:ext cx="729996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notepad </a:t>
            </a:r>
            <a:r>
              <a:rPr lang="en-IN" b="1" dirty="0" err="1"/>
              <a:t>Dockerfile</a:t>
            </a:r>
            <a:endParaRPr lang="en-IN" b="1" dirty="0"/>
          </a:p>
          <a:p>
            <a:r>
              <a:rPr lang="en-IN" dirty="0"/>
              <a:t>FROM openjdk:17</a:t>
            </a:r>
          </a:p>
          <a:p>
            <a:r>
              <a:rPr lang="en-IN" dirty="0"/>
              <a:t>COPY target/*.jar app.jar</a:t>
            </a:r>
          </a:p>
          <a:p>
            <a:r>
              <a:rPr lang="en-IN" dirty="0"/>
              <a:t>ENTRYPOINT ["java","-jar","/app.jar"]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notepad </a:t>
            </a:r>
            <a:r>
              <a:rPr lang="en-IN" b="1" dirty="0" err="1"/>
              <a:t>Jenkinsfile</a:t>
            </a:r>
            <a:endParaRPr lang="en-IN" b="1" dirty="0"/>
          </a:p>
          <a:p>
            <a:endParaRPr lang="en-IN" b="1" dirty="0"/>
          </a:p>
          <a:p>
            <a:r>
              <a:rPr lang="en-IN" dirty="0"/>
              <a:t>pipeline {</a:t>
            </a:r>
          </a:p>
          <a:p>
            <a:r>
              <a:rPr lang="en-IN" dirty="0"/>
              <a:t>    agent any</a:t>
            </a:r>
          </a:p>
          <a:p>
            <a:endParaRPr lang="en-IN" dirty="0"/>
          </a:p>
          <a:p>
            <a:r>
              <a:rPr lang="en-IN" dirty="0"/>
              <a:t>    tools {</a:t>
            </a:r>
          </a:p>
          <a:p>
            <a:r>
              <a:rPr lang="en-IN" dirty="0"/>
              <a:t>        maven 'Maven'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stages {</a:t>
            </a:r>
          </a:p>
          <a:p>
            <a:r>
              <a:rPr lang="en-IN" dirty="0"/>
              <a:t>        stage('Build') {</a:t>
            </a:r>
          </a:p>
          <a:p>
            <a:r>
              <a:rPr lang="en-IN" dirty="0"/>
              <a:t>            steps {</a:t>
            </a:r>
          </a:p>
          <a:p>
            <a:r>
              <a:rPr lang="en-IN" dirty="0"/>
              <a:t>                bat '</a:t>
            </a:r>
            <a:r>
              <a:rPr lang="en-IN" dirty="0" err="1"/>
              <a:t>mvn</a:t>
            </a:r>
            <a:r>
              <a:rPr lang="en-IN" dirty="0"/>
              <a:t> clean package'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3279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BC11BF-F3D7-3FB7-77C8-69044D22B8D3}"/>
              </a:ext>
            </a:extLst>
          </p:cNvPr>
          <p:cNvSpPr txBox="1"/>
          <p:nvPr/>
        </p:nvSpPr>
        <p:spPr>
          <a:xfrm>
            <a:off x="0" y="0"/>
            <a:ext cx="1065276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Create pom.xml</a:t>
            </a:r>
          </a:p>
          <a:p>
            <a:r>
              <a:rPr lang="en-IN" dirty="0"/>
              <a:t> &lt;project </a:t>
            </a:r>
            <a:r>
              <a:rPr lang="en-IN" dirty="0" err="1"/>
              <a:t>xmlns</a:t>
            </a:r>
            <a:r>
              <a:rPr lang="en-IN" dirty="0"/>
              <a:t>="http://maven.apache.org/POM/4.0.0"&gt;</a:t>
            </a:r>
          </a:p>
          <a:p>
            <a:r>
              <a:rPr lang="en-IN" dirty="0"/>
              <a:t>    &lt;</a:t>
            </a:r>
            <a:r>
              <a:rPr lang="en-IN" dirty="0" err="1"/>
              <a:t>modelVersion</a:t>
            </a:r>
            <a:r>
              <a:rPr lang="en-IN" dirty="0"/>
              <a:t>&gt;4.0.0&lt;/</a:t>
            </a:r>
            <a:r>
              <a:rPr lang="en-IN" dirty="0" err="1"/>
              <a:t>modelVersion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com.example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&gt;app&lt;/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r>
              <a:rPr lang="en-IN" dirty="0"/>
              <a:t>    &lt;version&gt;1.0&lt;/version&gt;</a:t>
            </a:r>
          </a:p>
          <a:p>
            <a:endParaRPr lang="en-IN" dirty="0"/>
          </a:p>
          <a:p>
            <a:r>
              <a:rPr lang="en-IN" dirty="0"/>
              <a:t>    &lt;parent&gt;</a:t>
            </a:r>
          </a:p>
          <a:p>
            <a:r>
              <a:rPr lang="en-IN" dirty="0"/>
              <a:t>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r>
              <a:rPr lang="en-IN" dirty="0"/>
              <a:t>        &lt;</a:t>
            </a:r>
            <a:r>
              <a:rPr lang="en-IN" dirty="0" err="1"/>
              <a:t>artifactId</a:t>
            </a:r>
            <a:r>
              <a:rPr lang="en-IN" dirty="0"/>
              <a:t>&gt;spring-boot-starter-parent&lt;/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r>
              <a:rPr lang="en-IN" dirty="0"/>
              <a:t>        &lt;version&gt;3.2.0&lt;/version&gt;</a:t>
            </a:r>
          </a:p>
          <a:p>
            <a:r>
              <a:rPr lang="en-IN" dirty="0"/>
              <a:t>    &lt;/parent&gt;</a:t>
            </a:r>
          </a:p>
          <a:p>
            <a:endParaRPr lang="en-IN" dirty="0"/>
          </a:p>
          <a:p>
            <a:r>
              <a:rPr lang="en-IN" dirty="0"/>
              <a:t>    &lt;dependencies&gt;</a:t>
            </a:r>
          </a:p>
          <a:p>
            <a:r>
              <a:rPr lang="en-IN" dirty="0"/>
              <a:t>        &lt;dependency&gt;</a:t>
            </a:r>
          </a:p>
          <a:p>
            <a:r>
              <a:rPr lang="en-IN" dirty="0"/>
              <a:t>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r>
              <a:rPr lang="en-IN" dirty="0"/>
              <a:t>            &lt;</a:t>
            </a:r>
            <a:r>
              <a:rPr lang="en-IN" dirty="0" err="1"/>
              <a:t>artifactId</a:t>
            </a:r>
            <a:r>
              <a:rPr lang="en-IN" dirty="0"/>
              <a:t>&gt;spring-boot-starter-web&lt;/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r>
              <a:rPr lang="en-IN" dirty="0"/>
              <a:t>        &lt;/dependency&gt;</a:t>
            </a:r>
          </a:p>
          <a:p>
            <a:r>
              <a:rPr lang="en-IN" dirty="0"/>
              <a:t>    &lt;/dependencies&gt;</a:t>
            </a:r>
          </a:p>
          <a:p>
            <a:endParaRPr lang="en-IN" dirty="0"/>
          </a:p>
          <a:p>
            <a:r>
              <a:rPr lang="en-IN" dirty="0"/>
              <a:t>    &lt;build&gt;</a:t>
            </a:r>
          </a:p>
          <a:p>
            <a:r>
              <a:rPr lang="en-IN" dirty="0"/>
              <a:t>        &lt;plugins&gt;</a:t>
            </a:r>
          </a:p>
          <a:p>
            <a:r>
              <a:rPr lang="en-IN" dirty="0"/>
              <a:t>            &lt;plugin&gt;</a:t>
            </a:r>
          </a:p>
          <a:p>
            <a:r>
              <a:rPr lang="en-IN" dirty="0"/>
              <a:t>    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r>
              <a:rPr lang="en-IN" dirty="0"/>
              <a:t>                &lt;</a:t>
            </a:r>
            <a:r>
              <a:rPr lang="en-IN" dirty="0" err="1"/>
              <a:t>artifactId</a:t>
            </a:r>
            <a:r>
              <a:rPr lang="en-IN" dirty="0"/>
              <a:t>&gt;spring-boot-maven-plugin&lt;/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r>
              <a:rPr lang="en-IN" dirty="0"/>
              <a:t>            &lt;/plugin&gt;</a:t>
            </a:r>
          </a:p>
          <a:p>
            <a:r>
              <a:rPr lang="en-IN" dirty="0"/>
              <a:t>        &lt;/plugins&gt;</a:t>
            </a:r>
          </a:p>
          <a:p>
            <a:r>
              <a:rPr lang="en-IN" dirty="0"/>
              <a:t>    &lt;/build&gt;</a:t>
            </a:r>
          </a:p>
          <a:p>
            <a:r>
              <a:rPr lang="en-IN" dirty="0"/>
              <a:t>&lt;/project&gt;</a:t>
            </a:r>
          </a:p>
        </p:txBody>
      </p:sp>
    </p:spTree>
    <p:extLst>
      <p:ext uri="{BB962C8B-B14F-4D97-AF65-F5344CB8AC3E}">
        <p14:creationId xmlns:p14="http://schemas.microsoft.com/office/powerpoint/2010/main" val="1693039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355B97-DE5A-19AD-394F-17D02BA091F0}"/>
              </a:ext>
            </a:extLst>
          </p:cNvPr>
          <p:cNvSpPr txBox="1"/>
          <p:nvPr/>
        </p:nvSpPr>
        <p:spPr>
          <a:xfrm>
            <a:off x="1203960" y="1173480"/>
            <a:ext cx="6934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</a:t>
            </a:r>
            <a:r>
              <a:rPr lang="en-US" dirty="0" err="1"/>
              <a:t>init</a:t>
            </a:r>
            <a:br>
              <a:rPr lang="en-US" dirty="0"/>
            </a:br>
            <a:r>
              <a:rPr lang="en-US" dirty="0"/>
              <a:t>git add .</a:t>
            </a:r>
            <a:br>
              <a:rPr lang="en-US" dirty="0"/>
            </a:br>
            <a:r>
              <a:rPr lang="en-US" dirty="0"/>
              <a:t>git commit -m "added project files"</a:t>
            </a:r>
            <a:br>
              <a:rPr lang="en-US" dirty="0"/>
            </a:br>
            <a:r>
              <a:rPr lang="en-US" dirty="0"/>
              <a:t>git branch -M main</a:t>
            </a:r>
            <a:br>
              <a:rPr lang="en-US" dirty="0"/>
            </a:br>
            <a:r>
              <a:rPr lang="en-US" dirty="0"/>
              <a:t>git remote add origin https://github.com/preetkaur18/neww.git</a:t>
            </a:r>
            <a:br>
              <a:rPr lang="en-US" dirty="0"/>
            </a:br>
            <a:r>
              <a:rPr lang="en-US" dirty="0"/>
              <a:t>git push -u origin main</a:t>
            </a:r>
          </a:p>
          <a:p>
            <a:endParaRPr lang="en-US" dirty="0"/>
          </a:p>
          <a:p>
            <a:r>
              <a:rPr lang="en-IN" b="1" dirty="0"/>
              <a:t>VERIFY ON GITHUB</a:t>
            </a:r>
          </a:p>
          <a:p>
            <a:endParaRPr lang="en-IN" dirty="0"/>
          </a:p>
          <a:p>
            <a:r>
              <a:rPr lang="en-IN" dirty="0" err="1"/>
              <a:t>Jenkinsfile</a:t>
            </a:r>
            <a:br>
              <a:rPr lang="en-IN" dirty="0"/>
            </a:br>
            <a:r>
              <a:rPr lang="en-IN" dirty="0"/>
              <a:t>pom.xml</a:t>
            </a:r>
            <a:br>
              <a:rPr lang="en-IN" dirty="0"/>
            </a:br>
            <a:r>
              <a:rPr lang="en-IN" dirty="0" err="1"/>
              <a:t>Dockerfile</a:t>
            </a:r>
            <a:br>
              <a:rPr lang="en-IN" dirty="0"/>
            </a:br>
            <a:r>
              <a:rPr lang="en-IN" dirty="0" err="1"/>
              <a:t>src</a:t>
            </a:r>
            <a:r>
              <a:rPr lang="en-IN" dirty="0"/>
              <a:t> folder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086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5C9B85-FD85-7B8A-11D3-45EE6A83D8C5}"/>
              </a:ext>
            </a:extLst>
          </p:cNvPr>
          <p:cNvSpPr txBox="1"/>
          <p:nvPr/>
        </p:nvSpPr>
        <p:spPr>
          <a:xfrm>
            <a:off x="0" y="0"/>
            <a:ext cx="1113282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restart with Jenkins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ci-cd-project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Scroll down in configuration page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Section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Pipeline script from SCM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Repository URL: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https://github.com/preetkaur18/neww.git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Branch: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*/main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Script Path: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Jenkinsfile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build now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50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90220" y="1247140"/>
            <a:ext cx="11701780" cy="3619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4000" b="1"/>
              <a:t>What is a Jenkins Pipeline?</a:t>
            </a:r>
          </a:p>
          <a:p>
            <a:r>
              <a:rPr sz="4000"/>
              <a:t>A pipeline is a set of automated steps that Jenkins follows to build, test, and deploy your application.</a:t>
            </a:r>
          </a:p>
          <a:p>
            <a:r>
              <a:rPr sz="4000"/>
              <a:t>Think of it as a scripted flowchart for your DevOps process.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45110" y="814070"/>
            <a:ext cx="11946890" cy="5887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3600" b="1"/>
              <a:t>Why Use a Pipeline?</a:t>
            </a:r>
          </a:p>
          <a:p>
            <a:pPr>
              <a:spcAft>
                <a:spcPct val="60000"/>
              </a:spcAft>
            </a:pPr>
            <a:endParaRPr sz="3600" b="1"/>
          </a:p>
          <a:p>
            <a:pPr>
              <a:buFont typeface="Arial" panose="020B0604020202020204"/>
              <a:buChar char="•"/>
            </a:pPr>
            <a:r>
              <a:rPr sz="3600"/>
              <a:t>Automate the entire CI/CD process</a:t>
            </a:r>
          </a:p>
          <a:p>
            <a:pPr>
              <a:buFont typeface="Arial" panose="020B0604020202020204"/>
              <a:buChar char="•"/>
            </a:pPr>
            <a:endParaRPr sz="3600"/>
          </a:p>
          <a:p>
            <a:pPr>
              <a:buFont typeface="Arial" panose="020B0604020202020204"/>
              <a:buChar char="•"/>
            </a:pPr>
            <a:r>
              <a:rPr sz="3600"/>
              <a:t>Make builds repeatable and version-controlled</a:t>
            </a:r>
          </a:p>
          <a:p>
            <a:pPr>
              <a:buFont typeface="Arial" panose="020B0604020202020204"/>
              <a:buChar char="•"/>
            </a:pPr>
            <a:endParaRPr sz="3600"/>
          </a:p>
          <a:p>
            <a:pPr>
              <a:buFont typeface="Arial" panose="020B0604020202020204"/>
              <a:buChar char="•"/>
            </a:pPr>
            <a:r>
              <a:rPr sz="3600"/>
              <a:t>Run complex workflows (parallel stages, conditional logic, etc.)</a:t>
            </a:r>
          </a:p>
          <a:p>
            <a:pPr>
              <a:buFont typeface="Arial" panose="020B0604020202020204"/>
              <a:buChar char="•"/>
            </a:pPr>
            <a:endParaRPr sz="3600"/>
          </a:p>
          <a:p>
            <a:pPr>
              <a:buFont typeface="Arial" panose="020B0604020202020204"/>
              <a:buChar char="•"/>
            </a:pPr>
            <a:r>
              <a:rPr sz="3600"/>
              <a:t>Use code to define build steps (called "Pipeline as Code")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35280" y="339725"/>
            <a:ext cx="5295900" cy="175133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sz="4000" b="1"/>
              <a:t>Two Types of Pipelines</a:t>
            </a: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982980" y="2091055"/>
          <a:ext cx="10394950" cy="3740785"/>
        </p:xfrm>
        <a:graphic>
          <a:graphicData uri="http://schemas.openxmlformats.org/drawingml/2006/table">
            <a:tbl>
              <a:tblPr/>
              <a:tblGrid>
                <a:gridCol w="51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4705">
                <a:tc>
                  <a:txBody>
                    <a:bodyPr/>
                    <a:lstStyle/>
                    <a:p>
                      <a:r>
                        <a:rPr sz="3200"/>
                        <a:t>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/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220">
                <a:tc>
                  <a:txBody>
                    <a:bodyPr/>
                    <a:lstStyle/>
                    <a:p>
                      <a:r>
                        <a:rPr sz="3200"/>
                        <a:t>Declarative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/>
                        <a:t>Easier to read and write. Structured and recommended for beginners.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220">
                <a:tc>
                  <a:txBody>
                    <a:bodyPr/>
                    <a:lstStyle/>
                    <a:p>
                      <a:r>
                        <a:rPr sz="3200"/>
                        <a:t>Scripted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/>
                        <a:t>More flexible but uses Groovy scripting, best for advanced users.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35" y="172085"/>
            <a:ext cx="12191365" cy="6853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3200" b="1"/>
              <a:t>What Are Plugins in Jenkins?</a:t>
            </a:r>
          </a:p>
          <a:p>
            <a:r>
              <a:rPr sz="3200"/>
              <a:t>Plugins are add-ons that extend Jenkins' core functionality.</a:t>
            </a:r>
          </a:p>
          <a:p>
            <a:r>
              <a:rPr sz="3200"/>
              <a:t> They help Jenkins integrate with tools like:</a:t>
            </a:r>
          </a:p>
          <a:p>
            <a:endParaRPr sz="3200"/>
          </a:p>
          <a:p>
            <a:pPr>
              <a:buFont typeface="Arial" panose="020B0604020202020204"/>
              <a:buChar char="•"/>
            </a:pPr>
            <a:r>
              <a:rPr sz="3200"/>
              <a:t>GitHub, GitLab</a:t>
            </a:r>
          </a:p>
          <a:p>
            <a:pPr>
              <a:buFont typeface="Arial" panose="020B0604020202020204"/>
              <a:buChar char="•"/>
            </a:pPr>
            <a:r>
              <a:rPr sz="3200"/>
              <a:t>Docker</a:t>
            </a:r>
          </a:p>
          <a:p>
            <a:pPr>
              <a:buFont typeface="Arial" panose="020B0604020202020204"/>
              <a:buChar char="•"/>
            </a:pPr>
            <a:r>
              <a:rPr sz="3200"/>
              <a:t>Slack</a:t>
            </a:r>
          </a:p>
          <a:p>
            <a:pPr>
              <a:buFont typeface="Arial" panose="020B0604020202020204"/>
              <a:buChar char="•"/>
            </a:pPr>
            <a:r>
              <a:rPr sz="3200"/>
              <a:t>Maven, Gradle</a:t>
            </a:r>
          </a:p>
          <a:p>
            <a:pPr>
              <a:buFont typeface="Arial" panose="020B0604020202020204"/>
              <a:buChar char="•"/>
            </a:pPr>
            <a:r>
              <a:rPr sz="3200"/>
              <a:t>JIRA</a:t>
            </a:r>
          </a:p>
          <a:p>
            <a:pPr>
              <a:buFont typeface="Arial" panose="020B0604020202020204"/>
              <a:buChar char="•"/>
            </a:pPr>
            <a:r>
              <a:rPr sz="3200"/>
              <a:t>Kubernetes</a:t>
            </a:r>
          </a:p>
          <a:p>
            <a:pPr>
              <a:buFont typeface="Arial" panose="020B0604020202020204"/>
              <a:buChar char="•"/>
            </a:pPr>
            <a:r>
              <a:rPr sz="3200"/>
              <a:t>And much more!</a:t>
            </a:r>
          </a:p>
          <a:p>
            <a:r>
              <a:rPr sz="3200"/>
              <a:t>Basically, if Jenkins needs to do anything beyond basic build automation, there's probably a plugin for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44475" y="0"/>
            <a:ext cx="11947525" cy="66395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sz="4000" b="1"/>
              <a:t>Why Are Plugins Important?</a:t>
            </a:r>
          </a:p>
          <a:p>
            <a:r>
              <a:rPr sz="4000"/>
              <a:t>Without plugins, Jenkins is just a basic automation server. Plugins let you:</a:t>
            </a:r>
          </a:p>
          <a:p>
            <a:endParaRPr sz="4000"/>
          </a:p>
          <a:p>
            <a:pPr>
              <a:buFont typeface="Arial" panose="020B0604020202020204"/>
              <a:buChar char="•"/>
            </a:pPr>
            <a:r>
              <a:rPr sz="4000"/>
              <a:t>Connect to source code repositories (e.g., Git plugin)</a:t>
            </a:r>
          </a:p>
          <a:p>
            <a:pPr>
              <a:buFont typeface="Arial" panose="020B0604020202020204"/>
              <a:buChar char="•"/>
            </a:pPr>
            <a:r>
              <a:rPr sz="4000"/>
              <a:t>Add build tools (e.g., Maven, Gradle plugin)</a:t>
            </a:r>
          </a:p>
          <a:p>
            <a:pPr>
              <a:buFont typeface="Arial" panose="020B0604020202020204"/>
              <a:buChar char="•"/>
            </a:pPr>
            <a:r>
              <a:rPr sz="4000"/>
              <a:t>Send notifications (e.g., Email, Slack)</a:t>
            </a:r>
          </a:p>
          <a:p>
            <a:pPr>
              <a:buFont typeface="Arial" panose="020B0604020202020204"/>
              <a:buChar char="•"/>
            </a:pPr>
            <a:r>
              <a:rPr sz="4000"/>
              <a:t>Use containers (e.g., Docker plugin)</a:t>
            </a:r>
          </a:p>
          <a:p>
            <a:pPr>
              <a:buFont typeface="Arial" panose="020B0604020202020204"/>
              <a:buChar char="•"/>
            </a:pPr>
            <a:r>
              <a:rPr sz="4000"/>
              <a:t>Define complex pipelines (Pipeline plugin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05" y="0"/>
            <a:ext cx="104609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6590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3600" b="1"/>
              <a:t>How to Install a Plugin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/>
              <a:t>Go to Jenkins Dashboard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/>
              <a:t>Click on Manage Jenkins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/>
              <a:t>Click on Manage Plugins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/>
              <a:t>Search in the Available tab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/>
              <a:t>Click Install without restart or Download now and install after restart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297930" y="2952750"/>
            <a:ext cx="589343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>
                <a:highlight>
                  <a:srgbClr val="FFFF00"/>
                </a:highlight>
              </a:rPr>
              <a:t>Too many plugins = performance issues or conflicts. Only install what you need.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37737"/>
            <a:ext cx="9082969" cy="61825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2648" y="497428"/>
            <a:ext cx="11386704" cy="586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b="1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Overview of Jenkins</a:t>
            </a:r>
            <a:endParaRPr lang="en-US" sz="3600" b="0" i="0" dirty="0">
              <a:solidFill>
                <a:srgbClr val="09090B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Jenkins is an open-source automation server designed to assist developers in automating the software development lifecycle.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Initially created for automating the build process for Java, Jenkins now supports a variety of programming languages and technologies.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By automating repetitive tasks—such as building, testing, and deployment—Jenkins allows developers to concentrate on coding.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1" y="805205"/>
            <a:ext cx="11658599" cy="5246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200" b="1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Key Features of Jenkins</a:t>
            </a:r>
            <a:endParaRPr lang="en-US" sz="3200" b="0" i="0" dirty="0">
              <a:solidFill>
                <a:srgbClr val="09090B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Continuous Integration (CI) and Continuous Delivery (CD) are core features, enabling automatic building, testing, and deployment of code changes.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Jenkins utilizes a rich ecosystem of plugins, which extend its functionality and support automation for diverse tasks in the development workflow.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Jenkins pipelines allow developers to define the entire build, test, and deployment process as code, facilitating version control and collaboration.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309" y="655267"/>
            <a:ext cx="11679382" cy="5246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200" b="1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How Jenkins Enhances Workflow</a:t>
            </a:r>
            <a:endParaRPr lang="en-US" sz="3200" b="0" i="0" dirty="0">
              <a:solidFill>
                <a:srgbClr val="09090B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By automating routine processes, Jenkins reduces the potential for human error and saves time, streamlining the software development process.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Integrations with other tools in the software development ecosystem make Jenkins adaptable to existing workflows, enhancing productivity.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Developers can write pipeline scripts using Groovy, a domain-specific language, enabling the definition of complex workflows and task automation.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527" y="1297647"/>
            <a:ext cx="11720945" cy="4261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200" b="1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Importance for Developers and DevOps Engineers</a:t>
            </a:r>
            <a:endParaRPr lang="en-US" sz="3200" b="0" i="0" dirty="0">
              <a:solidFill>
                <a:srgbClr val="09090B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Jenkins is considered an essential tool in the software development field, providing significant benefits in CI/CD capabilities.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The automation features of Jenkins enable teams to catch errors and bugs early in the development cycle, improving software quality.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9090B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With its robust automation capabilities and wide-ranging integrations, Jenkins empowers developers to focus on creating high-quality code.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291"/>
            <a:ext cx="12142855" cy="615141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737870"/>
            <a:ext cx="10210800" cy="53816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842645"/>
            <a:ext cx="10067925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14070"/>
            <a:ext cx="9906000" cy="52292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" y="177800"/>
            <a:ext cx="115697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1*539"/>
  <p:tag name="TABLE_ENDDRAG_RECT" val="3*0*921*5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8*486"/>
  <p:tag name="TABLE_ENDDRAG_RECT" val="77*26*818*48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1510</Words>
  <Application>Microsoft Office PowerPoint</Application>
  <PresentationFormat>Widescreen</PresentationFormat>
  <Paragraphs>270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Dagar</dc:creator>
  <cp:lastModifiedBy>Manpreet Kaur</cp:lastModifiedBy>
  <cp:revision>9</cp:revision>
  <dcterms:created xsi:type="dcterms:W3CDTF">2025-04-23T15:36:00Z</dcterms:created>
  <dcterms:modified xsi:type="dcterms:W3CDTF">2026-05-04T17:30:24Z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60E2C1184F154977813E7136C55D6618_12</vt:lpwstr>
  </property>
  <property fmtid="{D5CDD505-2E9C-101B-9397-08002B2CF9AE}" pid="3" name="KSOProductBuildVer">
    <vt:lpwstr>1033-12.2.0.21546</vt:lpwstr>
  </property>
</Properties>
</file>