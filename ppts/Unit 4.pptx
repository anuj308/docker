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84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9104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96C7"/>
          </a:solidFill>
          <a:ln w="12700">
            <a:solidFill>
              <a:srgbClr val="0096C7"/>
            </a:solidFill>
            <a:prstDash val="solid"/>
          </a:ln>
        </p:spPr>
      </p:sp>
      <p:sp>
        <p:nvSpPr>
          <p:cNvPr id="3" name="Shape 1"/>
          <p:cNvSpPr/>
          <p:nvPr/>
        </p:nvSpPr>
        <p:spPr>
          <a:xfrm>
            <a:off x="6858000" y="0"/>
            <a:ext cx="2286000" cy="1097280"/>
          </a:xfrm>
          <a:prstGeom prst="rect">
            <a:avLst/>
          </a:prstGeom>
          <a:solidFill>
            <a:srgbClr val="1F3A5F"/>
          </a:solidFill>
          <a:ln w="12700">
            <a:solidFill>
              <a:srgbClr val="1F3A5F"/>
            </a:solidFill>
            <a:prstDash val="solid"/>
          </a:ln>
        </p:spPr>
      </p:sp>
      <p:sp>
        <p:nvSpPr>
          <p:cNvPr id="4" name="Shape 2"/>
          <p:cNvSpPr/>
          <p:nvPr/>
        </p:nvSpPr>
        <p:spPr>
          <a:xfrm>
            <a:off x="7772400" y="0"/>
            <a:ext cx="1371600" cy="5143500"/>
          </a:xfrm>
          <a:prstGeom prst="rect">
            <a:avLst/>
          </a:prstGeom>
          <a:solidFill>
            <a:srgbClr val="1B2A4A"/>
          </a:solidFill>
          <a:ln w="12700">
            <a:solidFill>
              <a:srgbClr val="1B2A4A"/>
            </a:solidFill>
            <a:prstDash val="solid"/>
          </a:ln>
        </p:spPr>
      </p:sp>
      <p:sp>
        <p:nvSpPr>
          <p:cNvPr id="5" name="Text 3"/>
          <p:cNvSpPr/>
          <p:nvPr/>
        </p:nvSpPr>
        <p:spPr>
          <a:xfrm>
            <a:off x="457200" y="914400"/>
            <a:ext cx="6858000" cy="822960"/>
          </a:xfrm>
          <a:prstGeom prst="rect">
            <a:avLst/>
          </a:prstGeom>
          <a:noFill/>
          <a:ln/>
        </p:spPr>
        <p:txBody>
          <a:bodyPr wrap="square" lIns="0" tIns="0" rIns="0" bIns="0" rtlCol="0" anchor="ctr"/>
          <a:lstStyle/>
          <a:p>
            <a:pPr marL="0" indent="0">
              <a:buNone/>
            </a:pPr>
            <a:r>
              <a:rPr lang="en-US" sz="5800" b="1" kern="0" spc="1000" dirty="0">
                <a:solidFill>
                  <a:srgbClr val="0096C7"/>
                </a:solidFill>
                <a:latin typeface="Trebuchet MS" pitchFamily="34" charset="0"/>
                <a:ea typeface="Trebuchet MS" pitchFamily="34" charset="-122"/>
                <a:cs typeface="Trebuchet MS" pitchFamily="34" charset="-120"/>
              </a:rPr>
              <a:t>MAVEN</a:t>
            </a:r>
            <a:endParaRPr lang="en-US" sz="5800" dirty="0"/>
          </a:p>
        </p:txBody>
      </p:sp>
      <p:sp>
        <p:nvSpPr>
          <p:cNvPr id="6" name="Text 4"/>
          <p:cNvSpPr/>
          <p:nvPr/>
        </p:nvSpPr>
        <p:spPr>
          <a:xfrm>
            <a:off x="457200" y="1737360"/>
            <a:ext cx="6858000" cy="731520"/>
          </a:xfrm>
          <a:prstGeom prst="rect">
            <a:avLst/>
          </a:prstGeom>
          <a:noFill/>
          <a:ln/>
        </p:spPr>
        <p:txBody>
          <a:bodyPr wrap="square" lIns="0" tIns="0" rIns="0" bIns="0" rtlCol="0" anchor="ctr"/>
          <a:lstStyle/>
          <a:p>
            <a:pPr marL="0" indent="0">
              <a:buNone/>
            </a:pPr>
            <a:r>
              <a:rPr lang="en-US" sz="3000" b="1" kern="0" spc="400" dirty="0">
                <a:solidFill>
                  <a:srgbClr val="FFFFFF"/>
                </a:solidFill>
                <a:latin typeface="Trebuchet MS" pitchFamily="34" charset="0"/>
                <a:ea typeface="Trebuchet MS" pitchFamily="34" charset="-122"/>
                <a:cs typeface="Trebuchet MS" pitchFamily="34" charset="-120"/>
              </a:rPr>
              <a:t>BUILD AUTOMATION</a:t>
            </a:r>
            <a:endParaRPr lang="en-US" sz="3000" dirty="0"/>
          </a:p>
        </p:txBody>
      </p:sp>
      <p:sp>
        <p:nvSpPr>
          <p:cNvPr id="7" name="Shape 5"/>
          <p:cNvSpPr/>
          <p:nvPr/>
        </p:nvSpPr>
        <p:spPr>
          <a:xfrm>
            <a:off x="457200" y="2606040"/>
            <a:ext cx="4114800" cy="45720"/>
          </a:xfrm>
          <a:prstGeom prst="rect">
            <a:avLst/>
          </a:prstGeom>
          <a:solidFill>
            <a:srgbClr val="F4A261"/>
          </a:solidFill>
          <a:ln w="12700">
            <a:solidFill>
              <a:srgbClr val="F4A261"/>
            </a:solidFill>
            <a:prstDash val="solid"/>
          </a:ln>
        </p:spPr>
      </p:sp>
      <p:sp>
        <p:nvSpPr>
          <p:cNvPr id="8" name="Text 6"/>
          <p:cNvSpPr/>
          <p:nvPr/>
        </p:nvSpPr>
        <p:spPr>
          <a:xfrm>
            <a:off x="457200" y="2788920"/>
            <a:ext cx="7132320" cy="45720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Lifecycle · Dependency Management · Plugins · Docker Integration</a:t>
            </a:r>
            <a:endParaRPr lang="en-US" sz="1400" dirty="0"/>
          </a:p>
        </p:txBody>
      </p:sp>
      <p:sp>
        <p:nvSpPr>
          <p:cNvPr id="9" name="Text 7"/>
          <p:cNvSpPr/>
          <p:nvPr/>
        </p:nvSpPr>
        <p:spPr>
          <a:xfrm>
            <a:off x="457200" y="4297680"/>
            <a:ext cx="4572000" cy="365760"/>
          </a:xfrm>
          <a:prstGeom prst="rect">
            <a:avLst/>
          </a:prstGeom>
          <a:noFill/>
          <a:ln/>
        </p:spPr>
        <p:txBody>
          <a:bodyPr wrap="square" lIns="0" tIns="0" rIns="0" bIns="0" rtlCol="0" anchor="ctr"/>
          <a:lstStyle/>
          <a:p>
            <a:pPr marL="0" indent="0">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Shape 1"/>
          <p:cNvSpPr/>
          <p:nvPr/>
        </p:nvSpPr>
        <p:spPr>
          <a:xfrm>
            <a:off x="0" y="777240"/>
            <a:ext cx="9144000" cy="36576"/>
          </a:xfrm>
          <a:prstGeom prst="rect">
            <a:avLst/>
          </a:prstGeom>
          <a:solidFill>
            <a:srgbClr val="0096C7"/>
          </a:solidFill>
          <a:ln w="12700">
            <a:solidFill>
              <a:srgbClr val="0096C7"/>
            </a:solidFill>
            <a:prstDash val="solid"/>
          </a:ln>
        </p:spPr>
      </p:sp>
      <p:sp>
        <p:nvSpPr>
          <p:cNvPr id="4" name="Text 2"/>
          <p:cNvSpPr/>
          <p:nvPr/>
        </p:nvSpPr>
        <p:spPr>
          <a:xfrm>
            <a:off x="365760" y="9144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Why Build Tools Exist</a:t>
            </a:r>
            <a:endParaRPr lang="en-US" sz="2400" dirty="0"/>
          </a:p>
        </p:txBody>
      </p:sp>
      <p:sp>
        <p:nvSpPr>
          <p:cNvPr id="5" name="Text 3"/>
          <p:cNvSpPr/>
          <p:nvPr/>
        </p:nvSpPr>
        <p:spPr>
          <a:xfrm>
            <a:off x="365760" y="566928"/>
            <a:ext cx="7315200" cy="228600"/>
          </a:xfrm>
          <a:prstGeom prst="rect">
            <a:avLst/>
          </a:prstGeom>
          <a:noFill/>
          <a:ln/>
        </p:spPr>
        <p:txBody>
          <a:bodyPr wrap="square" lIns="0" tIns="0" rIns="0" bIns="0" rtlCol="0" anchor="ctr"/>
          <a:lstStyle/>
          <a:p>
            <a:pPr marL="0" indent="0">
              <a:buNone/>
            </a:pPr>
            <a:r>
              <a:rPr lang="en-US" sz="1100" i="1" dirty="0">
                <a:solidFill>
                  <a:srgbClr val="0096C7"/>
                </a:solidFill>
                <a:latin typeface="Calibri" pitchFamily="34" charset="0"/>
                <a:ea typeface="Calibri" pitchFamily="34" charset="-122"/>
                <a:cs typeface="Calibri" pitchFamily="34" charset="-120"/>
              </a:rPr>
              <a:t>The problems that triggered automation</a:t>
            </a:r>
            <a:endParaRPr lang="en-US" sz="1100" dirty="0"/>
          </a:p>
        </p:txBody>
      </p:sp>
      <p:sp>
        <p:nvSpPr>
          <p:cNvPr id="6" name="Shape 4"/>
          <p:cNvSpPr/>
          <p:nvPr/>
        </p:nvSpPr>
        <p:spPr>
          <a:xfrm>
            <a:off x="274320" y="1005840"/>
            <a:ext cx="4206240" cy="1783080"/>
          </a:xfrm>
          <a:prstGeom prst="rect">
            <a:avLst/>
          </a:prstGeom>
          <a:solidFill>
            <a:srgbClr val="1F3A5F"/>
          </a:solidFill>
          <a:ln w="12700">
            <a:solidFill>
              <a:srgbClr val="1F3A5F"/>
            </a:solidFill>
            <a:prstDash val="solid"/>
          </a:ln>
          <a:effectLst>
            <a:outerShdw blurRad="63500" dist="25400" dir="8100000" algn="bl" rotWithShape="0">
              <a:srgbClr val="000000">
                <a:alpha val="25000"/>
              </a:srgbClr>
            </a:outerShdw>
          </a:effectLst>
        </p:spPr>
      </p:sp>
      <p:sp>
        <p:nvSpPr>
          <p:cNvPr id="7" name="Shape 5"/>
          <p:cNvSpPr/>
          <p:nvPr/>
        </p:nvSpPr>
        <p:spPr>
          <a:xfrm>
            <a:off x="274320" y="1005840"/>
            <a:ext cx="64008" cy="1783080"/>
          </a:xfrm>
          <a:prstGeom prst="rect">
            <a:avLst/>
          </a:prstGeom>
          <a:solidFill>
            <a:srgbClr val="0096C7"/>
          </a:solidFill>
          <a:ln w="12700">
            <a:solidFill>
              <a:srgbClr val="0096C7"/>
            </a:solidFill>
            <a:prstDash val="solid"/>
          </a:ln>
        </p:spPr>
      </p:sp>
      <p:sp>
        <p:nvSpPr>
          <p:cNvPr id="8" name="Text 6"/>
          <p:cNvSpPr/>
          <p:nvPr/>
        </p:nvSpPr>
        <p:spPr>
          <a:xfrm>
            <a:off x="411480" y="1069848"/>
            <a:ext cx="4023360" cy="274320"/>
          </a:xfrm>
          <a:prstGeom prst="rect">
            <a:avLst/>
          </a:prstGeom>
          <a:noFill/>
          <a:ln/>
        </p:spPr>
        <p:txBody>
          <a:bodyPr wrap="square" lIns="0" tIns="0" rIns="0" bIns="0" rtlCol="0" anchor="ctr"/>
          <a:lstStyle/>
          <a:p>
            <a:pPr marL="0" indent="0">
              <a:buNone/>
            </a:pPr>
            <a:r>
              <a:rPr lang="en-US" sz="1300" b="1" dirty="0">
                <a:solidFill>
                  <a:srgbClr val="F4A261"/>
                </a:solidFill>
                <a:latin typeface="Trebuchet MS" pitchFamily="34" charset="0"/>
                <a:ea typeface="Trebuchet MS" pitchFamily="34" charset="-122"/>
                <a:cs typeface="Trebuchet MS" pitchFamily="34" charset="-120"/>
              </a:rPr>
              <a:t>Manual Compilation Pain</a:t>
            </a:r>
            <a:endParaRPr lang="en-US" sz="1300" dirty="0"/>
          </a:p>
        </p:txBody>
      </p:sp>
      <p:sp>
        <p:nvSpPr>
          <p:cNvPr id="9" name="Text 7"/>
          <p:cNvSpPr/>
          <p:nvPr/>
        </p:nvSpPr>
        <p:spPr>
          <a:xfrm>
            <a:off x="411480" y="1353312"/>
            <a:ext cx="4005072" cy="137160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Developers had to remember exact javac commands, classpaths, and dependencies for every build — error-prone and time-consuming.</a:t>
            </a:r>
            <a:endParaRPr lang="en-US" sz="1100" dirty="0"/>
          </a:p>
        </p:txBody>
      </p:sp>
      <p:sp>
        <p:nvSpPr>
          <p:cNvPr id="10" name="Shape 8"/>
          <p:cNvSpPr/>
          <p:nvPr/>
        </p:nvSpPr>
        <p:spPr>
          <a:xfrm>
            <a:off x="4709160" y="1005840"/>
            <a:ext cx="4206240" cy="1783080"/>
          </a:xfrm>
          <a:prstGeom prst="rect">
            <a:avLst/>
          </a:prstGeom>
          <a:solidFill>
            <a:srgbClr val="1F3A5F"/>
          </a:solidFill>
          <a:ln w="12700">
            <a:solidFill>
              <a:srgbClr val="1F3A5F"/>
            </a:solidFill>
            <a:prstDash val="solid"/>
          </a:ln>
          <a:effectLst>
            <a:outerShdw blurRad="63500" dist="25400" dir="8100000" algn="bl" rotWithShape="0">
              <a:srgbClr val="000000">
                <a:alpha val="25000"/>
              </a:srgbClr>
            </a:outerShdw>
          </a:effectLst>
        </p:spPr>
      </p:sp>
      <p:sp>
        <p:nvSpPr>
          <p:cNvPr id="11" name="Shape 9"/>
          <p:cNvSpPr/>
          <p:nvPr/>
        </p:nvSpPr>
        <p:spPr>
          <a:xfrm>
            <a:off x="4709160" y="1005840"/>
            <a:ext cx="64008" cy="1783080"/>
          </a:xfrm>
          <a:prstGeom prst="rect">
            <a:avLst/>
          </a:prstGeom>
          <a:solidFill>
            <a:srgbClr val="0096C7"/>
          </a:solidFill>
          <a:ln w="12700">
            <a:solidFill>
              <a:srgbClr val="0096C7"/>
            </a:solidFill>
            <a:prstDash val="solid"/>
          </a:ln>
        </p:spPr>
      </p:sp>
      <p:sp>
        <p:nvSpPr>
          <p:cNvPr id="12" name="Text 10"/>
          <p:cNvSpPr/>
          <p:nvPr/>
        </p:nvSpPr>
        <p:spPr>
          <a:xfrm>
            <a:off x="4846320" y="1069848"/>
            <a:ext cx="4023360" cy="274320"/>
          </a:xfrm>
          <a:prstGeom prst="rect">
            <a:avLst/>
          </a:prstGeom>
          <a:noFill/>
          <a:ln/>
        </p:spPr>
        <p:txBody>
          <a:bodyPr wrap="square" lIns="0" tIns="0" rIns="0" bIns="0" rtlCol="0" anchor="ctr"/>
          <a:lstStyle/>
          <a:p>
            <a:pPr marL="0" indent="0">
              <a:buNone/>
            </a:pPr>
            <a:r>
              <a:rPr lang="en-US" sz="1300" b="1" dirty="0">
                <a:solidFill>
                  <a:srgbClr val="F4A261"/>
                </a:solidFill>
                <a:latin typeface="Trebuchet MS" pitchFamily="34" charset="0"/>
                <a:ea typeface="Trebuchet MS" pitchFamily="34" charset="-122"/>
                <a:cs typeface="Trebuchet MS" pitchFamily="34" charset="-120"/>
              </a:rPr>
              <a:t>Dependency Hell</a:t>
            </a:r>
            <a:endParaRPr lang="en-US" sz="1300" dirty="0"/>
          </a:p>
        </p:txBody>
      </p:sp>
      <p:sp>
        <p:nvSpPr>
          <p:cNvPr id="13" name="Text 11"/>
          <p:cNvSpPr/>
          <p:nvPr/>
        </p:nvSpPr>
        <p:spPr>
          <a:xfrm>
            <a:off x="4846320" y="1353312"/>
            <a:ext cx="4005072" cy="137160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Managing JAR files manually led to version conflicts, missing libraries, and the infamous 'works on my machine' syndrome.</a:t>
            </a:r>
            <a:endParaRPr lang="en-US" sz="1100" dirty="0"/>
          </a:p>
        </p:txBody>
      </p:sp>
      <p:sp>
        <p:nvSpPr>
          <p:cNvPr id="14" name="Shape 12"/>
          <p:cNvSpPr/>
          <p:nvPr/>
        </p:nvSpPr>
        <p:spPr>
          <a:xfrm>
            <a:off x="274320" y="2971800"/>
            <a:ext cx="4206240" cy="1783080"/>
          </a:xfrm>
          <a:prstGeom prst="rect">
            <a:avLst/>
          </a:prstGeom>
          <a:solidFill>
            <a:srgbClr val="1F3A5F"/>
          </a:solidFill>
          <a:ln w="12700">
            <a:solidFill>
              <a:srgbClr val="1F3A5F"/>
            </a:solidFill>
            <a:prstDash val="solid"/>
          </a:ln>
          <a:effectLst>
            <a:outerShdw blurRad="63500" dist="25400" dir="8100000" algn="bl" rotWithShape="0">
              <a:srgbClr val="000000">
                <a:alpha val="25000"/>
              </a:srgbClr>
            </a:outerShdw>
          </a:effectLst>
        </p:spPr>
      </p:sp>
      <p:sp>
        <p:nvSpPr>
          <p:cNvPr id="15" name="Shape 13"/>
          <p:cNvSpPr/>
          <p:nvPr/>
        </p:nvSpPr>
        <p:spPr>
          <a:xfrm>
            <a:off x="274320" y="2971800"/>
            <a:ext cx="64008" cy="1783080"/>
          </a:xfrm>
          <a:prstGeom prst="rect">
            <a:avLst/>
          </a:prstGeom>
          <a:solidFill>
            <a:srgbClr val="0096C7"/>
          </a:solidFill>
          <a:ln w="12700">
            <a:solidFill>
              <a:srgbClr val="0096C7"/>
            </a:solidFill>
            <a:prstDash val="solid"/>
          </a:ln>
        </p:spPr>
      </p:sp>
      <p:sp>
        <p:nvSpPr>
          <p:cNvPr id="16" name="Text 14"/>
          <p:cNvSpPr/>
          <p:nvPr/>
        </p:nvSpPr>
        <p:spPr>
          <a:xfrm>
            <a:off x="411480" y="3035808"/>
            <a:ext cx="4023360" cy="274320"/>
          </a:xfrm>
          <a:prstGeom prst="rect">
            <a:avLst/>
          </a:prstGeom>
          <a:noFill/>
          <a:ln/>
        </p:spPr>
        <p:txBody>
          <a:bodyPr wrap="square" lIns="0" tIns="0" rIns="0" bIns="0" rtlCol="0" anchor="ctr"/>
          <a:lstStyle/>
          <a:p>
            <a:pPr marL="0" indent="0">
              <a:buNone/>
            </a:pPr>
            <a:r>
              <a:rPr lang="en-US" sz="1300" b="1" dirty="0">
                <a:solidFill>
                  <a:srgbClr val="F4A261"/>
                </a:solidFill>
                <a:latin typeface="Trebuchet MS" pitchFamily="34" charset="0"/>
                <a:ea typeface="Trebuchet MS" pitchFamily="34" charset="-122"/>
                <a:cs typeface="Trebuchet MS" pitchFamily="34" charset="-120"/>
              </a:rPr>
              <a:t>Inconsistent Builds</a:t>
            </a:r>
            <a:endParaRPr lang="en-US" sz="1300" dirty="0"/>
          </a:p>
        </p:txBody>
      </p:sp>
      <p:sp>
        <p:nvSpPr>
          <p:cNvPr id="17" name="Text 15"/>
          <p:cNvSpPr/>
          <p:nvPr/>
        </p:nvSpPr>
        <p:spPr>
          <a:xfrm>
            <a:off x="411480" y="3319272"/>
            <a:ext cx="4005072" cy="137160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Without a standard process, builds differed between developers, CI servers, and production — causing unpredictable failures.</a:t>
            </a:r>
            <a:endParaRPr lang="en-US" sz="1100" dirty="0"/>
          </a:p>
        </p:txBody>
      </p:sp>
      <p:sp>
        <p:nvSpPr>
          <p:cNvPr id="18" name="Shape 16"/>
          <p:cNvSpPr/>
          <p:nvPr/>
        </p:nvSpPr>
        <p:spPr>
          <a:xfrm>
            <a:off x="4709160" y="2971800"/>
            <a:ext cx="4206240" cy="1783080"/>
          </a:xfrm>
          <a:prstGeom prst="rect">
            <a:avLst/>
          </a:prstGeom>
          <a:solidFill>
            <a:srgbClr val="1F3A5F"/>
          </a:solidFill>
          <a:ln w="12700">
            <a:solidFill>
              <a:srgbClr val="1F3A5F"/>
            </a:solidFill>
            <a:prstDash val="solid"/>
          </a:ln>
          <a:effectLst>
            <a:outerShdw blurRad="63500" dist="25400" dir="8100000" algn="bl" rotWithShape="0">
              <a:srgbClr val="000000">
                <a:alpha val="25000"/>
              </a:srgbClr>
            </a:outerShdw>
          </a:effectLst>
        </p:spPr>
      </p:sp>
      <p:sp>
        <p:nvSpPr>
          <p:cNvPr id="19" name="Shape 17"/>
          <p:cNvSpPr/>
          <p:nvPr/>
        </p:nvSpPr>
        <p:spPr>
          <a:xfrm>
            <a:off x="4709160" y="2971800"/>
            <a:ext cx="64008" cy="1783080"/>
          </a:xfrm>
          <a:prstGeom prst="rect">
            <a:avLst/>
          </a:prstGeom>
          <a:solidFill>
            <a:srgbClr val="0096C7"/>
          </a:solidFill>
          <a:ln w="12700">
            <a:solidFill>
              <a:srgbClr val="0096C7"/>
            </a:solidFill>
            <a:prstDash val="solid"/>
          </a:ln>
        </p:spPr>
      </p:sp>
      <p:sp>
        <p:nvSpPr>
          <p:cNvPr id="20" name="Text 18"/>
          <p:cNvSpPr/>
          <p:nvPr/>
        </p:nvSpPr>
        <p:spPr>
          <a:xfrm>
            <a:off x="4846320" y="3035808"/>
            <a:ext cx="4023360" cy="274320"/>
          </a:xfrm>
          <a:prstGeom prst="rect">
            <a:avLst/>
          </a:prstGeom>
          <a:noFill/>
          <a:ln/>
        </p:spPr>
        <p:txBody>
          <a:bodyPr wrap="square" lIns="0" tIns="0" rIns="0" bIns="0" rtlCol="0" anchor="ctr"/>
          <a:lstStyle/>
          <a:p>
            <a:pPr marL="0" indent="0">
              <a:buNone/>
            </a:pPr>
            <a:r>
              <a:rPr lang="en-US" sz="1300" b="1" dirty="0">
                <a:solidFill>
                  <a:srgbClr val="F4A261"/>
                </a:solidFill>
                <a:latin typeface="Trebuchet MS" pitchFamily="34" charset="0"/>
                <a:ea typeface="Trebuchet MS" pitchFamily="34" charset="-122"/>
                <a:cs typeface="Trebuchet MS" pitchFamily="34" charset="-120"/>
              </a:rPr>
              <a:t>Repetitive Tasks</a:t>
            </a:r>
            <a:endParaRPr lang="en-US" sz="1300" dirty="0"/>
          </a:p>
        </p:txBody>
      </p:sp>
      <p:sp>
        <p:nvSpPr>
          <p:cNvPr id="21" name="Text 19"/>
          <p:cNvSpPr/>
          <p:nvPr/>
        </p:nvSpPr>
        <p:spPr>
          <a:xfrm>
            <a:off x="4846320" y="3319272"/>
            <a:ext cx="4005072" cy="137160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Testing, packaging, and deploying were manual steps that had to be repeated identically every release cycle.</a:t>
            </a:r>
            <a:endParaRPr lang="en-US" sz="1100" dirty="0"/>
          </a:p>
        </p:txBody>
      </p:sp>
      <p:sp>
        <p:nvSpPr>
          <p:cNvPr id="22" name="Text 20"/>
          <p:cNvSpPr/>
          <p:nvPr/>
        </p:nvSpPr>
        <p:spPr>
          <a:xfrm>
            <a:off x="274320" y="4663440"/>
            <a:ext cx="8595360" cy="274320"/>
          </a:xfrm>
          <a:prstGeom prst="rect">
            <a:avLst/>
          </a:prstGeom>
          <a:noFill/>
          <a:ln/>
        </p:spPr>
        <p:txBody>
          <a:bodyPr wrap="square" lIns="0" tIns="0" rIns="0" bIns="0" rtlCol="0" anchor="ctr"/>
          <a:lstStyle/>
          <a:p>
            <a:pPr marL="0" indent="0" algn="ctr">
              <a:buNone/>
            </a:pPr>
            <a:r>
              <a:rPr lang="en-US" sz="1200" i="1" dirty="0">
                <a:solidFill>
                  <a:srgbClr val="0096C7"/>
                </a:solidFill>
                <a:latin typeface="Calibri" pitchFamily="34" charset="0"/>
                <a:ea typeface="Calibri" pitchFamily="34" charset="-122"/>
                <a:cs typeface="Calibri" pitchFamily="34" charset="-120"/>
              </a:rPr>
              <a:t>Maven solves all of the above through a standardized, declarative build system.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Shape 1"/>
          <p:cNvSpPr/>
          <p:nvPr/>
        </p:nvSpPr>
        <p:spPr>
          <a:xfrm>
            <a:off x="0" y="777240"/>
            <a:ext cx="9144000" cy="36576"/>
          </a:xfrm>
          <a:prstGeom prst="rect">
            <a:avLst/>
          </a:prstGeom>
          <a:solidFill>
            <a:srgbClr val="0096C7"/>
          </a:solidFill>
          <a:ln w="12700">
            <a:solidFill>
              <a:srgbClr val="0096C7"/>
            </a:solidFill>
            <a:prstDash val="solid"/>
          </a:ln>
        </p:spPr>
      </p:sp>
      <p:sp>
        <p:nvSpPr>
          <p:cNvPr id="4" name="Text 2"/>
          <p:cNvSpPr/>
          <p:nvPr/>
        </p:nvSpPr>
        <p:spPr>
          <a:xfrm>
            <a:off x="365760" y="9144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Project Object Model (POM)</a:t>
            </a:r>
            <a:endParaRPr lang="en-US" sz="2400" dirty="0"/>
          </a:p>
        </p:txBody>
      </p:sp>
      <p:sp>
        <p:nvSpPr>
          <p:cNvPr id="5" name="Text 3"/>
          <p:cNvSpPr/>
          <p:nvPr/>
        </p:nvSpPr>
        <p:spPr>
          <a:xfrm>
            <a:off x="365760" y="566928"/>
            <a:ext cx="7315200" cy="228600"/>
          </a:xfrm>
          <a:prstGeom prst="rect">
            <a:avLst/>
          </a:prstGeom>
          <a:noFill/>
          <a:ln/>
        </p:spPr>
        <p:txBody>
          <a:bodyPr wrap="square" lIns="0" tIns="0" rIns="0" bIns="0" rtlCol="0" anchor="ctr"/>
          <a:lstStyle/>
          <a:p>
            <a:pPr marL="0" indent="0">
              <a:buNone/>
            </a:pPr>
            <a:r>
              <a:rPr lang="en-US" sz="1100" i="1" dirty="0">
                <a:solidFill>
                  <a:srgbClr val="0096C7"/>
                </a:solidFill>
                <a:latin typeface="Calibri" pitchFamily="34" charset="0"/>
                <a:ea typeface="Calibri" pitchFamily="34" charset="-122"/>
                <a:cs typeface="Calibri" pitchFamily="34" charset="-120"/>
              </a:rPr>
              <a:t>The heart of every Maven project — pom.xml</a:t>
            </a:r>
            <a:endParaRPr lang="en-US" sz="1100" dirty="0"/>
          </a:p>
        </p:txBody>
      </p:sp>
      <p:sp>
        <p:nvSpPr>
          <p:cNvPr id="6" name="Shape 4"/>
          <p:cNvSpPr/>
          <p:nvPr/>
        </p:nvSpPr>
        <p:spPr>
          <a:xfrm>
            <a:off x="274320" y="960120"/>
            <a:ext cx="4023360" cy="3931920"/>
          </a:xfrm>
          <a:prstGeom prst="rect">
            <a:avLst/>
          </a:prstGeom>
          <a:solidFill>
            <a:srgbClr val="1B2A4A"/>
          </a:solidFill>
          <a:ln w="12700">
            <a:solidFill>
              <a:srgbClr val="1B2A4A"/>
            </a:solidFill>
            <a:prstDash val="solid"/>
          </a:ln>
        </p:spPr>
      </p:sp>
      <p:sp>
        <p:nvSpPr>
          <p:cNvPr id="7" name="Text 5"/>
          <p:cNvSpPr/>
          <p:nvPr/>
        </p:nvSpPr>
        <p:spPr>
          <a:xfrm>
            <a:off x="457200" y="1097280"/>
            <a:ext cx="1371600" cy="274320"/>
          </a:xfrm>
          <a:prstGeom prst="rect">
            <a:avLst/>
          </a:prstGeom>
          <a:noFill/>
          <a:ln/>
        </p:spPr>
        <p:txBody>
          <a:bodyPr wrap="square" lIns="0" tIns="0" rIns="0" bIns="0" rtlCol="0" anchor="ctr"/>
          <a:lstStyle/>
          <a:p>
            <a:pPr marL="0" indent="0">
              <a:buNone/>
            </a:pPr>
            <a:r>
              <a:rPr lang="en-US" sz="1100" b="1" dirty="0">
                <a:solidFill>
                  <a:srgbClr val="F4A261"/>
                </a:solidFill>
                <a:latin typeface="Calibri" pitchFamily="34" charset="0"/>
                <a:ea typeface="Calibri" pitchFamily="34" charset="-122"/>
                <a:cs typeface="Calibri" pitchFamily="34" charset="-120"/>
              </a:rPr>
              <a:t>GroupId: </a:t>
            </a:r>
            <a:endParaRPr lang="en-US" sz="1100" dirty="0"/>
          </a:p>
        </p:txBody>
      </p:sp>
      <p:sp>
        <p:nvSpPr>
          <p:cNvPr id="8" name="Text 6"/>
          <p:cNvSpPr/>
          <p:nvPr/>
        </p:nvSpPr>
        <p:spPr>
          <a:xfrm>
            <a:off x="1828800" y="1097280"/>
            <a:ext cx="2286000" cy="27432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Unique org identifier e.g. com.example</a:t>
            </a:r>
            <a:endParaRPr lang="en-US" sz="1100" dirty="0"/>
          </a:p>
        </p:txBody>
      </p:sp>
      <p:sp>
        <p:nvSpPr>
          <p:cNvPr id="9" name="Text 7"/>
          <p:cNvSpPr/>
          <p:nvPr/>
        </p:nvSpPr>
        <p:spPr>
          <a:xfrm>
            <a:off x="457200" y="1609344"/>
            <a:ext cx="1371600" cy="274320"/>
          </a:xfrm>
          <a:prstGeom prst="rect">
            <a:avLst/>
          </a:prstGeom>
          <a:noFill/>
          <a:ln/>
        </p:spPr>
        <p:txBody>
          <a:bodyPr wrap="square" lIns="0" tIns="0" rIns="0" bIns="0" rtlCol="0" anchor="ctr"/>
          <a:lstStyle/>
          <a:p>
            <a:pPr marL="0" indent="0">
              <a:buNone/>
            </a:pPr>
            <a:r>
              <a:rPr lang="en-US" sz="1100" b="1" dirty="0">
                <a:solidFill>
                  <a:srgbClr val="F4A261"/>
                </a:solidFill>
                <a:latin typeface="Calibri" pitchFamily="34" charset="0"/>
                <a:ea typeface="Calibri" pitchFamily="34" charset="-122"/>
                <a:cs typeface="Calibri" pitchFamily="34" charset="-120"/>
              </a:rPr>
              <a:t>ArtifactId: </a:t>
            </a:r>
            <a:endParaRPr lang="en-US" sz="1100" dirty="0"/>
          </a:p>
        </p:txBody>
      </p:sp>
      <p:sp>
        <p:nvSpPr>
          <p:cNvPr id="10" name="Text 8"/>
          <p:cNvSpPr/>
          <p:nvPr/>
        </p:nvSpPr>
        <p:spPr>
          <a:xfrm>
            <a:off x="1828800" y="1609344"/>
            <a:ext cx="2286000" cy="27432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Project/module name e.g. my-app</a:t>
            </a:r>
            <a:endParaRPr lang="en-US" sz="1100" dirty="0"/>
          </a:p>
        </p:txBody>
      </p:sp>
      <p:sp>
        <p:nvSpPr>
          <p:cNvPr id="11" name="Text 9"/>
          <p:cNvSpPr/>
          <p:nvPr/>
        </p:nvSpPr>
        <p:spPr>
          <a:xfrm>
            <a:off x="457200" y="2121408"/>
            <a:ext cx="1371600" cy="274320"/>
          </a:xfrm>
          <a:prstGeom prst="rect">
            <a:avLst/>
          </a:prstGeom>
          <a:noFill/>
          <a:ln/>
        </p:spPr>
        <p:txBody>
          <a:bodyPr wrap="square" lIns="0" tIns="0" rIns="0" bIns="0" rtlCol="0" anchor="ctr"/>
          <a:lstStyle/>
          <a:p>
            <a:pPr marL="0" indent="0">
              <a:buNone/>
            </a:pPr>
            <a:r>
              <a:rPr lang="en-US" sz="1100" b="1" dirty="0">
                <a:solidFill>
                  <a:srgbClr val="F4A261"/>
                </a:solidFill>
                <a:latin typeface="Calibri" pitchFamily="34" charset="0"/>
                <a:ea typeface="Calibri" pitchFamily="34" charset="-122"/>
                <a:cs typeface="Calibri" pitchFamily="34" charset="-120"/>
              </a:rPr>
              <a:t>Version: </a:t>
            </a:r>
            <a:endParaRPr lang="en-US" sz="1100" dirty="0"/>
          </a:p>
        </p:txBody>
      </p:sp>
      <p:sp>
        <p:nvSpPr>
          <p:cNvPr id="12" name="Text 10"/>
          <p:cNvSpPr/>
          <p:nvPr/>
        </p:nvSpPr>
        <p:spPr>
          <a:xfrm>
            <a:off x="1828800" y="2121408"/>
            <a:ext cx="2286000" cy="27432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Release version e.g. 1.0.0-SNAPSHOT</a:t>
            </a:r>
            <a:endParaRPr lang="en-US" sz="1100" dirty="0"/>
          </a:p>
        </p:txBody>
      </p:sp>
      <p:sp>
        <p:nvSpPr>
          <p:cNvPr id="13" name="Text 11"/>
          <p:cNvSpPr/>
          <p:nvPr/>
        </p:nvSpPr>
        <p:spPr>
          <a:xfrm>
            <a:off x="457200" y="2633472"/>
            <a:ext cx="1371600" cy="274320"/>
          </a:xfrm>
          <a:prstGeom prst="rect">
            <a:avLst/>
          </a:prstGeom>
          <a:noFill/>
          <a:ln/>
        </p:spPr>
        <p:txBody>
          <a:bodyPr wrap="square" lIns="0" tIns="0" rIns="0" bIns="0" rtlCol="0" anchor="ctr"/>
          <a:lstStyle/>
          <a:p>
            <a:pPr marL="0" indent="0">
              <a:buNone/>
            </a:pPr>
            <a:r>
              <a:rPr lang="en-US" sz="1100" b="1" dirty="0">
                <a:solidFill>
                  <a:srgbClr val="F4A261"/>
                </a:solidFill>
                <a:latin typeface="Calibri" pitchFamily="34" charset="0"/>
                <a:ea typeface="Calibri" pitchFamily="34" charset="-122"/>
                <a:cs typeface="Calibri" pitchFamily="34" charset="-120"/>
              </a:rPr>
              <a:t>Packaging: </a:t>
            </a:r>
            <a:endParaRPr lang="en-US" sz="1100" dirty="0"/>
          </a:p>
        </p:txBody>
      </p:sp>
      <p:sp>
        <p:nvSpPr>
          <p:cNvPr id="14" name="Text 12"/>
          <p:cNvSpPr/>
          <p:nvPr/>
        </p:nvSpPr>
        <p:spPr>
          <a:xfrm>
            <a:off x="1828800" y="2633472"/>
            <a:ext cx="2286000" cy="27432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Output format: jar, war, pom</a:t>
            </a:r>
            <a:endParaRPr lang="en-US" sz="1100" dirty="0"/>
          </a:p>
        </p:txBody>
      </p:sp>
      <p:sp>
        <p:nvSpPr>
          <p:cNvPr id="15" name="Text 13"/>
          <p:cNvSpPr/>
          <p:nvPr/>
        </p:nvSpPr>
        <p:spPr>
          <a:xfrm>
            <a:off x="457200" y="3145536"/>
            <a:ext cx="1371600" cy="274320"/>
          </a:xfrm>
          <a:prstGeom prst="rect">
            <a:avLst/>
          </a:prstGeom>
          <a:noFill/>
          <a:ln/>
        </p:spPr>
        <p:txBody>
          <a:bodyPr wrap="square" lIns="0" tIns="0" rIns="0" bIns="0" rtlCol="0" anchor="ctr"/>
          <a:lstStyle/>
          <a:p>
            <a:pPr marL="0" indent="0">
              <a:buNone/>
            </a:pPr>
            <a:r>
              <a:rPr lang="en-US" sz="1100" b="1" dirty="0">
                <a:solidFill>
                  <a:srgbClr val="F4A261"/>
                </a:solidFill>
                <a:latin typeface="Calibri" pitchFamily="34" charset="0"/>
                <a:ea typeface="Calibri" pitchFamily="34" charset="-122"/>
                <a:cs typeface="Calibri" pitchFamily="34" charset="-120"/>
              </a:rPr>
              <a:t>Dependencies: </a:t>
            </a:r>
            <a:endParaRPr lang="en-US" sz="1100" dirty="0"/>
          </a:p>
        </p:txBody>
      </p:sp>
      <p:sp>
        <p:nvSpPr>
          <p:cNvPr id="16" name="Text 14"/>
          <p:cNvSpPr/>
          <p:nvPr/>
        </p:nvSpPr>
        <p:spPr>
          <a:xfrm>
            <a:off x="1828800" y="3145536"/>
            <a:ext cx="2286000" cy="27432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All library declarations live here</a:t>
            </a:r>
            <a:endParaRPr lang="en-US" sz="1100" dirty="0"/>
          </a:p>
        </p:txBody>
      </p:sp>
      <p:sp>
        <p:nvSpPr>
          <p:cNvPr id="17" name="Text 15"/>
          <p:cNvSpPr/>
          <p:nvPr/>
        </p:nvSpPr>
        <p:spPr>
          <a:xfrm>
            <a:off x="457200" y="3657600"/>
            <a:ext cx="1371600" cy="274320"/>
          </a:xfrm>
          <a:prstGeom prst="rect">
            <a:avLst/>
          </a:prstGeom>
          <a:noFill/>
          <a:ln/>
        </p:spPr>
        <p:txBody>
          <a:bodyPr wrap="square" lIns="0" tIns="0" rIns="0" bIns="0" rtlCol="0" anchor="ctr"/>
          <a:lstStyle/>
          <a:p>
            <a:pPr marL="0" indent="0">
              <a:buNone/>
            </a:pPr>
            <a:r>
              <a:rPr lang="en-US" sz="1100" b="1" dirty="0">
                <a:solidFill>
                  <a:srgbClr val="F4A261"/>
                </a:solidFill>
                <a:latin typeface="Calibri" pitchFamily="34" charset="0"/>
                <a:ea typeface="Calibri" pitchFamily="34" charset="-122"/>
                <a:cs typeface="Calibri" pitchFamily="34" charset="-120"/>
              </a:rPr>
              <a:t>Build: </a:t>
            </a:r>
            <a:endParaRPr lang="en-US" sz="1100" dirty="0"/>
          </a:p>
        </p:txBody>
      </p:sp>
      <p:sp>
        <p:nvSpPr>
          <p:cNvPr id="18" name="Text 16"/>
          <p:cNvSpPr/>
          <p:nvPr/>
        </p:nvSpPr>
        <p:spPr>
          <a:xfrm>
            <a:off x="1828800" y="3657600"/>
            <a:ext cx="2286000" cy="27432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Plugin config, source dirs, output</a:t>
            </a:r>
            <a:endParaRPr lang="en-US" sz="1100" dirty="0"/>
          </a:p>
        </p:txBody>
      </p:sp>
      <p:sp>
        <p:nvSpPr>
          <p:cNvPr id="19" name="Text 17"/>
          <p:cNvSpPr/>
          <p:nvPr/>
        </p:nvSpPr>
        <p:spPr>
          <a:xfrm>
            <a:off x="457200" y="4169664"/>
            <a:ext cx="1371600" cy="274320"/>
          </a:xfrm>
          <a:prstGeom prst="rect">
            <a:avLst/>
          </a:prstGeom>
          <a:noFill/>
          <a:ln/>
        </p:spPr>
        <p:txBody>
          <a:bodyPr wrap="square" lIns="0" tIns="0" rIns="0" bIns="0" rtlCol="0" anchor="ctr"/>
          <a:lstStyle/>
          <a:p>
            <a:pPr marL="0" indent="0">
              <a:buNone/>
            </a:pPr>
            <a:r>
              <a:rPr lang="en-US" sz="1100" b="1" dirty="0">
                <a:solidFill>
                  <a:srgbClr val="F4A261"/>
                </a:solidFill>
                <a:latin typeface="Calibri" pitchFamily="34" charset="0"/>
                <a:ea typeface="Calibri" pitchFamily="34" charset="-122"/>
                <a:cs typeface="Calibri" pitchFamily="34" charset="-120"/>
              </a:rPr>
              <a:t>Profiles: </a:t>
            </a:r>
            <a:endParaRPr lang="en-US" sz="1100" dirty="0"/>
          </a:p>
        </p:txBody>
      </p:sp>
      <p:sp>
        <p:nvSpPr>
          <p:cNvPr id="20" name="Text 18"/>
          <p:cNvSpPr/>
          <p:nvPr/>
        </p:nvSpPr>
        <p:spPr>
          <a:xfrm>
            <a:off x="1828800" y="4169664"/>
            <a:ext cx="2286000" cy="27432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Environment-specific configurations</a:t>
            </a:r>
            <a:endParaRPr lang="en-US" sz="1100" dirty="0"/>
          </a:p>
        </p:txBody>
      </p:sp>
      <p:sp>
        <p:nvSpPr>
          <p:cNvPr id="21" name="Shape 19"/>
          <p:cNvSpPr/>
          <p:nvPr/>
        </p:nvSpPr>
        <p:spPr>
          <a:xfrm>
            <a:off x="4572000" y="960120"/>
            <a:ext cx="4297680" cy="3931920"/>
          </a:xfrm>
          <a:prstGeom prst="rect">
            <a:avLst/>
          </a:prstGeom>
          <a:solidFill>
            <a:srgbClr val="0A1628"/>
          </a:solidFill>
          <a:ln w="12700">
            <a:solidFill>
              <a:srgbClr val="0096C7"/>
            </a:solidFill>
            <a:prstDash val="solid"/>
          </a:ln>
        </p:spPr>
      </p:sp>
      <p:sp>
        <p:nvSpPr>
          <p:cNvPr id="22" name="Text 20"/>
          <p:cNvSpPr/>
          <p:nvPr/>
        </p:nvSpPr>
        <p:spPr>
          <a:xfrm>
            <a:off x="4709160" y="1051560"/>
            <a:ext cx="4023360" cy="3749040"/>
          </a:xfrm>
          <a:prstGeom prst="rect">
            <a:avLst/>
          </a:prstGeom>
          <a:noFill/>
          <a:ln/>
        </p:spPr>
        <p:txBody>
          <a:bodyPr wrap="square" lIns="0" tIns="0" rIns="0" bIns="0" rtlCol="0" anchor="ctr"/>
          <a:lstStyle/>
          <a:p>
            <a:pPr marL="0" indent="0">
              <a:buNone/>
            </a:pPr>
            <a:r>
              <a:rPr lang="en-US" sz="1050" dirty="0">
                <a:solidFill>
                  <a:srgbClr val="0096C7"/>
                </a:solidFill>
                <a:latin typeface="Consolas" pitchFamily="34" charset="0"/>
                <a:ea typeface="Consolas" pitchFamily="34" charset="-122"/>
                <a:cs typeface="Consolas" pitchFamily="34" charset="-120"/>
              </a:rPr>
              <a:t>&lt;project&gt;</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&lt;groupId&gt;</a:t>
            </a:r>
            <a:r>
              <a:rPr lang="en-US" sz="1050" dirty="0">
                <a:solidFill>
                  <a:srgbClr val="F4A261"/>
                </a:solidFill>
                <a:latin typeface="Consolas" pitchFamily="34" charset="0"/>
                <a:ea typeface="Consolas" pitchFamily="34" charset="-122"/>
                <a:cs typeface="Consolas" pitchFamily="34" charset="-120"/>
              </a:rPr>
              <a:t>com.example</a:t>
            </a:r>
            <a:r>
              <a:rPr lang="en-US" sz="1050" dirty="0">
                <a:solidFill>
                  <a:srgbClr val="7EC8E3"/>
                </a:solidFill>
                <a:latin typeface="Consolas" pitchFamily="34" charset="0"/>
                <a:ea typeface="Consolas" pitchFamily="34" charset="-122"/>
                <a:cs typeface="Consolas" pitchFamily="34" charset="-120"/>
              </a:rPr>
              <a:t>&lt;/groupId&gt;</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&lt;artifactId&gt;</a:t>
            </a:r>
            <a:r>
              <a:rPr lang="en-US" sz="1050" dirty="0">
                <a:solidFill>
                  <a:srgbClr val="F4A261"/>
                </a:solidFill>
                <a:latin typeface="Consolas" pitchFamily="34" charset="0"/>
                <a:ea typeface="Consolas" pitchFamily="34" charset="-122"/>
                <a:cs typeface="Consolas" pitchFamily="34" charset="-120"/>
              </a:rPr>
              <a:t>my-app</a:t>
            </a:r>
            <a:r>
              <a:rPr lang="en-US" sz="1050" dirty="0">
                <a:solidFill>
                  <a:srgbClr val="7EC8E3"/>
                </a:solidFill>
                <a:latin typeface="Consolas" pitchFamily="34" charset="0"/>
                <a:ea typeface="Consolas" pitchFamily="34" charset="-122"/>
                <a:cs typeface="Consolas" pitchFamily="34" charset="-120"/>
              </a:rPr>
              <a:t>&lt;/artifactId&gt;</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&lt;version&gt;</a:t>
            </a:r>
            <a:r>
              <a:rPr lang="en-US" sz="1050" dirty="0">
                <a:solidFill>
                  <a:srgbClr val="F4A261"/>
                </a:solidFill>
                <a:latin typeface="Consolas" pitchFamily="34" charset="0"/>
                <a:ea typeface="Consolas" pitchFamily="34" charset="-122"/>
                <a:cs typeface="Consolas" pitchFamily="34" charset="-120"/>
              </a:rPr>
              <a:t>1.0.0-SNAPSHOT</a:t>
            </a:r>
            <a:r>
              <a:rPr lang="en-US" sz="1050" dirty="0">
                <a:solidFill>
                  <a:srgbClr val="7EC8E3"/>
                </a:solidFill>
                <a:latin typeface="Consolas" pitchFamily="34" charset="0"/>
                <a:ea typeface="Consolas" pitchFamily="34" charset="-122"/>
                <a:cs typeface="Consolas" pitchFamily="34" charset="-120"/>
              </a:rPr>
              <a:t>&lt;/version&gt;</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&lt;packaging&gt;jar&lt;/packaging&gt;</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&lt;dependencies&gt;</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&lt;dependency&gt;</a:t>
            </a:r>
            <a:endParaRPr lang="en-US" sz="1050" dirty="0"/>
          </a:p>
          <a:p>
            <a:pPr marL="0" indent="0">
              <a:buNone/>
            </a:pPr>
            <a:r>
              <a:rPr lang="en-US" sz="1050" dirty="0">
                <a:solidFill>
                  <a:srgbClr val="94A3B8"/>
                </a:solidFill>
                <a:latin typeface="Consolas" pitchFamily="34" charset="0"/>
                <a:ea typeface="Consolas" pitchFamily="34" charset="-122"/>
                <a:cs typeface="Consolas" pitchFamily="34" charset="-120"/>
              </a:rPr>
              <a:t>      ...</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&lt;/dependency&gt;</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&lt;/dependencies&gt;</a:t>
            </a:r>
            <a:endParaRPr lang="en-US" sz="1050" dirty="0"/>
          </a:p>
          <a:p>
            <a:pPr marL="0" indent="0">
              <a:buNone/>
            </a:pPr>
            <a:r>
              <a:rPr lang="en-US" sz="1050" dirty="0">
                <a:solidFill>
                  <a:srgbClr val="0096C7"/>
                </a:solidFill>
                <a:latin typeface="Consolas" pitchFamily="34" charset="0"/>
                <a:ea typeface="Consolas" pitchFamily="34" charset="-122"/>
                <a:cs typeface="Consolas" pitchFamily="34" charset="-120"/>
              </a:rPr>
              <a:t>&lt;/project&gt;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Shape 1"/>
          <p:cNvSpPr/>
          <p:nvPr/>
        </p:nvSpPr>
        <p:spPr>
          <a:xfrm>
            <a:off x="0" y="777240"/>
            <a:ext cx="9144000" cy="36576"/>
          </a:xfrm>
          <a:prstGeom prst="rect">
            <a:avLst/>
          </a:prstGeom>
          <a:solidFill>
            <a:srgbClr val="0096C7"/>
          </a:solidFill>
          <a:ln w="12700">
            <a:solidFill>
              <a:srgbClr val="0096C7"/>
            </a:solidFill>
            <a:prstDash val="solid"/>
          </a:ln>
        </p:spPr>
      </p:sp>
      <p:sp>
        <p:nvSpPr>
          <p:cNvPr id="4" name="Text 2"/>
          <p:cNvSpPr/>
          <p:nvPr/>
        </p:nvSpPr>
        <p:spPr>
          <a:xfrm>
            <a:off x="365760" y="9144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Standard Maven Directory Structure</a:t>
            </a:r>
            <a:endParaRPr lang="en-US" sz="2400" dirty="0"/>
          </a:p>
        </p:txBody>
      </p:sp>
      <p:sp>
        <p:nvSpPr>
          <p:cNvPr id="5" name="Text 3"/>
          <p:cNvSpPr/>
          <p:nvPr/>
        </p:nvSpPr>
        <p:spPr>
          <a:xfrm>
            <a:off x="365760" y="566928"/>
            <a:ext cx="7315200" cy="228600"/>
          </a:xfrm>
          <a:prstGeom prst="rect">
            <a:avLst/>
          </a:prstGeom>
          <a:noFill/>
          <a:ln/>
        </p:spPr>
        <p:txBody>
          <a:bodyPr wrap="square" lIns="0" tIns="0" rIns="0" bIns="0" rtlCol="0" anchor="ctr"/>
          <a:lstStyle/>
          <a:p>
            <a:pPr marL="0" indent="0">
              <a:buNone/>
            </a:pPr>
            <a:r>
              <a:rPr lang="en-US" sz="1100" i="1" dirty="0">
                <a:solidFill>
                  <a:srgbClr val="0096C7"/>
                </a:solidFill>
                <a:latin typeface="Calibri" pitchFamily="34" charset="0"/>
                <a:ea typeface="Calibri" pitchFamily="34" charset="-122"/>
                <a:cs typeface="Calibri" pitchFamily="34" charset="-120"/>
              </a:rPr>
              <a:t>Convention over configuration</a:t>
            </a:r>
            <a:endParaRPr lang="en-US" sz="1100" dirty="0"/>
          </a:p>
        </p:txBody>
      </p:sp>
      <p:sp>
        <p:nvSpPr>
          <p:cNvPr id="6" name="Shape 4"/>
          <p:cNvSpPr/>
          <p:nvPr/>
        </p:nvSpPr>
        <p:spPr>
          <a:xfrm>
            <a:off x="274320" y="960120"/>
            <a:ext cx="3931920" cy="3931920"/>
          </a:xfrm>
          <a:prstGeom prst="rect">
            <a:avLst/>
          </a:prstGeom>
          <a:solidFill>
            <a:srgbClr val="0A1628"/>
          </a:solidFill>
          <a:ln w="12700">
            <a:solidFill>
              <a:srgbClr val="0096C7"/>
            </a:solidFill>
            <a:prstDash val="solid"/>
          </a:ln>
        </p:spPr>
      </p:sp>
      <p:sp>
        <p:nvSpPr>
          <p:cNvPr id="7" name="Text 5"/>
          <p:cNvSpPr/>
          <p:nvPr/>
        </p:nvSpPr>
        <p:spPr>
          <a:xfrm>
            <a:off x="411480" y="1051560"/>
            <a:ext cx="3657600" cy="3749040"/>
          </a:xfrm>
          <a:prstGeom prst="rect">
            <a:avLst/>
          </a:prstGeom>
          <a:noFill/>
          <a:ln/>
        </p:spPr>
        <p:txBody>
          <a:bodyPr wrap="square" lIns="0" tIns="0" rIns="0" bIns="0" rtlCol="0" anchor="ctr"/>
          <a:lstStyle/>
          <a:p>
            <a:pPr marL="0" indent="0">
              <a:buNone/>
            </a:pPr>
            <a:r>
              <a:rPr lang="en-US" sz="1100" b="1" dirty="0">
                <a:solidFill>
                  <a:srgbClr val="F4A261"/>
                </a:solidFill>
                <a:latin typeface="Consolas" pitchFamily="34" charset="0"/>
                <a:ea typeface="Consolas" pitchFamily="34" charset="-122"/>
                <a:cs typeface="Consolas" pitchFamily="34" charset="-120"/>
              </a:rPr>
              <a:t>my-project/</a:t>
            </a:r>
            <a:endParaRPr lang="en-US" sz="1100" dirty="0"/>
          </a:p>
          <a:p>
            <a:pPr marL="0" indent="0">
              <a:buNone/>
            </a:pPr>
            <a:r>
              <a:rPr lang="en-US" sz="1100" dirty="0">
                <a:solidFill>
                  <a:srgbClr val="0096C7"/>
                </a:solidFill>
                <a:latin typeface="Consolas" pitchFamily="34" charset="0"/>
                <a:ea typeface="Consolas" pitchFamily="34" charset="-122"/>
                <a:cs typeface="Consolas" pitchFamily="34" charset="-120"/>
              </a:rPr>
              <a:t>├── pom.xml</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src/</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 main/</a:t>
            </a:r>
            <a:endParaRPr lang="en-US" sz="1100" dirty="0"/>
          </a:p>
          <a:p>
            <a:pPr marL="0" indent="0">
              <a:buNone/>
            </a:pPr>
            <a:r>
              <a:rPr lang="en-US" sz="1100" dirty="0">
                <a:solidFill>
                  <a:srgbClr val="94D2BD"/>
                </a:solidFill>
                <a:latin typeface="Consolas" pitchFamily="34" charset="0"/>
                <a:ea typeface="Consolas" pitchFamily="34" charset="-122"/>
                <a:cs typeface="Consolas" pitchFamily="34" charset="-120"/>
              </a:rPr>
              <a:t>    │   ├── java/</a:t>
            </a:r>
            <a:endParaRPr lang="en-US" sz="1100" dirty="0"/>
          </a:p>
          <a:p>
            <a:pPr marL="0" indent="0">
              <a:buNone/>
            </a:pPr>
            <a:r>
              <a:rPr lang="en-US" sz="1100" dirty="0">
                <a:solidFill>
                  <a:srgbClr val="94A3B8"/>
                </a:solidFill>
                <a:latin typeface="Consolas" pitchFamily="34" charset="0"/>
                <a:ea typeface="Consolas" pitchFamily="34" charset="-122"/>
                <a:cs typeface="Consolas" pitchFamily="34" charset="-120"/>
              </a:rPr>
              <a:t>    │   │   └── com/example/</a:t>
            </a:r>
            <a:endParaRPr lang="en-US" sz="1100" dirty="0"/>
          </a:p>
          <a:p>
            <a:pPr marL="0" indent="0">
              <a:buNone/>
            </a:pPr>
            <a:r>
              <a:rPr lang="en-US" sz="1100" dirty="0">
                <a:solidFill>
                  <a:srgbClr val="94D2BD"/>
                </a:solidFill>
                <a:latin typeface="Consolas" pitchFamily="34" charset="0"/>
                <a:ea typeface="Consolas" pitchFamily="34" charset="-122"/>
                <a:cs typeface="Consolas" pitchFamily="34" charset="-120"/>
              </a:rPr>
              <a:t>    │   └── resources/</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 test/</a:t>
            </a:r>
            <a:endParaRPr lang="en-US" sz="1100" dirty="0"/>
          </a:p>
          <a:p>
            <a:pPr marL="0" indent="0">
              <a:buNone/>
            </a:pPr>
            <a:r>
              <a:rPr lang="en-US" sz="1100" dirty="0">
                <a:solidFill>
                  <a:srgbClr val="94D2BD"/>
                </a:solidFill>
                <a:latin typeface="Consolas" pitchFamily="34" charset="0"/>
                <a:ea typeface="Consolas" pitchFamily="34" charset="-122"/>
                <a:cs typeface="Consolas" pitchFamily="34" charset="-120"/>
              </a:rPr>
              <a:t>        ├── java/</a:t>
            </a:r>
            <a:endParaRPr lang="en-US" sz="1100" dirty="0"/>
          </a:p>
          <a:p>
            <a:pPr marL="0" indent="0">
              <a:buNone/>
            </a:pPr>
            <a:r>
              <a:rPr lang="en-US" sz="1100" dirty="0">
                <a:solidFill>
                  <a:srgbClr val="94D2BD"/>
                </a:solidFill>
                <a:latin typeface="Consolas" pitchFamily="34" charset="0"/>
                <a:ea typeface="Consolas" pitchFamily="34" charset="-122"/>
                <a:cs typeface="Consolas" pitchFamily="34" charset="-120"/>
              </a:rPr>
              <a:t>        └── resources/</a:t>
            </a:r>
            <a:endParaRPr lang="en-US" sz="1100" dirty="0"/>
          </a:p>
          <a:p>
            <a:pPr marL="0" indent="0">
              <a:buNone/>
            </a:pPr>
            <a:endParaRPr lang="en-US" sz="1100" dirty="0"/>
          </a:p>
          <a:p>
            <a:pPr marL="0" indent="0">
              <a:buNone/>
            </a:pPr>
            <a:r>
              <a:rPr lang="en-US" sz="1100" i="1" dirty="0">
                <a:solidFill>
                  <a:srgbClr val="94A3B8"/>
                </a:solidFill>
                <a:latin typeface="Consolas" pitchFamily="34" charset="0"/>
                <a:ea typeface="Consolas" pitchFamily="34" charset="-122"/>
                <a:cs typeface="Consolas" pitchFamily="34" charset="-120"/>
              </a:rPr>
              <a:t>target/  ← generated output</a:t>
            </a:r>
            <a:endParaRPr lang="en-US" sz="1100" dirty="0"/>
          </a:p>
        </p:txBody>
      </p:sp>
      <p:sp>
        <p:nvSpPr>
          <p:cNvPr id="8" name="Shape 6"/>
          <p:cNvSpPr/>
          <p:nvPr/>
        </p:nvSpPr>
        <p:spPr>
          <a:xfrm>
            <a:off x="4480560" y="987552"/>
            <a:ext cx="4389120" cy="594360"/>
          </a:xfrm>
          <a:prstGeom prst="rect">
            <a:avLst/>
          </a:prstGeom>
          <a:solidFill>
            <a:srgbClr val="1F3A5F"/>
          </a:solidFill>
          <a:ln w="12700">
            <a:solidFill>
              <a:srgbClr val="1F3A5F"/>
            </a:solidFill>
            <a:prstDash val="solid"/>
          </a:ln>
        </p:spPr>
      </p:sp>
      <p:sp>
        <p:nvSpPr>
          <p:cNvPr id="9" name="Shape 7"/>
          <p:cNvSpPr/>
          <p:nvPr/>
        </p:nvSpPr>
        <p:spPr>
          <a:xfrm>
            <a:off x="4480560" y="987552"/>
            <a:ext cx="54864" cy="594360"/>
          </a:xfrm>
          <a:prstGeom prst="rect">
            <a:avLst/>
          </a:prstGeom>
          <a:solidFill>
            <a:srgbClr val="0096C7"/>
          </a:solidFill>
          <a:ln w="12700">
            <a:solidFill>
              <a:srgbClr val="0096C7"/>
            </a:solidFill>
            <a:prstDash val="solid"/>
          </a:ln>
        </p:spPr>
      </p:sp>
      <p:sp>
        <p:nvSpPr>
          <p:cNvPr id="10" name="Text 8"/>
          <p:cNvSpPr/>
          <p:nvPr/>
        </p:nvSpPr>
        <p:spPr>
          <a:xfrm>
            <a:off x="4617720" y="1005840"/>
            <a:ext cx="4114800" cy="201168"/>
          </a:xfrm>
          <a:prstGeom prst="rect">
            <a:avLst/>
          </a:prstGeom>
          <a:noFill/>
          <a:ln/>
        </p:spPr>
        <p:txBody>
          <a:bodyPr wrap="square" lIns="0" tIns="0" rIns="0" bIns="0" rtlCol="0" anchor="ctr"/>
          <a:lstStyle/>
          <a:p>
            <a:pPr marL="0" indent="0">
              <a:buNone/>
            </a:pPr>
            <a:r>
              <a:rPr lang="en-US" sz="1050" b="1" dirty="0">
                <a:solidFill>
                  <a:srgbClr val="F4A261"/>
                </a:solidFill>
                <a:latin typeface="Consolas" pitchFamily="34" charset="0"/>
                <a:ea typeface="Consolas" pitchFamily="34" charset="-122"/>
                <a:cs typeface="Consolas" pitchFamily="34" charset="-120"/>
              </a:rPr>
              <a:t>src/main/java</a:t>
            </a:r>
            <a:endParaRPr lang="en-US" sz="1050" dirty="0"/>
          </a:p>
        </p:txBody>
      </p:sp>
      <p:sp>
        <p:nvSpPr>
          <p:cNvPr id="11" name="Text 9"/>
          <p:cNvSpPr/>
          <p:nvPr/>
        </p:nvSpPr>
        <p:spPr>
          <a:xfrm>
            <a:off x="4617720" y="1207008"/>
            <a:ext cx="4114800" cy="27432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Production Java source code. Maven compiles everything here.</a:t>
            </a:r>
            <a:endParaRPr lang="en-US" sz="1000" dirty="0"/>
          </a:p>
        </p:txBody>
      </p:sp>
      <p:sp>
        <p:nvSpPr>
          <p:cNvPr id="12" name="Shape 10"/>
          <p:cNvSpPr/>
          <p:nvPr/>
        </p:nvSpPr>
        <p:spPr>
          <a:xfrm>
            <a:off x="4480560" y="1655064"/>
            <a:ext cx="4389120" cy="594360"/>
          </a:xfrm>
          <a:prstGeom prst="rect">
            <a:avLst/>
          </a:prstGeom>
          <a:solidFill>
            <a:srgbClr val="1F3A5F"/>
          </a:solidFill>
          <a:ln w="12700">
            <a:solidFill>
              <a:srgbClr val="1F3A5F"/>
            </a:solidFill>
            <a:prstDash val="solid"/>
          </a:ln>
        </p:spPr>
      </p:sp>
      <p:sp>
        <p:nvSpPr>
          <p:cNvPr id="13" name="Shape 11"/>
          <p:cNvSpPr/>
          <p:nvPr/>
        </p:nvSpPr>
        <p:spPr>
          <a:xfrm>
            <a:off x="4480560" y="1655064"/>
            <a:ext cx="54864" cy="594360"/>
          </a:xfrm>
          <a:prstGeom prst="rect">
            <a:avLst/>
          </a:prstGeom>
          <a:solidFill>
            <a:srgbClr val="0096C7"/>
          </a:solidFill>
          <a:ln w="12700">
            <a:solidFill>
              <a:srgbClr val="0096C7"/>
            </a:solidFill>
            <a:prstDash val="solid"/>
          </a:ln>
        </p:spPr>
      </p:sp>
      <p:sp>
        <p:nvSpPr>
          <p:cNvPr id="14" name="Text 12"/>
          <p:cNvSpPr/>
          <p:nvPr/>
        </p:nvSpPr>
        <p:spPr>
          <a:xfrm>
            <a:off x="4617720" y="1673352"/>
            <a:ext cx="4114800" cy="201168"/>
          </a:xfrm>
          <a:prstGeom prst="rect">
            <a:avLst/>
          </a:prstGeom>
          <a:noFill/>
          <a:ln/>
        </p:spPr>
        <p:txBody>
          <a:bodyPr wrap="square" lIns="0" tIns="0" rIns="0" bIns="0" rtlCol="0" anchor="ctr"/>
          <a:lstStyle/>
          <a:p>
            <a:pPr marL="0" indent="0">
              <a:buNone/>
            </a:pPr>
            <a:r>
              <a:rPr lang="en-US" sz="1050" b="1" dirty="0">
                <a:solidFill>
                  <a:srgbClr val="F4A261"/>
                </a:solidFill>
                <a:latin typeface="Consolas" pitchFamily="34" charset="0"/>
                <a:ea typeface="Consolas" pitchFamily="34" charset="-122"/>
                <a:cs typeface="Consolas" pitchFamily="34" charset="-120"/>
              </a:rPr>
              <a:t>src/main/resources</a:t>
            </a:r>
            <a:endParaRPr lang="en-US" sz="1050" dirty="0"/>
          </a:p>
        </p:txBody>
      </p:sp>
      <p:sp>
        <p:nvSpPr>
          <p:cNvPr id="15" name="Text 13"/>
          <p:cNvSpPr/>
          <p:nvPr/>
        </p:nvSpPr>
        <p:spPr>
          <a:xfrm>
            <a:off x="4617720" y="1874520"/>
            <a:ext cx="4114800" cy="27432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Config files, properties, XMLs bundled into the artifact.</a:t>
            </a:r>
            <a:endParaRPr lang="en-US" sz="1000" dirty="0"/>
          </a:p>
        </p:txBody>
      </p:sp>
      <p:sp>
        <p:nvSpPr>
          <p:cNvPr id="16" name="Shape 14"/>
          <p:cNvSpPr/>
          <p:nvPr/>
        </p:nvSpPr>
        <p:spPr>
          <a:xfrm>
            <a:off x="4480560" y="2322576"/>
            <a:ext cx="4389120" cy="594360"/>
          </a:xfrm>
          <a:prstGeom prst="rect">
            <a:avLst/>
          </a:prstGeom>
          <a:solidFill>
            <a:srgbClr val="1F3A5F"/>
          </a:solidFill>
          <a:ln w="12700">
            <a:solidFill>
              <a:srgbClr val="1F3A5F"/>
            </a:solidFill>
            <a:prstDash val="solid"/>
          </a:ln>
        </p:spPr>
      </p:sp>
      <p:sp>
        <p:nvSpPr>
          <p:cNvPr id="17" name="Shape 15"/>
          <p:cNvSpPr/>
          <p:nvPr/>
        </p:nvSpPr>
        <p:spPr>
          <a:xfrm>
            <a:off x="4480560" y="2322576"/>
            <a:ext cx="54864" cy="594360"/>
          </a:xfrm>
          <a:prstGeom prst="rect">
            <a:avLst/>
          </a:prstGeom>
          <a:solidFill>
            <a:srgbClr val="0096C7"/>
          </a:solidFill>
          <a:ln w="12700">
            <a:solidFill>
              <a:srgbClr val="0096C7"/>
            </a:solidFill>
            <a:prstDash val="solid"/>
          </a:ln>
        </p:spPr>
      </p:sp>
      <p:sp>
        <p:nvSpPr>
          <p:cNvPr id="18" name="Text 16"/>
          <p:cNvSpPr/>
          <p:nvPr/>
        </p:nvSpPr>
        <p:spPr>
          <a:xfrm>
            <a:off x="4617720" y="2340864"/>
            <a:ext cx="4114800" cy="201168"/>
          </a:xfrm>
          <a:prstGeom prst="rect">
            <a:avLst/>
          </a:prstGeom>
          <a:noFill/>
          <a:ln/>
        </p:spPr>
        <p:txBody>
          <a:bodyPr wrap="square" lIns="0" tIns="0" rIns="0" bIns="0" rtlCol="0" anchor="ctr"/>
          <a:lstStyle/>
          <a:p>
            <a:pPr marL="0" indent="0">
              <a:buNone/>
            </a:pPr>
            <a:r>
              <a:rPr lang="en-US" sz="1050" b="1" dirty="0">
                <a:solidFill>
                  <a:srgbClr val="F4A261"/>
                </a:solidFill>
                <a:latin typeface="Consolas" pitchFamily="34" charset="0"/>
                <a:ea typeface="Consolas" pitchFamily="34" charset="-122"/>
                <a:cs typeface="Consolas" pitchFamily="34" charset="-120"/>
              </a:rPr>
              <a:t>src/test/java</a:t>
            </a:r>
            <a:endParaRPr lang="en-US" sz="1050" dirty="0"/>
          </a:p>
        </p:txBody>
      </p:sp>
      <p:sp>
        <p:nvSpPr>
          <p:cNvPr id="19" name="Text 17"/>
          <p:cNvSpPr/>
          <p:nvPr/>
        </p:nvSpPr>
        <p:spPr>
          <a:xfrm>
            <a:off x="4617720" y="2542032"/>
            <a:ext cx="4114800" cy="27432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Unit and integration test classes (not bundled in output).</a:t>
            </a:r>
            <a:endParaRPr lang="en-US" sz="1000" dirty="0"/>
          </a:p>
        </p:txBody>
      </p:sp>
      <p:sp>
        <p:nvSpPr>
          <p:cNvPr id="20" name="Shape 18"/>
          <p:cNvSpPr/>
          <p:nvPr/>
        </p:nvSpPr>
        <p:spPr>
          <a:xfrm>
            <a:off x="4480560" y="2990088"/>
            <a:ext cx="4389120" cy="594360"/>
          </a:xfrm>
          <a:prstGeom prst="rect">
            <a:avLst/>
          </a:prstGeom>
          <a:solidFill>
            <a:srgbClr val="1F3A5F"/>
          </a:solidFill>
          <a:ln w="12700">
            <a:solidFill>
              <a:srgbClr val="1F3A5F"/>
            </a:solidFill>
            <a:prstDash val="solid"/>
          </a:ln>
        </p:spPr>
      </p:sp>
      <p:sp>
        <p:nvSpPr>
          <p:cNvPr id="21" name="Shape 19"/>
          <p:cNvSpPr/>
          <p:nvPr/>
        </p:nvSpPr>
        <p:spPr>
          <a:xfrm>
            <a:off x="4480560" y="2990088"/>
            <a:ext cx="54864" cy="594360"/>
          </a:xfrm>
          <a:prstGeom prst="rect">
            <a:avLst/>
          </a:prstGeom>
          <a:solidFill>
            <a:srgbClr val="0096C7"/>
          </a:solidFill>
          <a:ln w="12700">
            <a:solidFill>
              <a:srgbClr val="0096C7"/>
            </a:solidFill>
            <a:prstDash val="solid"/>
          </a:ln>
        </p:spPr>
      </p:sp>
      <p:sp>
        <p:nvSpPr>
          <p:cNvPr id="22" name="Text 20"/>
          <p:cNvSpPr/>
          <p:nvPr/>
        </p:nvSpPr>
        <p:spPr>
          <a:xfrm>
            <a:off x="4617720" y="3008376"/>
            <a:ext cx="4114800" cy="201168"/>
          </a:xfrm>
          <a:prstGeom prst="rect">
            <a:avLst/>
          </a:prstGeom>
          <a:noFill/>
          <a:ln/>
        </p:spPr>
        <p:txBody>
          <a:bodyPr wrap="square" lIns="0" tIns="0" rIns="0" bIns="0" rtlCol="0" anchor="ctr"/>
          <a:lstStyle/>
          <a:p>
            <a:pPr marL="0" indent="0">
              <a:buNone/>
            </a:pPr>
            <a:r>
              <a:rPr lang="en-US" sz="1050" b="1" dirty="0">
                <a:solidFill>
                  <a:srgbClr val="F4A261"/>
                </a:solidFill>
                <a:latin typeface="Consolas" pitchFamily="34" charset="0"/>
                <a:ea typeface="Consolas" pitchFamily="34" charset="-122"/>
                <a:cs typeface="Consolas" pitchFamily="34" charset="-120"/>
              </a:rPr>
              <a:t>src/test/resources</a:t>
            </a:r>
            <a:endParaRPr lang="en-US" sz="1050" dirty="0"/>
          </a:p>
        </p:txBody>
      </p:sp>
      <p:sp>
        <p:nvSpPr>
          <p:cNvPr id="23" name="Text 21"/>
          <p:cNvSpPr/>
          <p:nvPr/>
        </p:nvSpPr>
        <p:spPr>
          <a:xfrm>
            <a:off x="4617720" y="3209544"/>
            <a:ext cx="4114800" cy="27432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Test-only config files and fixtures.</a:t>
            </a:r>
            <a:endParaRPr lang="en-US" sz="1000" dirty="0"/>
          </a:p>
        </p:txBody>
      </p:sp>
      <p:sp>
        <p:nvSpPr>
          <p:cNvPr id="24" name="Shape 22"/>
          <p:cNvSpPr/>
          <p:nvPr/>
        </p:nvSpPr>
        <p:spPr>
          <a:xfrm>
            <a:off x="4480560" y="3657600"/>
            <a:ext cx="4389120" cy="594360"/>
          </a:xfrm>
          <a:prstGeom prst="rect">
            <a:avLst/>
          </a:prstGeom>
          <a:solidFill>
            <a:srgbClr val="1F3A5F"/>
          </a:solidFill>
          <a:ln w="12700">
            <a:solidFill>
              <a:srgbClr val="1F3A5F"/>
            </a:solidFill>
            <a:prstDash val="solid"/>
          </a:ln>
        </p:spPr>
      </p:sp>
      <p:sp>
        <p:nvSpPr>
          <p:cNvPr id="25" name="Shape 23"/>
          <p:cNvSpPr/>
          <p:nvPr/>
        </p:nvSpPr>
        <p:spPr>
          <a:xfrm>
            <a:off x="4480560" y="3657600"/>
            <a:ext cx="54864" cy="594360"/>
          </a:xfrm>
          <a:prstGeom prst="rect">
            <a:avLst/>
          </a:prstGeom>
          <a:solidFill>
            <a:srgbClr val="0096C7"/>
          </a:solidFill>
          <a:ln w="12700">
            <a:solidFill>
              <a:srgbClr val="0096C7"/>
            </a:solidFill>
            <a:prstDash val="solid"/>
          </a:ln>
        </p:spPr>
      </p:sp>
      <p:sp>
        <p:nvSpPr>
          <p:cNvPr id="26" name="Text 24"/>
          <p:cNvSpPr/>
          <p:nvPr/>
        </p:nvSpPr>
        <p:spPr>
          <a:xfrm>
            <a:off x="4617720" y="3675888"/>
            <a:ext cx="4114800" cy="201168"/>
          </a:xfrm>
          <a:prstGeom prst="rect">
            <a:avLst/>
          </a:prstGeom>
          <a:noFill/>
          <a:ln/>
        </p:spPr>
        <p:txBody>
          <a:bodyPr wrap="square" lIns="0" tIns="0" rIns="0" bIns="0" rtlCol="0" anchor="ctr"/>
          <a:lstStyle/>
          <a:p>
            <a:pPr marL="0" indent="0">
              <a:buNone/>
            </a:pPr>
            <a:r>
              <a:rPr lang="en-US" sz="1050" b="1" dirty="0">
                <a:solidFill>
                  <a:srgbClr val="F4A261"/>
                </a:solidFill>
                <a:latin typeface="Consolas" pitchFamily="34" charset="0"/>
                <a:ea typeface="Consolas" pitchFamily="34" charset="-122"/>
                <a:cs typeface="Consolas" pitchFamily="34" charset="-120"/>
              </a:rPr>
              <a:t>target/</a:t>
            </a:r>
            <a:endParaRPr lang="en-US" sz="1050" dirty="0"/>
          </a:p>
        </p:txBody>
      </p:sp>
      <p:sp>
        <p:nvSpPr>
          <p:cNvPr id="27" name="Text 25"/>
          <p:cNvSpPr/>
          <p:nvPr/>
        </p:nvSpPr>
        <p:spPr>
          <a:xfrm>
            <a:off x="4617720" y="3877056"/>
            <a:ext cx="4114800" cy="27432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Auto-generated build output — classes, JARs, WAR files.</a:t>
            </a:r>
            <a:endParaRPr lang="en-US" sz="1000" dirty="0"/>
          </a:p>
        </p:txBody>
      </p:sp>
      <p:sp>
        <p:nvSpPr>
          <p:cNvPr id="28" name="Shape 26"/>
          <p:cNvSpPr/>
          <p:nvPr/>
        </p:nvSpPr>
        <p:spPr>
          <a:xfrm>
            <a:off x="4480560" y="4325112"/>
            <a:ext cx="4389120" cy="594360"/>
          </a:xfrm>
          <a:prstGeom prst="rect">
            <a:avLst/>
          </a:prstGeom>
          <a:solidFill>
            <a:srgbClr val="1F3A5F"/>
          </a:solidFill>
          <a:ln w="12700">
            <a:solidFill>
              <a:srgbClr val="1F3A5F"/>
            </a:solidFill>
            <a:prstDash val="solid"/>
          </a:ln>
        </p:spPr>
      </p:sp>
      <p:sp>
        <p:nvSpPr>
          <p:cNvPr id="29" name="Shape 27"/>
          <p:cNvSpPr/>
          <p:nvPr/>
        </p:nvSpPr>
        <p:spPr>
          <a:xfrm>
            <a:off x="4480560" y="4325112"/>
            <a:ext cx="54864" cy="594360"/>
          </a:xfrm>
          <a:prstGeom prst="rect">
            <a:avLst/>
          </a:prstGeom>
          <a:solidFill>
            <a:srgbClr val="0096C7"/>
          </a:solidFill>
          <a:ln w="12700">
            <a:solidFill>
              <a:srgbClr val="0096C7"/>
            </a:solidFill>
            <a:prstDash val="solid"/>
          </a:ln>
        </p:spPr>
      </p:sp>
      <p:sp>
        <p:nvSpPr>
          <p:cNvPr id="30" name="Text 28"/>
          <p:cNvSpPr/>
          <p:nvPr/>
        </p:nvSpPr>
        <p:spPr>
          <a:xfrm>
            <a:off x="4617720" y="4343400"/>
            <a:ext cx="4114800" cy="201168"/>
          </a:xfrm>
          <a:prstGeom prst="rect">
            <a:avLst/>
          </a:prstGeom>
          <a:noFill/>
          <a:ln/>
        </p:spPr>
        <p:txBody>
          <a:bodyPr wrap="square" lIns="0" tIns="0" rIns="0" bIns="0" rtlCol="0" anchor="ctr"/>
          <a:lstStyle/>
          <a:p>
            <a:pPr marL="0" indent="0">
              <a:buNone/>
            </a:pPr>
            <a:r>
              <a:rPr lang="en-US" sz="1050" b="1" dirty="0">
                <a:solidFill>
                  <a:srgbClr val="F4A261"/>
                </a:solidFill>
                <a:latin typeface="Consolas" pitchFamily="34" charset="0"/>
                <a:ea typeface="Consolas" pitchFamily="34" charset="-122"/>
                <a:cs typeface="Consolas" pitchFamily="34" charset="-120"/>
              </a:rPr>
              <a:t>pom.xml</a:t>
            </a:r>
            <a:endParaRPr lang="en-US" sz="1050" dirty="0"/>
          </a:p>
        </p:txBody>
      </p:sp>
      <p:sp>
        <p:nvSpPr>
          <p:cNvPr id="31" name="Text 29"/>
          <p:cNvSpPr/>
          <p:nvPr/>
        </p:nvSpPr>
        <p:spPr>
          <a:xfrm>
            <a:off x="4617720" y="4544568"/>
            <a:ext cx="4114800" cy="27432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Project descriptor — the single source of truth for the build.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Shape 1"/>
          <p:cNvSpPr/>
          <p:nvPr/>
        </p:nvSpPr>
        <p:spPr>
          <a:xfrm>
            <a:off x="0" y="777240"/>
            <a:ext cx="9144000" cy="36576"/>
          </a:xfrm>
          <a:prstGeom prst="rect">
            <a:avLst/>
          </a:prstGeom>
          <a:solidFill>
            <a:srgbClr val="0096C7"/>
          </a:solidFill>
          <a:ln w="12700">
            <a:solidFill>
              <a:srgbClr val="0096C7"/>
            </a:solidFill>
            <a:prstDash val="solid"/>
          </a:ln>
        </p:spPr>
      </p:sp>
      <p:sp>
        <p:nvSpPr>
          <p:cNvPr id="4" name="Text 2"/>
          <p:cNvSpPr/>
          <p:nvPr/>
        </p:nvSpPr>
        <p:spPr>
          <a:xfrm>
            <a:off x="365760" y="9144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Build Lifecycle Phases</a:t>
            </a:r>
            <a:endParaRPr lang="en-US" sz="2400" dirty="0"/>
          </a:p>
        </p:txBody>
      </p:sp>
      <p:sp>
        <p:nvSpPr>
          <p:cNvPr id="5" name="Text 3"/>
          <p:cNvSpPr/>
          <p:nvPr/>
        </p:nvSpPr>
        <p:spPr>
          <a:xfrm>
            <a:off x="365760" y="566928"/>
            <a:ext cx="7315200" cy="228600"/>
          </a:xfrm>
          <a:prstGeom prst="rect">
            <a:avLst/>
          </a:prstGeom>
          <a:noFill/>
          <a:ln/>
        </p:spPr>
        <p:txBody>
          <a:bodyPr wrap="square" lIns="0" tIns="0" rIns="0" bIns="0" rtlCol="0" anchor="ctr"/>
          <a:lstStyle/>
          <a:p>
            <a:pPr marL="0" indent="0">
              <a:buNone/>
            </a:pPr>
            <a:r>
              <a:rPr lang="en-US" sz="1100" i="1" dirty="0">
                <a:solidFill>
                  <a:srgbClr val="0096C7"/>
                </a:solidFill>
                <a:latin typeface="Calibri" pitchFamily="34" charset="0"/>
                <a:ea typeface="Calibri" pitchFamily="34" charset="-122"/>
                <a:cs typeface="Calibri" pitchFamily="34" charset="-120"/>
              </a:rPr>
              <a:t>Maven's three built-in lifecycles: default, clean, site</a:t>
            </a:r>
            <a:endParaRPr lang="en-US" sz="1100" dirty="0"/>
          </a:p>
        </p:txBody>
      </p:sp>
      <p:sp>
        <p:nvSpPr>
          <p:cNvPr id="6" name="Shape 4"/>
          <p:cNvSpPr/>
          <p:nvPr/>
        </p:nvSpPr>
        <p:spPr>
          <a:xfrm>
            <a:off x="274320" y="1005840"/>
            <a:ext cx="2011680" cy="1828800"/>
          </a:xfrm>
          <a:prstGeom prst="rect">
            <a:avLst/>
          </a:prstGeom>
          <a:solidFill>
            <a:srgbClr val="1F3A5F"/>
          </a:solidFill>
          <a:ln w="12700">
            <a:solidFill>
              <a:srgbClr val="1F3A5F"/>
            </a:solidFill>
            <a:prstDash val="solid"/>
          </a:ln>
        </p:spPr>
      </p:sp>
      <p:sp>
        <p:nvSpPr>
          <p:cNvPr id="7" name="Shape 5"/>
          <p:cNvSpPr/>
          <p:nvPr/>
        </p:nvSpPr>
        <p:spPr>
          <a:xfrm>
            <a:off x="274320" y="1005840"/>
            <a:ext cx="2011680" cy="54864"/>
          </a:xfrm>
          <a:prstGeom prst="rect">
            <a:avLst/>
          </a:prstGeom>
          <a:solidFill>
            <a:srgbClr val="0096C7"/>
          </a:solidFill>
          <a:ln w="12700">
            <a:solidFill>
              <a:srgbClr val="0096C7"/>
            </a:solidFill>
            <a:prstDash val="solid"/>
          </a:ln>
        </p:spPr>
      </p:sp>
      <p:sp>
        <p:nvSpPr>
          <p:cNvPr id="8" name="Shape 6"/>
          <p:cNvSpPr/>
          <p:nvPr/>
        </p:nvSpPr>
        <p:spPr>
          <a:xfrm>
            <a:off x="347472" y="1143000"/>
            <a:ext cx="347472" cy="347472"/>
          </a:xfrm>
          <a:prstGeom prst="ellipse">
            <a:avLst/>
          </a:prstGeom>
          <a:solidFill>
            <a:srgbClr val="0096C7"/>
          </a:solidFill>
          <a:ln w="12700">
            <a:solidFill>
              <a:srgbClr val="0096C7"/>
            </a:solidFill>
            <a:prstDash val="solid"/>
          </a:ln>
        </p:spPr>
      </p:sp>
      <p:sp>
        <p:nvSpPr>
          <p:cNvPr id="9" name="Text 7"/>
          <p:cNvSpPr/>
          <p:nvPr/>
        </p:nvSpPr>
        <p:spPr>
          <a:xfrm>
            <a:off x="347472" y="114300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10" name="Text 8"/>
          <p:cNvSpPr/>
          <p:nvPr/>
        </p:nvSpPr>
        <p:spPr>
          <a:xfrm>
            <a:off x="777240" y="1152144"/>
            <a:ext cx="1417320" cy="274320"/>
          </a:xfrm>
          <a:prstGeom prst="rect">
            <a:avLst/>
          </a:prstGeom>
          <a:noFill/>
          <a:ln/>
        </p:spPr>
        <p:txBody>
          <a:bodyPr wrap="square" lIns="0" tIns="0" rIns="0" bIns="0" rtlCol="0" anchor="ctr"/>
          <a:lstStyle/>
          <a:p>
            <a:pPr marL="0" indent="0">
              <a:buNone/>
            </a:pPr>
            <a:r>
              <a:rPr lang="en-US" sz="1300" b="1" dirty="0">
                <a:solidFill>
                  <a:srgbClr val="0096C7"/>
                </a:solidFill>
                <a:latin typeface="Trebuchet MS" pitchFamily="34" charset="0"/>
                <a:ea typeface="Trebuchet MS" pitchFamily="34" charset="-122"/>
                <a:cs typeface="Trebuchet MS" pitchFamily="34" charset="-120"/>
              </a:rPr>
              <a:t>validate</a:t>
            </a:r>
            <a:endParaRPr lang="en-US" sz="1300" dirty="0"/>
          </a:p>
        </p:txBody>
      </p:sp>
      <p:sp>
        <p:nvSpPr>
          <p:cNvPr id="11" name="Text 9"/>
          <p:cNvSpPr/>
          <p:nvPr/>
        </p:nvSpPr>
        <p:spPr>
          <a:xfrm>
            <a:off x="384048" y="1554480"/>
            <a:ext cx="1810512" cy="1143000"/>
          </a:xfrm>
          <a:prstGeom prst="rect">
            <a:avLst/>
          </a:prstGeom>
          <a:noFill/>
          <a:ln/>
        </p:spPr>
        <p:txBody>
          <a:bodyPr wrap="square" lIns="0" tIns="0" rIns="0" bIns="0" rtlCol="0" anchor="ctr"/>
          <a:lstStyle/>
          <a:p>
            <a:pPr marL="0" indent="0">
              <a:buNone/>
            </a:pPr>
            <a:r>
              <a:rPr lang="en-US" sz="1050" dirty="0">
                <a:solidFill>
                  <a:srgbClr val="EFF6FF"/>
                </a:solidFill>
                <a:latin typeface="Calibri" pitchFamily="34" charset="0"/>
                <a:ea typeface="Calibri" pitchFamily="34" charset="-122"/>
                <a:cs typeface="Calibri" pitchFamily="34" charset="-120"/>
              </a:rPr>
              <a:t>Checks project is correct &amp; all required info is available</a:t>
            </a:r>
            <a:endParaRPr lang="en-US" sz="1050" dirty="0"/>
          </a:p>
        </p:txBody>
      </p:sp>
      <p:sp>
        <p:nvSpPr>
          <p:cNvPr id="12" name="Shape 10"/>
          <p:cNvSpPr/>
          <p:nvPr/>
        </p:nvSpPr>
        <p:spPr>
          <a:xfrm>
            <a:off x="2450592" y="1005840"/>
            <a:ext cx="2011680" cy="1828800"/>
          </a:xfrm>
          <a:prstGeom prst="rect">
            <a:avLst/>
          </a:prstGeom>
          <a:solidFill>
            <a:srgbClr val="1F3A5F"/>
          </a:solidFill>
          <a:ln w="12700">
            <a:solidFill>
              <a:srgbClr val="1F3A5F"/>
            </a:solidFill>
            <a:prstDash val="solid"/>
          </a:ln>
        </p:spPr>
      </p:sp>
      <p:sp>
        <p:nvSpPr>
          <p:cNvPr id="13" name="Shape 11"/>
          <p:cNvSpPr/>
          <p:nvPr/>
        </p:nvSpPr>
        <p:spPr>
          <a:xfrm>
            <a:off x="2450592" y="1005840"/>
            <a:ext cx="2011680" cy="54864"/>
          </a:xfrm>
          <a:prstGeom prst="rect">
            <a:avLst/>
          </a:prstGeom>
          <a:solidFill>
            <a:srgbClr val="0096C7"/>
          </a:solidFill>
          <a:ln w="12700">
            <a:solidFill>
              <a:srgbClr val="0096C7"/>
            </a:solidFill>
            <a:prstDash val="solid"/>
          </a:ln>
        </p:spPr>
      </p:sp>
      <p:sp>
        <p:nvSpPr>
          <p:cNvPr id="14" name="Shape 12"/>
          <p:cNvSpPr/>
          <p:nvPr/>
        </p:nvSpPr>
        <p:spPr>
          <a:xfrm>
            <a:off x="2523744" y="1143000"/>
            <a:ext cx="347472" cy="347472"/>
          </a:xfrm>
          <a:prstGeom prst="ellipse">
            <a:avLst/>
          </a:prstGeom>
          <a:solidFill>
            <a:srgbClr val="0096C7"/>
          </a:solidFill>
          <a:ln w="12700">
            <a:solidFill>
              <a:srgbClr val="0096C7"/>
            </a:solidFill>
            <a:prstDash val="solid"/>
          </a:ln>
        </p:spPr>
      </p:sp>
      <p:sp>
        <p:nvSpPr>
          <p:cNvPr id="15" name="Text 13"/>
          <p:cNvSpPr/>
          <p:nvPr/>
        </p:nvSpPr>
        <p:spPr>
          <a:xfrm>
            <a:off x="2523744" y="114300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16" name="Text 14"/>
          <p:cNvSpPr/>
          <p:nvPr/>
        </p:nvSpPr>
        <p:spPr>
          <a:xfrm>
            <a:off x="2953512" y="1152144"/>
            <a:ext cx="1417320" cy="274320"/>
          </a:xfrm>
          <a:prstGeom prst="rect">
            <a:avLst/>
          </a:prstGeom>
          <a:noFill/>
          <a:ln/>
        </p:spPr>
        <p:txBody>
          <a:bodyPr wrap="square" lIns="0" tIns="0" rIns="0" bIns="0" rtlCol="0" anchor="ctr"/>
          <a:lstStyle/>
          <a:p>
            <a:pPr marL="0" indent="0">
              <a:buNone/>
            </a:pPr>
            <a:r>
              <a:rPr lang="en-US" sz="1300" b="1" dirty="0">
                <a:solidFill>
                  <a:srgbClr val="0096C7"/>
                </a:solidFill>
                <a:latin typeface="Trebuchet MS" pitchFamily="34" charset="0"/>
                <a:ea typeface="Trebuchet MS" pitchFamily="34" charset="-122"/>
                <a:cs typeface="Trebuchet MS" pitchFamily="34" charset="-120"/>
              </a:rPr>
              <a:t>compile</a:t>
            </a:r>
            <a:endParaRPr lang="en-US" sz="1300" dirty="0"/>
          </a:p>
        </p:txBody>
      </p:sp>
      <p:sp>
        <p:nvSpPr>
          <p:cNvPr id="17" name="Text 15"/>
          <p:cNvSpPr/>
          <p:nvPr/>
        </p:nvSpPr>
        <p:spPr>
          <a:xfrm>
            <a:off x="2560320" y="1554480"/>
            <a:ext cx="1810512" cy="1143000"/>
          </a:xfrm>
          <a:prstGeom prst="rect">
            <a:avLst/>
          </a:prstGeom>
          <a:noFill/>
          <a:ln/>
        </p:spPr>
        <p:txBody>
          <a:bodyPr wrap="square" lIns="0" tIns="0" rIns="0" bIns="0" rtlCol="0" anchor="ctr"/>
          <a:lstStyle/>
          <a:p>
            <a:pPr marL="0" indent="0">
              <a:buNone/>
            </a:pPr>
            <a:r>
              <a:rPr lang="en-US" sz="1050" dirty="0">
                <a:solidFill>
                  <a:srgbClr val="EFF6FF"/>
                </a:solidFill>
                <a:latin typeface="Calibri" pitchFamily="34" charset="0"/>
                <a:ea typeface="Calibri" pitchFamily="34" charset="-122"/>
                <a:cs typeface="Calibri" pitchFamily="34" charset="-120"/>
              </a:rPr>
              <a:t>Compiles source code of the project into .class files</a:t>
            </a:r>
            <a:endParaRPr lang="en-US" sz="1050" dirty="0"/>
          </a:p>
        </p:txBody>
      </p:sp>
      <p:sp>
        <p:nvSpPr>
          <p:cNvPr id="18" name="Shape 16"/>
          <p:cNvSpPr/>
          <p:nvPr/>
        </p:nvSpPr>
        <p:spPr>
          <a:xfrm>
            <a:off x="4626864" y="1005840"/>
            <a:ext cx="2011680" cy="1828800"/>
          </a:xfrm>
          <a:prstGeom prst="rect">
            <a:avLst/>
          </a:prstGeom>
          <a:solidFill>
            <a:srgbClr val="1F3A5F"/>
          </a:solidFill>
          <a:ln w="12700">
            <a:solidFill>
              <a:srgbClr val="1F3A5F"/>
            </a:solidFill>
            <a:prstDash val="solid"/>
          </a:ln>
        </p:spPr>
      </p:sp>
      <p:sp>
        <p:nvSpPr>
          <p:cNvPr id="19" name="Shape 17"/>
          <p:cNvSpPr/>
          <p:nvPr/>
        </p:nvSpPr>
        <p:spPr>
          <a:xfrm>
            <a:off x="4626864" y="1005840"/>
            <a:ext cx="2011680" cy="54864"/>
          </a:xfrm>
          <a:prstGeom prst="rect">
            <a:avLst/>
          </a:prstGeom>
          <a:solidFill>
            <a:srgbClr val="0096C7"/>
          </a:solidFill>
          <a:ln w="12700">
            <a:solidFill>
              <a:srgbClr val="0096C7"/>
            </a:solidFill>
            <a:prstDash val="solid"/>
          </a:ln>
        </p:spPr>
      </p:sp>
      <p:sp>
        <p:nvSpPr>
          <p:cNvPr id="20" name="Shape 18"/>
          <p:cNvSpPr/>
          <p:nvPr/>
        </p:nvSpPr>
        <p:spPr>
          <a:xfrm>
            <a:off x="4700016" y="1143000"/>
            <a:ext cx="347472" cy="347472"/>
          </a:xfrm>
          <a:prstGeom prst="ellipse">
            <a:avLst/>
          </a:prstGeom>
          <a:solidFill>
            <a:srgbClr val="0096C7"/>
          </a:solidFill>
          <a:ln w="12700">
            <a:solidFill>
              <a:srgbClr val="0096C7"/>
            </a:solidFill>
            <a:prstDash val="solid"/>
          </a:ln>
        </p:spPr>
      </p:sp>
      <p:sp>
        <p:nvSpPr>
          <p:cNvPr id="21" name="Text 19"/>
          <p:cNvSpPr/>
          <p:nvPr/>
        </p:nvSpPr>
        <p:spPr>
          <a:xfrm>
            <a:off x="4700016" y="114300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22" name="Text 20"/>
          <p:cNvSpPr/>
          <p:nvPr/>
        </p:nvSpPr>
        <p:spPr>
          <a:xfrm>
            <a:off x="5129784" y="1152144"/>
            <a:ext cx="1417320" cy="274320"/>
          </a:xfrm>
          <a:prstGeom prst="rect">
            <a:avLst/>
          </a:prstGeom>
          <a:noFill/>
          <a:ln/>
        </p:spPr>
        <p:txBody>
          <a:bodyPr wrap="square" lIns="0" tIns="0" rIns="0" bIns="0" rtlCol="0" anchor="ctr"/>
          <a:lstStyle/>
          <a:p>
            <a:pPr marL="0" indent="0">
              <a:buNone/>
            </a:pPr>
            <a:r>
              <a:rPr lang="en-US" sz="1300" b="1" dirty="0">
                <a:solidFill>
                  <a:srgbClr val="0096C7"/>
                </a:solidFill>
                <a:latin typeface="Trebuchet MS" pitchFamily="34" charset="0"/>
                <a:ea typeface="Trebuchet MS" pitchFamily="34" charset="-122"/>
                <a:cs typeface="Trebuchet MS" pitchFamily="34" charset="-120"/>
              </a:rPr>
              <a:t>test</a:t>
            </a:r>
            <a:endParaRPr lang="en-US" sz="1300" dirty="0"/>
          </a:p>
        </p:txBody>
      </p:sp>
      <p:sp>
        <p:nvSpPr>
          <p:cNvPr id="23" name="Text 21"/>
          <p:cNvSpPr/>
          <p:nvPr/>
        </p:nvSpPr>
        <p:spPr>
          <a:xfrm>
            <a:off x="4736592" y="1554480"/>
            <a:ext cx="1810512" cy="1143000"/>
          </a:xfrm>
          <a:prstGeom prst="rect">
            <a:avLst/>
          </a:prstGeom>
          <a:noFill/>
          <a:ln/>
        </p:spPr>
        <p:txBody>
          <a:bodyPr wrap="square" lIns="0" tIns="0" rIns="0" bIns="0" rtlCol="0" anchor="ctr"/>
          <a:lstStyle/>
          <a:p>
            <a:pPr marL="0" indent="0">
              <a:buNone/>
            </a:pPr>
            <a:r>
              <a:rPr lang="en-US" sz="1050" dirty="0">
                <a:solidFill>
                  <a:srgbClr val="EFF6FF"/>
                </a:solidFill>
                <a:latin typeface="Calibri" pitchFamily="34" charset="0"/>
                <a:ea typeface="Calibri" pitchFamily="34" charset="-122"/>
                <a:cs typeface="Calibri" pitchFamily="34" charset="-120"/>
              </a:rPr>
              <a:t>Runs unit tests using a testing framework (e.g., JUnit)</a:t>
            </a:r>
            <a:endParaRPr lang="en-US" sz="1050" dirty="0"/>
          </a:p>
        </p:txBody>
      </p:sp>
      <p:sp>
        <p:nvSpPr>
          <p:cNvPr id="24" name="Shape 22"/>
          <p:cNvSpPr/>
          <p:nvPr/>
        </p:nvSpPr>
        <p:spPr>
          <a:xfrm>
            <a:off x="6803136" y="1005840"/>
            <a:ext cx="2011680" cy="1828800"/>
          </a:xfrm>
          <a:prstGeom prst="rect">
            <a:avLst/>
          </a:prstGeom>
          <a:solidFill>
            <a:srgbClr val="1F3A5F"/>
          </a:solidFill>
          <a:ln w="12700">
            <a:solidFill>
              <a:srgbClr val="1F3A5F"/>
            </a:solidFill>
            <a:prstDash val="solid"/>
          </a:ln>
        </p:spPr>
      </p:sp>
      <p:sp>
        <p:nvSpPr>
          <p:cNvPr id="25" name="Shape 23"/>
          <p:cNvSpPr/>
          <p:nvPr/>
        </p:nvSpPr>
        <p:spPr>
          <a:xfrm>
            <a:off x="6803136" y="1005840"/>
            <a:ext cx="2011680" cy="54864"/>
          </a:xfrm>
          <a:prstGeom prst="rect">
            <a:avLst/>
          </a:prstGeom>
          <a:solidFill>
            <a:srgbClr val="F4A261"/>
          </a:solidFill>
          <a:ln w="12700">
            <a:solidFill>
              <a:srgbClr val="F4A261"/>
            </a:solidFill>
            <a:prstDash val="solid"/>
          </a:ln>
        </p:spPr>
      </p:sp>
      <p:sp>
        <p:nvSpPr>
          <p:cNvPr id="26" name="Shape 24"/>
          <p:cNvSpPr/>
          <p:nvPr/>
        </p:nvSpPr>
        <p:spPr>
          <a:xfrm>
            <a:off x="6876288" y="1143000"/>
            <a:ext cx="347472" cy="347472"/>
          </a:xfrm>
          <a:prstGeom prst="ellipse">
            <a:avLst/>
          </a:prstGeom>
          <a:solidFill>
            <a:srgbClr val="F4A261"/>
          </a:solidFill>
          <a:ln w="12700">
            <a:solidFill>
              <a:srgbClr val="F4A261"/>
            </a:solidFill>
            <a:prstDash val="solid"/>
          </a:ln>
        </p:spPr>
      </p:sp>
      <p:sp>
        <p:nvSpPr>
          <p:cNvPr id="27" name="Text 25"/>
          <p:cNvSpPr/>
          <p:nvPr/>
        </p:nvSpPr>
        <p:spPr>
          <a:xfrm>
            <a:off x="6876288" y="114300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28" name="Text 26"/>
          <p:cNvSpPr/>
          <p:nvPr/>
        </p:nvSpPr>
        <p:spPr>
          <a:xfrm>
            <a:off x="7306056" y="1152144"/>
            <a:ext cx="1417320" cy="274320"/>
          </a:xfrm>
          <a:prstGeom prst="rect">
            <a:avLst/>
          </a:prstGeom>
          <a:noFill/>
          <a:ln/>
        </p:spPr>
        <p:txBody>
          <a:bodyPr wrap="square" lIns="0" tIns="0" rIns="0" bIns="0" rtlCol="0" anchor="ctr"/>
          <a:lstStyle/>
          <a:p>
            <a:pPr marL="0" indent="0">
              <a:buNone/>
            </a:pPr>
            <a:r>
              <a:rPr lang="en-US" sz="1300" b="1" dirty="0">
                <a:solidFill>
                  <a:srgbClr val="F4A261"/>
                </a:solidFill>
                <a:latin typeface="Trebuchet MS" pitchFamily="34" charset="0"/>
                <a:ea typeface="Trebuchet MS" pitchFamily="34" charset="-122"/>
                <a:cs typeface="Trebuchet MS" pitchFamily="34" charset="-120"/>
              </a:rPr>
              <a:t>package</a:t>
            </a:r>
            <a:endParaRPr lang="en-US" sz="1300" dirty="0"/>
          </a:p>
        </p:txBody>
      </p:sp>
      <p:sp>
        <p:nvSpPr>
          <p:cNvPr id="29" name="Text 27"/>
          <p:cNvSpPr/>
          <p:nvPr/>
        </p:nvSpPr>
        <p:spPr>
          <a:xfrm>
            <a:off x="6912864" y="1554480"/>
            <a:ext cx="1810512" cy="1143000"/>
          </a:xfrm>
          <a:prstGeom prst="rect">
            <a:avLst/>
          </a:prstGeom>
          <a:noFill/>
          <a:ln/>
        </p:spPr>
        <p:txBody>
          <a:bodyPr wrap="square" lIns="0" tIns="0" rIns="0" bIns="0" rtlCol="0" anchor="ctr"/>
          <a:lstStyle/>
          <a:p>
            <a:pPr marL="0" indent="0">
              <a:buNone/>
            </a:pPr>
            <a:r>
              <a:rPr lang="en-US" sz="1050" dirty="0">
                <a:solidFill>
                  <a:srgbClr val="EFF6FF"/>
                </a:solidFill>
                <a:latin typeface="Calibri" pitchFamily="34" charset="0"/>
                <a:ea typeface="Calibri" pitchFamily="34" charset="-122"/>
                <a:cs typeface="Calibri" pitchFamily="34" charset="-120"/>
              </a:rPr>
              <a:t>Bundles compiled code into distributable format (JAR/WAR)</a:t>
            </a:r>
            <a:endParaRPr lang="en-US" sz="1050" dirty="0"/>
          </a:p>
        </p:txBody>
      </p:sp>
      <p:sp>
        <p:nvSpPr>
          <p:cNvPr id="30" name="Shape 28"/>
          <p:cNvSpPr/>
          <p:nvPr/>
        </p:nvSpPr>
        <p:spPr>
          <a:xfrm>
            <a:off x="274320" y="3063240"/>
            <a:ext cx="2011680" cy="1828800"/>
          </a:xfrm>
          <a:prstGeom prst="rect">
            <a:avLst/>
          </a:prstGeom>
          <a:solidFill>
            <a:srgbClr val="1F3A5F"/>
          </a:solidFill>
          <a:ln w="12700">
            <a:solidFill>
              <a:srgbClr val="1F3A5F"/>
            </a:solidFill>
            <a:prstDash val="solid"/>
          </a:ln>
        </p:spPr>
      </p:sp>
      <p:sp>
        <p:nvSpPr>
          <p:cNvPr id="31" name="Shape 29"/>
          <p:cNvSpPr/>
          <p:nvPr/>
        </p:nvSpPr>
        <p:spPr>
          <a:xfrm>
            <a:off x="274320" y="3063240"/>
            <a:ext cx="2011680" cy="54864"/>
          </a:xfrm>
          <a:prstGeom prst="rect">
            <a:avLst/>
          </a:prstGeom>
          <a:solidFill>
            <a:srgbClr val="F4A261"/>
          </a:solidFill>
          <a:ln w="12700">
            <a:solidFill>
              <a:srgbClr val="F4A261"/>
            </a:solidFill>
            <a:prstDash val="solid"/>
          </a:ln>
        </p:spPr>
      </p:sp>
      <p:sp>
        <p:nvSpPr>
          <p:cNvPr id="32" name="Shape 30"/>
          <p:cNvSpPr/>
          <p:nvPr/>
        </p:nvSpPr>
        <p:spPr>
          <a:xfrm>
            <a:off x="347472" y="3200400"/>
            <a:ext cx="347472" cy="347472"/>
          </a:xfrm>
          <a:prstGeom prst="ellipse">
            <a:avLst/>
          </a:prstGeom>
          <a:solidFill>
            <a:srgbClr val="F4A261"/>
          </a:solidFill>
          <a:ln w="12700">
            <a:solidFill>
              <a:srgbClr val="F4A261"/>
            </a:solidFill>
            <a:prstDash val="solid"/>
          </a:ln>
        </p:spPr>
      </p:sp>
      <p:sp>
        <p:nvSpPr>
          <p:cNvPr id="33" name="Text 31"/>
          <p:cNvSpPr/>
          <p:nvPr/>
        </p:nvSpPr>
        <p:spPr>
          <a:xfrm>
            <a:off x="347472" y="320040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34" name="Text 32"/>
          <p:cNvSpPr/>
          <p:nvPr/>
        </p:nvSpPr>
        <p:spPr>
          <a:xfrm>
            <a:off x="777240" y="3209544"/>
            <a:ext cx="1417320" cy="274320"/>
          </a:xfrm>
          <a:prstGeom prst="rect">
            <a:avLst/>
          </a:prstGeom>
          <a:noFill/>
          <a:ln/>
        </p:spPr>
        <p:txBody>
          <a:bodyPr wrap="square" lIns="0" tIns="0" rIns="0" bIns="0" rtlCol="0" anchor="ctr"/>
          <a:lstStyle/>
          <a:p>
            <a:pPr marL="0" indent="0">
              <a:buNone/>
            </a:pPr>
            <a:r>
              <a:rPr lang="en-US" sz="1300" b="1" dirty="0">
                <a:solidFill>
                  <a:srgbClr val="F4A261"/>
                </a:solidFill>
                <a:latin typeface="Trebuchet MS" pitchFamily="34" charset="0"/>
                <a:ea typeface="Trebuchet MS" pitchFamily="34" charset="-122"/>
                <a:cs typeface="Trebuchet MS" pitchFamily="34" charset="-120"/>
              </a:rPr>
              <a:t>verify</a:t>
            </a:r>
            <a:endParaRPr lang="en-US" sz="1300" dirty="0"/>
          </a:p>
        </p:txBody>
      </p:sp>
      <p:sp>
        <p:nvSpPr>
          <p:cNvPr id="35" name="Text 33"/>
          <p:cNvSpPr/>
          <p:nvPr/>
        </p:nvSpPr>
        <p:spPr>
          <a:xfrm>
            <a:off x="384048" y="3611880"/>
            <a:ext cx="1810512" cy="1143000"/>
          </a:xfrm>
          <a:prstGeom prst="rect">
            <a:avLst/>
          </a:prstGeom>
          <a:noFill/>
          <a:ln/>
        </p:spPr>
        <p:txBody>
          <a:bodyPr wrap="square" lIns="0" tIns="0" rIns="0" bIns="0" rtlCol="0" anchor="ctr"/>
          <a:lstStyle/>
          <a:p>
            <a:pPr marL="0" indent="0">
              <a:buNone/>
            </a:pPr>
            <a:r>
              <a:rPr lang="en-US" sz="1050" dirty="0">
                <a:solidFill>
                  <a:srgbClr val="EFF6FF"/>
                </a:solidFill>
                <a:latin typeface="Calibri" pitchFamily="34" charset="0"/>
                <a:ea typeface="Calibri" pitchFamily="34" charset="-122"/>
                <a:cs typeface="Calibri" pitchFamily="34" charset="-120"/>
              </a:rPr>
              <a:t>Runs integration checks to ensure quality criteria are met</a:t>
            </a:r>
            <a:endParaRPr lang="en-US" sz="1050" dirty="0"/>
          </a:p>
        </p:txBody>
      </p:sp>
      <p:sp>
        <p:nvSpPr>
          <p:cNvPr id="36" name="Shape 34"/>
          <p:cNvSpPr/>
          <p:nvPr/>
        </p:nvSpPr>
        <p:spPr>
          <a:xfrm>
            <a:off x="2450592" y="3063240"/>
            <a:ext cx="2011680" cy="1828800"/>
          </a:xfrm>
          <a:prstGeom prst="rect">
            <a:avLst/>
          </a:prstGeom>
          <a:solidFill>
            <a:srgbClr val="1F3A5F"/>
          </a:solidFill>
          <a:ln w="12700">
            <a:solidFill>
              <a:srgbClr val="1F3A5F"/>
            </a:solidFill>
            <a:prstDash val="solid"/>
          </a:ln>
        </p:spPr>
      </p:sp>
      <p:sp>
        <p:nvSpPr>
          <p:cNvPr id="37" name="Shape 35"/>
          <p:cNvSpPr/>
          <p:nvPr/>
        </p:nvSpPr>
        <p:spPr>
          <a:xfrm>
            <a:off x="2450592" y="3063240"/>
            <a:ext cx="2011680" cy="54864"/>
          </a:xfrm>
          <a:prstGeom prst="rect">
            <a:avLst/>
          </a:prstGeom>
          <a:solidFill>
            <a:srgbClr val="2EC4B6"/>
          </a:solidFill>
          <a:ln w="12700">
            <a:solidFill>
              <a:srgbClr val="2EC4B6"/>
            </a:solidFill>
            <a:prstDash val="solid"/>
          </a:ln>
        </p:spPr>
      </p:sp>
      <p:sp>
        <p:nvSpPr>
          <p:cNvPr id="38" name="Shape 36"/>
          <p:cNvSpPr/>
          <p:nvPr/>
        </p:nvSpPr>
        <p:spPr>
          <a:xfrm>
            <a:off x="2523744" y="3200400"/>
            <a:ext cx="347472" cy="347472"/>
          </a:xfrm>
          <a:prstGeom prst="ellipse">
            <a:avLst/>
          </a:prstGeom>
          <a:solidFill>
            <a:srgbClr val="2EC4B6"/>
          </a:solidFill>
          <a:ln w="12700">
            <a:solidFill>
              <a:srgbClr val="2EC4B6"/>
            </a:solidFill>
            <a:prstDash val="solid"/>
          </a:ln>
        </p:spPr>
      </p:sp>
      <p:sp>
        <p:nvSpPr>
          <p:cNvPr id="39" name="Text 37"/>
          <p:cNvSpPr/>
          <p:nvPr/>
        </p:nvSpPr>
        <p:spPr>
          <a:xfrm>
            <a:off x="2523744" y="320040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40" name="Text 38"/>
          <p:cNvSpPr/>
          <p:nvPr/>
        </p:nvSpPr>
        <p:spPr>
          <a:xfrm>
            <a:off x="2953512" y="3209544"/>
            <a:ext cx="1417320" cy="274320"/>
          </a:xfrm>
          <a:prstGeom prst="rect">
            <a:avLst/>
          </a:prstGeom>
          <a:noFill/>
          <a:ln/>
        </p:spPr>
        <p:txBody>
          <a:bodyPr wrap="square" lIns="0" tIns="0" rIns="0" bIns="0" rtlCol="0" anchor="ctr"/>
          <a:lstStyle/>
          <a:p>
            <a:pPr marL="0" indent="0">
              <a:buNone/>
            </a:pPr>
            <a:r>
              <a:rPr lang="en-US" sz="1300" b="1" dirty="0">
                <a:solidFill>
                  <a:srgbClr val="2EC4B6"/>
                </a:solidFill>
                <a:latin typeface="Trebuchet MS" pitchFamily="34" charset="0"/>
                <a:ea typeface="Trebuchet MS" pitchFamily="34" charset="-122"/>
                <a:cs typeface="Trebuchet MS" pitchFamily="34" charset="-120"/>
              </a:rPr>
              <a:t>install</a:t>
            </a:r>
            <a:endParaRPr lang="en-US" sz="1300" dirty="0"/>
          </a:p>
        </p:txBody>
      </p:sp>
      <p:sp>
        <p:nvSpPr>
          <p:cNvPr id="41" name="Text 39"/>
          <p:cNvSpPr/>
          <p:nvPr/>
        </p:nvSpPr>
        <p:spPr>
          <a:xfrm>
            <a:off x="2560320" y="3611880"/>
            <a:ext cx="1810512" cy="1143000"/>
          </a:xfrm>
          <a:prstGeom prst="rect">
            <a:avLst/>
          </a:prstGeom>
          <a:noFill/>
          <a:ln/>
        </p:spPr>
        <p:txBody>
          <a:bodyPr wrap="square" lIns="0" tIns="0" rIns="0" bIns="0" rtlCol="0" anchor="ctr"/>
          <a:lstStyle/>
          <a:p>
            <a:pPr marL="0" indent="0">
              <a:buNone/>
            </a:pPr>
            <a:r>
              <a:rPr lang="en-US" sz="1050" dirty="0">
                <a:solidFill>
                  <a:srgbClr val="EFF6FF"/>
                </a:solidFill>
                <a:latin typeface="Calibri" pitchFamily="34" charset="0"/>
                <a:ea typeface="Calibri" pitchFamily="34" charset="-122"/>
                <a:cs typeface="Calibri" pitchFamily="34" charset="-120"/>
              </a:rPr>
              <a:t>Installs artifact into local Maven repository (~/.m2)</a:t>
            </a:r>
            <a:endParaRPr lang="en-US" sz="1050" dirty="0"/>
          </a:p>
        </p:txBody>
      </p:sp>
      <p:sp>
        <p:nvSpPr>
          <p:cNvPr id="42" name="Shape 40"/>
          <p:cNvSpPr/>
          <p:nvPr/>
        </p:nvSpPr>
        <p:spPr>
          <a:xfrm>
            <a:off x="4626864" y="3063240"/>
            <a:ext cx="2011680" cy="1828800"/>
          </a:xfrm>
          <a:prstGeom prst="rect">
            <a:avLst/>
          </a:prstGeom>
          <a:solidFill>
            <a:srgbClr val="1F3A5F"/>
          </a:solidFill>
          <a:ln w="12700">
            <a:solidFill>
              <a:srgbClr val="1F3A5F"/>
            </a:solidFill>
            <a:prstDash val="solid"/>
          </a:ln>
        </p:spPr>
      </p:sp>
      <p:sp>
        <p:nvSpPr>
          <p:cNvPr id="43" name="Shape 41"/>
          <p:cNvSpPr/>
          <p:nvPr/>
        </p:nvSpPr>
        <p:spPr>
          <a:xfrm>
            <a:off x="4626864" y="3063240"/>
            <a:ext cx="2011680" cy="54864"/>
          </a:xfrm>
          <a:prstGeom prst="rect">
            <a:avLst/>
          </a:prstGeom>
          <a:solidFill>
            <a:srgbClr val="2EC4B6"/>
          </a:solidFill>
          <a:ln w="12700">
            <a:solidFill>
              <a:srgbClr val="2EC4B6"/>
            </a:solidFill>
            <a:prstDash val="solid"/>
          </a:ln>
        </p:spPr>
      </p:sp>
      <p:sp>
        <p:nvSpPr>
          <p:cNvPr id="44" name="Shape 42"/>
          <p:cNvSpPr/>
          <p:nvPr/>
        </p:nvSpPr>
        <p:spPr>
          <a:xfrm>
            <a:off x="4700016" y="3200400"/>
            <a:ext cx="347472" cy="347472"/>
          </a:xfrm>
          <a:prstGeom prst="ellipse">
            <a:avLst/>
          </a:prstGeom>
          <a:solidFill>
            <a:srgbClr val="2EC4B6"/>
          </a:solidFill>
          <a:ln w="12700">
            <a:solidFill>
              <a:srgbClr val="2EC4B6"/>
            </a:solidFill>
            <a:prstDash val="solid"/>
          </a:ln>
        </p:spPr>
      </p:sp>
      <p:sp>
        <p:nvSpPr>
          <p:cNvPr id="45" name="Text 43"/>
          <p:cNvSpPr/>
          <p:nvPr/>
        </p:nvSpPr>
        <p:spPr>
          <a:xfrm>
            <a:off x="4700016" y="320040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7</a:t>
            </a:r>
            <a:endParaRPr lang="en-US" sz="1200" dirty="0"/>
          </a:p>
        </p:txBody>
      </p:sp>
      <p:sp>
        <p:nvSpPr>
          <p:cNvPr id="46" name="Text 44"/>
          <p:cNvSpPr/>
          <p:nvPr/>
        </p:nvSpPr>
        <p:spPr>
          <a:xfrm>
            <a:off x="5129784" y="3209544"/>
            <a:ext cx="1417320" cy="274320"/>
          </a:xfrm>
          <a:prstGeom prst="rect">
            <a:avLst/>
          </a:prstGeom>
          <a:noFill/>
          <a:ln/>
        </p:spPr>
        <p:txBody>
          <a:bodyPr wrap="square" lIns="0" tIns="0" rIns="0" bIns="0" rtlCol="0" anchor="ctr"/>
          <a:lstStyle/>
          <a:p>
            <a:pPr marL="0" indent="0">
              <a:buNone/>
            </a:pPr>
            <a:r>
              <a:rPr lang="en-US" sz="1300" b="1" dirty="0">
                <a:solidFill>
                  <a:srgbClr val="2EC4B6"/>
                </a:solidFill>
                <a:latin typeface="Trebuchet MS" pitchFamily="34" charset="0"/>
                <a:ea typeface="Trebuchet MS" pitchFamily="34" charset="-122"/>
                <a:cs typeface="Trebuchet MS" pitchFamily="34" charset="-120"/>
              </a:rPr>
              <a:t>deploy</a:t>
            </a:r>
            <a:endParaRPr lang="en-US" sz="1300" dirty="0"/>
          </a:p>
        </p:txBody>
      </p:sp>
      <p:sp>
        <p:nvSpPr>
          <p:cNvPr id="47" name="Text 45"/>
          <p:cNvSpPr/>
          <p:nvPr/>
        </p:nvSpPr>
        <p:spPr>
          <a:xfrm>
            <a:off x="4736592" y="3611880"/>
            <a:ext cx="1810512" cy="1143000"/>
          </a:xfrm>
          <a:prstGeom prst="rect">
            <a:avLst/>
          </a:prstGeom>
          <a:noFill/>
          <a:ln/>
        </p:spPr>
        <p:txBody>
          <a:bodyPr wrap="square" lIns="0" tIns="0" rIns="0" bIns="0" rtlCol="0" anchor="ctr"/>
          <a:lstStyle/>
          <a:p>
            <a:pPr marL="0" indent="0">
              <a:buNone/>
            </a:pPr>
            <a:r>
              <a:rPr lang="en-US" sz="1050" dirty="0">
                <a:solidFill>
                  <a:srgbClr val="EFF6FF"/>
                </a:solidFill>
                <a:latin typeface="Calibri" pitchFamily="34" charset="0"/>
                <a:ea typeface="Calibri" pitchFamily="34" charset="-122"/>
                <a:cs typeface="Calibri" pitchFamily="34" charset="-120"/>
              </a:rPr>
              <a:t>Copies final artifact to remote repository for sharing</a:t>
            </a:r>
            <a:endParaRPr lang="en-US" sz="1050" dirty="0"/>
          </a:p>
        </p:txBody>
      </p:sp>
      <p:sp>
        <p:nvSpPr>
          <p:cNvPr id="48" name="Text 46"/>
          <p:cNvSpPr/>
          <p:nvPr/>
        </p:nvSpPr>
        <p:spPr>
          <a:xfrm>
            <a:off x="274320" y="4663440"/>
            <a:ext cx="8595360" cy="274320"/>
          </a:xfrm>
          <a:prstGeom prst="rect">
            <a:avLst/>
          </a:prstGeom>
          <a:noFill/>
          <a:ln/>
        </p:spPr>
        <p:txBody>
          <a:bodyPr wrap="square" lIns="0" tIns="0" rIns="0" bIns="0" rtlCol="0" anchor="ctr"/>
          <a:lstStyle/>
          <a:p>
            <a:pPr marL="0" indent="0" algn="ctr">
              <a:buNone/>
            </a:pPr>
            <a:r>
              <a:rPr lang="en-US" sz="1100" i="1" dirty="0">
                <a:solidFill>
                  <a:srgbClr val="0096C7"/>
                </a:solidFill>
                <a:latin typeface="Calibri" pitchFamily="34" charset="0"/>
                <a:ea typeface="Calibri" pitchFamily="34" charset="-122"/>
                <a:cs typeface="Calibri" pitchFamily="34" charset="-120"/>
              </a:rPr>
              <a:t>Each phase triggers all previous phases automatically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Shape 1"/>
          <p:cNvSpPr/>
          <p:nvPr/>
        </p:nvSpPr>
        <p:spPr>
          <a:xfrm>
            <a:off x="0" y="777240"/>
            <a:ext cx="9144000" cy="36576"/>
          </a:xfrm>
          <a:prstGeom prst="rect">
            <a:avLst/>
          </a:prstGeom>
          <a:solidFill>
            <a:srgbClr val="0096C7"/>
          </a:solidFill>
          <a:ln w="12700">
            <a:solidFill>
              <a:srgbClr val="0096C7"/>
            </a:solidFill>
            <a:prstDash val="solid"/>
          </a:ln>
        </p:spPr>
      </p:sp>
      <p:sp>
        <p:nvSpPr>
          <p:cNvPr id="4" name="Text 2"/>
          <p:cNvSpPr/>
          <p:nvPr/>
        </p:nvSpPr>
        <p:spPr>
          <a:xfrm>
            <a:off x="365760" y="9144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Parent POM</a:t>
            </a:r>
            <a:endParaRPr lang="en-US" sz="2400" dirty="0"/>
          </a:p>
        </p:txBody>
      </p:sp>
      <p:sp>
        <p:nvSpPr>
          <p:cNvPr id="5" name="Text 3"/>
          <p:cNvSpPr/>
          <p:nvPr/>
        </p:nvSpPr>
        <p:spPr>
          <a:xfrm>
            <a:off x="365760" y="566928"/>
            <a:ext cx="7315200" cy="228600"/>
          </a:xfrm>
          <a:prstGeom prst="rect">
            <a:avLst/>
          </a:prstGeom>
          <a:noFill/>
          <a:ln/>
        </p:spPr>
        <p:txBody>
          <a:bodyPr wrap="square" lIns="0" tIns="0" rIns="0" bIns="0" rtlCol="0" anchor="ctr"/>
          <a:lstStyle/>
          <a:p>
            <a:pPr marL="0" indent="0">
              <a:buNone/>
            </a:pPr>
            <a:r>
              <a:rPr lang="en-US" sz="1100" i="1" dirty="0">
                <a:solidFill>
                  <a:srgbClr val="0096C7"/>
                </a:solidFill>
                <a:latin typeface="Calibri" pitchFamily="34" charset="0"/>
                <a:ea typeface="Calibri" pitchFamily="34" charset="-122"/>
                <a:cs typeface="Calibri" pitchFamily="34" charset="-120"/>
              </a:rPr>
              <a:t>Centralizing configuration across multi-module projects</a:t>
            </a:r>
            <a:endParaRPr lang="en-US" sz="1100" dirty="0"/>
          </a:p>
        </p:txBody>
      </p:sp>
      <p:sp>
        <p:nvSpPr>
          <p:cNvPr id="6" name="Shape 4"/>
          <p:cNvSpPr/>
          <p:nvPr/>
        </p:nvSpPr>
        <p:spPr>
          <a:xfrm>
            <a:off x="274320" y="960120"/>
            <a:ext cx="4023360" cy="3931920"/>
          </a:xfrm>
          <a:prstGeom prst="rect">
            <a:avLst/>
          </a:prstGeom>
          <a:solidFill>
            <a:srgbClr val="1B2A4A"/>
          </a:solidFill>
          <a:ln w="12700">
            <a:solidFill>
              <a:srgbClr val="1B2A4A"/>
            </a:solidFill>
            <a:prstDash val="solid"/>
          </a:ln>
        </p:spPr>
      </p:sp>
      <p:sp>
        <p:nvSpPr>
          <p:cNvPr id="7" name="Text 5"/>
          <p:cNvSpPr/>
          <p:nvPr/>
        </p:nvSpPr>
        <p:spPr>
          <a:xfrm>
            <a:off x="411480" y="1051560"/>
            <a:ext cx="3749040" cy="320040"/>
          </a:xfrm>
          <a:prstGeom prst="rect">
            <a:avLst/>
          </a:prstGeom>
          <a:noFill/>
          <a:ln/>
        </p:spPr>
        <p:txBody>
          <a:bodyPr wrap="square" lIns="0" tIns="0" rIns="0" bIns="0" rtlCol="0" anchor="ctr"/>
          <a:lstStyle/>
          <a:p>
            <a:pPr marL="0" indent="0">
              <a:buNone/>
            </a:pPr>
            <a:r>
              <a:rPr lang="en-US" sz="1400" b="1" dirty="0">
                <a:solidFill>
                  <a:srgbClr val="F4A261"/>
                </a:solidFill>
                <a:latin typeface="Trebuchet MS" pitchFamily="34" charset="0"/>
                <a:ea typeface="Trebuchet MS" pitchFamily="34" charset="-122"/>
                <a:cs typeface="Trebuchet MS" pitchFamily="34" charset="-120"/>
              </a:rPr>
              <a:t>What is a Parent POM?</a:t>
            </a:r>
            <a:endParaRPr lang="en-US" sz="1400" dirty="0"/>
          </a:p>
        </p:txBody>
      </p:sp>
      <p:sp>
        <p:nvSpPr>
          <p:cNvPr id="8" name="Text 6"/>
          <p:cNvSpPr/>
          <p:nvPr/>
        </p:nvSpPr>
        <p:spPr>
          <a:xfrm>
            <a:off x="411480" y="1417320"/>
            <a:ext cx="3749040" cy="109728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A Parent POM is a special POM that other projects inherit from. Child modules automatically receive all dependency versions, plugin configs, and properties defined in the parent, ensuring DRY (Don't Repeat Yourself) principles across large projects.</a:t>
            </a:r>
            <a:endParaRPr lang="en-US" sz="1100" dirty="0"/>
          </a:p>
        </p:txBody>
      </p:sp>
      <p:sp>
        <p:nvSpPr>
          <p:cNvPr id="9" name="Text 7"/>
          <p:cNvSpPr/>
          <p:nvPr/>
        </p:nvSpPr>
        <p:spPr>
          <a:xfrm>
            <a:off x="411480" y="2606040"/>
            <a:ext cx="3749040" cy="274320"/>
          </a:xfrm>
          <a:prstGeom prst="rect">
            <a:avLst/>
          </a:prstGeom>
          <a:noFill/>
          <a:ln/>
        </p:spPr>
        <p:txBody>
          <a:bodyPr wrap="square" lIns="0" tIns="0" rIns="0" bIns="0" rtlCol="0" anchor="ctr"/>
          <a:lstStyle/>
          <a:p>
            <a:pPr marL="0" indent="0">
              <a:buNone/>
            </a:pPr>
            <a:r>
              <a:rPr lang="en-US" sz="1200" b="1" dirty="0">
                <a:solidFill>
                  <a:srgbClr val="0096C7"/>
                </a:solidFill>
                <a:latin typeface="Trebuchet MS" pitchFamily="34" charset="0"/>
                <a:ea typeface="Trebuchet MS" pitchFamily="34" charset="-122"/>
                <a:cs typeface="Trebuchet MS" pitchFamily="34" charset="-120"/>
              </a:rPr>
              <a:t>Key Benefits:</a:t>
            </a:r>
            <a:endParaRPr lang="en-US" sz="1200" dirty="0"/>
          </a:p>
        </p:txBody>
      </p:sp>
      <p:sp>
        <p:nvSpPr>
          <p:cNvPr id="10" name="Text 8"/>
          <p:cNvSpPr/>
          <p:nvPr/>
        </p:nvSpPr>
        <p:spPr>
          <a:xfrm>
            <a:off x="411480" y="2907792"/>
            <a:ext cx="3657600" cy="1920240"/>
          </a:xfrm>
          <a:prstGeom prst="rect">
            <a:avLst/>
          </a:prstGeom>
          <a:noFill/>
          <a:ln/>
        </p:spPr>
        <p:txBody>
          <a:bodyPr wrap="square" lIns="0" tIns="0" rIns="0" bIns="0" rtlCol="0" anchor="ctr"/>
          <a:lstStyle/>
          <a:p>
            <a:pPr marL="342900" indent="-342900">
              <a:buSzPct val="100000"/>
              <a:buChar char="•"/>
            </a:pPr>
            <a:r>
              <a:rPr lang="en-US" sz="1100" dirty="0">
                <a:solidFill>
                  <a:srgbClr val="EFF6FF"/>
                </a:solidFill>
                <a:latin typeface="Calibri" pitchFamily="34" charset="0"/>
                <a:ea typeface="Calibri" pitchFamily="34" charset="-122"/>
                <a:cs typeface="Calibri" pitchFamily="34" charset="-120"/>
              </a:rPr>
              <a:t>Centralized dependency version management</a:t>
            </a:r>
            <a:endParaRPr lang="en-US" sz="1100" dirty="0"/>
          </a:p>
          <a:p>
            <a:pPr marL="342900" indent="-342900">
              <a:buSzPct val="100000"/>
              <a:buChar char="•"/>
            </a:pPr>
            <a:r>
              <a:rPr lang="en-US" sz="1100" dirty="0">
                <a:solidFill>
                  <a:srgbClr val="EFF6FF"/>
                </a:solidFill>
                <a:latin typeface="Calibri" pitchFamily="34" charset="0"/>
                <a:ea typeface="Calibri" pitchFamily="34" charset="-122"/>
                <a:cs typeface="Calibri" pitchFamily="34" charset="-120"/>
              </a:rPr>
              <a:t>Shared plugin configuration</a:t>
            </a:r>
            <a:endParaRPr lang="en-US" sz="1100" dirty="0"/>
          </a:p>
          <a:p>
            <a:pPr marL="342900" indent="-342900">
              <a:buSzPct val="100000"/>
              <a:buChar char="•"/>
            </a:pPr>
            <a:r>
              <a:rPr lang="en-US" sz="1100" dirty="0">
                <a:solidFill>
                  <a:srgbClr val="EFF6FF"/>
                </a:solidFill>
                <a:latin typeface="Calibri" pitchFamily="34" charset="0"/>
                <a:ea typeface="Calibri" pitchFamily="34" charset="-122"/>
                <a:cs typeface="Calibri" pitchFamily="34" charset="-120"/>
              </a:rPr>
              <a:t>Consistent build behavior</a:t>
            </a:r>
            <a:endParaRPr lang="en-US" sz="1100" dirty="0"/>
          </a:p>
          <a:p>
            <a:pPr marL="342900" indent="-342900">
              <a:buSzPct val="100000"/>
              <a:buChar char="•"/>
            </a:pPr>
            <a:r>
              <a:rPr lang="en-US" sz="1100" dirty="0">
                <a:solidFill>
                  <a:srgbClr val="EFF6FF"/>
                </a:solidFill>
                <a:latin typeface="Calibri" pitchFamily="34" charset="0"/>
                <a:ea typeface="Calibri" pitchFamily="34" charset="-122"/>
                <a:cs typeface="Calibri" pitchFamily="34" charset="-120"/>
              </a:rPr>
              <a:t>Single place to update versions</a:t>
            </a:r>
            <a:endParaRPr lang="en-US" sz="1100" dirty="0"/>
          </a:p>
          <a:p>
            <a:pPr marL="342900" indent="-342900">
              <a:buSzPct val="100000"/>
              <a:buChar char="•"/>
            </a:pPr>
            <a:r>
              <a:rPr lang="en-US" sz="1100" dirty="0">
                <a:solidFill>
                  <a:srgbClr val="EFF6FF"/>
                </a:solidFill>
                <a:latin typeface="Calibri" pitchFamily="34" charset="0"/>
                <a:ea typeface="Calibri" pitchFamily="34" charset="-122"/>
                <a:cs typeface="Calibri" pitchFamily="34" charset="-120"/>
              </a:rPr>
              <a:t>Spring Boot provides its own parent POM</a:t>
            </a:r>
            <a:endParaRPr lang="en-US" sz="1100" dirty="0"/>
          </a:p>
        </p:txBody>
      </p:sp>
      <p:sp>
        <p:nvSpPr>
          <p:cNvPr id="11" name="Shape 9"/>
          <p:cNvSpPr/>
          <p:nvPr/>
        </p:nvSpPr>
        <p:spPr>
          <a:xfrm>
            <a:off x="4572000" y="960120"/>
            <a:ext cx="4297680" cy="3931920"/>
          </a:xfrm>
          <a:prstGeom prst="rect">
            <a:avLst/>
          </a:prstGeom>
          <a:solidFill>
            <a:srgbClr val="0A1628"/>
          </a:solidFill>
          <a:ln w="12700">
            <a:solidFill>
              <a:srgbClr val="0096C7"/>
            </a:solidFill>
            <a:prstDash val="solid"/>
          </a:ln>
        </p:spPr>
      </p:sp>
      <p:sp>
        <p:nvSpPr>
          <p:cNvPr id="12" name="Text 10"/>
          <p:cNvSpPr/>
          <p:nvPr/>
        </p:nvSpPr>
        <p:spPr>
          <a:xfrm>
            <a:off x="4709160" y="1051560"/>
            <a:ext cx="4023360" cy="3657600"/>
          </a:xfrm>
          <a:prstGeom prst="rect">
            <a:avLst/>
          </a:prstGeom>
          <a:noFill/>
          <a:ln/>
        </p:spPr>
        <p:txBody>
          <a:bodyPr wrap="square" lIns="0" tIns="0" rIns="0" bIns="0" rtlCol="0" anchor="ctr"/>
          <a:lstStyle/>
          <a:p>
            <a:pPr marL="0" indent="0">
              <a:buNone/>
            </a:pPr>
            <a:r>
              <a:rPr lang="en-US" sz="1050" i="1" dirty="0">
                <a:solidFill>
                  <a:srgbClr val="94A3B8"/>
                </a:solidFill>
                <a:latin typeface="Consolas" pitchFamily="34" charset="0"/>
                <a:ea typeface="Consolas" pitchFamily="34" charset="-122"/>
                <a:cs typeface="Consolas" pitchFamily="34" charset="-120"/>
              </a:rPr>
              <a:t>&lt;!-- Parent POM --&gt;</a:t>
            </a:r>
            <a:endParaRPr lang="en-US" sz="1050" dirty="0"/>
          </a:p>
          <a:p>
            <a:pPr marL="0" indent="0">
              <a:buNone/>
            </a:pPr>
            <a:r>
              <a:rPr lang="en-US" sz="1050" dirty="0">
                <a:solidFill>
                  <a:srgbClr val="0096C7"/>
                </a:solidFill>
                <a:latin typeface="Consolas" pitchFamily="34" charset="0"/>
                <a:ea typeface="Consolas" pitchFamily="34" charset="-122"/>
                <a:cs typeface="Consolas" pitchFamily="34" charset="-120"/>
              </a:rPr>
              <a:t>&lt;parent&gt;</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&lt;groupId&gt;</a:t>
            </a:r>
            <a:r>
              <a:rPr lang="en-US" sz="1050" dirty="0">
                <a:solidFill>
                  <a:srgbClr val="F4A261"/>
                </a:solidFill>
                <a:latin typeface="Consolas" pitchFamily="34" charset="0"/>
                <a:ea typeface="Consolas" pitchFamily="34" charset="-122"/>
                <a:cs typeface="Consolas" pitchFamily="34" charset="-120"/>
              </a:rPr>
              <a:t>org.springframework.boot</a:t>
            </a:r>
            <a:r>
              <a:rPr lang="en-US" sz="1050" dirty="0">
                <a:solidFill>
                  <a:srgbClr val="7EC8E3"/>
                </a:solidFill>
                <a:latin typeface="Consolas" pitchFamily="34" charset="0"/>
                <a:ea typeface="Consolas" pitchFamily="34" charset="-122"/>
                <a:cs typeface="Consolas" pitchFamily="34" charset="-120"/>
              </a:rPr>
              <a:t>&lt;/groupId&gt;</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&lt;artifactId&gt;</a:t>
            </a:r>
            <a:r>
              <a:rPr lang="en-US" sz="1050" dirty="0">
                <a:solidFill>
                  <a:srgbClr val="F4A261"/>
                </a:solidFill>
                <a:latin typeface="Consolas" pitchFamily="34" charset="0"/>
                <a:ea typeface="Consolas" pitchFamily="34" charset="-122"/>
                <a:cs typeface="Consolas" pitchFamily="34" charset="-120"/>
              </a:rPr>
              <a:t>spring-boot-starter-parent</a:t>
            </a:r>
            <a:r>
              <a:rPr lang="en-US" sz="1050" dirty="0">
                <a:solidFill>
                  <a:srgbClr val="7EC8E3"/>
                </a:solidFill>
                <a:latin typeface="Consolas" pitchFamily="34" charset="0"/>
                <a:ea typeface="Consolas" pitchFamily="34" charset="-122"/>
                <a:cs typeface="Consolas" pitchFamily="34" charset="-120"/>
              </a:rPr>
              <a:t>&lt;/artifactId&gt;</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&lt;version&gt;</a:t>
            </a:r>
            <a:r>
              <a:rPr lang="en-US" sz="1050" dirty="0">
                <a:solidFill>
                  <a:srgbClr val="F4A261"/>
                </a:solidFill>
                <a:latin typeface="Consolas" pitchFamily="34" charset="0"/>
                <a:ea typeface="Consolas" pitchFamily="34" charset="-122"/>
                <a:cs typeface="Consolas" pitchFamily="34" charset="-120"/>
              </a:rPr>
              <a:t>3.2.0</a:t>
            </a:r>
            <a:r>
              <a:rPr lang="en-US" sz="1050" dirty="0">
                <a:solidFill>
                  <a:srgbClr val="7EC8E3"/>
                </a:solidFill>
                <a:latin typeface="Consolas" pitchFamily="34" charset="0"/>
                <a:ea typeface="Consolas" pitchFamily="34" charset="-122"/>
                <a:cs typeface="Consolas" pitchFamily="34" charset="-120"/>
              </a:rPr>
              <a:t>&lt;/version&gt;</a:t>
            </a:r>
            <a:endParaRPr lang="en-US" sz="1050" dirty="0"/>
          </a:p>
          <a:p>
            <a:pPr marL="0" indent="0">
              <a:buNone/>
            </a:pPr>
            <a:r>
              <a:rPr lang="en-US" sz="1050" dirty="0">
                <a:solidFill>
                  <a:srgbClr val="7EC8E3"/>
                </a:solidFill>
                <a:latin typeface="Consolas" pitchFamily="34" charset="0"/>
                <a:ea typeface="Consolas" pitchFamily="34" charset="-122"/>
                <a:cs typeface="Consolas" pitchFamily="34" charset="-120"/>
              </a:rPr>
              <a:t>  &lt;relativePath/&gt;</a:t>
            </a:r>
            <a:endParaRPr lang="en-US" sz="1050" dirty="0"/>
          </a:p>
          <a:p>
            <a:pPr marL="0" indent="0">
              <a:buNone/>
            </a:pPr>
            <a:r>
              <a:rPr lang="en-US" sz="1050" dirty="0">
                <a:solidFill>
                  <a:srgbClr val="0096C7"/>
                </a:solidFill>
                <a:latin typeface="Consolas" pitchFamily="34" charset="0"/>
                <a:ea typeface="Consolas" pitchFamily="34" charset="-122"/>
                <a:cs typeface="Consolas" pitchFamily="34" charset="-120"/>
              </a:rPr>
              <a:t>&lt;/parent&gt;</a:t>
            </a:r>
            <a:endParaRPr lang="en-US" sz="1050" dirty="0"/>
          </a:p>
          <a:p>
            <a:pPr marL="0" indent="0">
              <a:buNone/>
            </a:pPr>
            <a:endParaRPr lang="en-US" sz="1050" dirty="0"/>
          </a:p>
          <a:p>
            <a:pPr marL="0" indent="0">
              <a:buNone/>
            </a:pPr>
            <a:r>
              <a:rPr lang="en-US" sz="1050" i="1" dirty="0">
                <a:solidFill>
                  <a:srgbClr val="94A3B8"/>
                </a:solidFill>
                <a:latin typeface="Consolas" pitchFamily="34" charset="0"/>
                <a:ea typeface="Consolas" pitchFamily="34" charset="-122"/>
                <a:cs typeface="Consolas" pitchFamily="34" charset="-120"/>
              </a:rPr>
              <a:t>&lt;!-- Child inherits all configs --&gt;</a:t>
            </a:r>
            <a:endParaRPr lang="en-US" sz="1050" dirty="0"/>
          </a:p>
          <a:p>
            <a:pPr marL="0" indent="0">
              <a:buNone/>
            </a:pPr>
            <a:r>
              <a:rPr lang="en-US" sz="1050" i="1" dirty="0">
                <a:solidFill>
                  <a:srgbClr val="94A3B8"/>
                </a:solidFill>
                <a:latin typeface="Consolas" pitchFamily="34" charset="0"/>
                <a:ea typeface="Consolas" pitchFamily="34" charset="-122"/>
                <a:cs typeface="Consolas" pitchFamily="34" charset="-120"/>
              </a:rPr>
              <a:t>&lt;!-- No need to repeat versions --&gt;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Shape 1"/>
          <p:cNvSpPr/>
          <p:nvPr/>
        </p:nvSpPr>
        <p:spPr>
          <a:xfrm>
            <a:off x="0" y="777240"/>
            <a:ext cx="9144000" cy="36576"/>
          </a:xfrm>
          <a:prstGeom prst="rect">
            <a:avLst/>
          </a:prstGeom>
          <a:solidFill>
            <a:srgbClr val="0096C7"/>
          </a:solidFill>
          <a:ln w="12700">
            <a:solidFill>
              <a:srgbClr val="0096C7"/>
            </a:solidFill>
            <a:prstDash val="solid"/>
          </a:ln>
        </p:spPr>
      </p:sp>
      <p:sp>
        <p:nvSpPr>
          <p:cNvPr id="4" name="Text 2"/>
          <p:cNvSpPr/>
          <p:nvPr/>
        </p:nvSpPr>
        <p:spPr>
          <a:xfrm>
            <a:off x="365760" y="9144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Dependency Scope</a:t>
            </a:r>
            <a:endParaRPr lang="en-US" sz="2400" dirty="0"/>
          </a:p>
        </p:txBody>
      </p:sp>
      <p:sp>
        <p:nvSpPr>
          <p:cNvPr id="5" name="Text 3"/>
          <p:cNvSpPr/>
          <p:nvPr/>
        </p:nvSpPr>
        <p:spPr>
          <a:xfrm>
            <a:off x="365760" y="566928"/>
            <a:ext cx="7315200" cy="228600"/>
          </a:xfrm>
          <a:prstGeom prst="rect">
            <a:avLst/>
          </a:prstGeom>
          <a:noFill/>
          <a:ln/>
        </p:spPr>
        <p:txBody>
          <a:bodyPr wrap="square" lIns="0" tIns="0" rIns="0" bIns="0" rtlCol="0" anchor="ctr"/>
          <a:lstStyle/>
          <a:p>
            <a:pPr marL="0" indent="0">
              <a:buNone/>
            </a:pPr>
            <a:r>
              <a:rPr lang="en-US" sz="1100" i="1" dirty="0">
                <a:solidFill>
                  <a:srgbClr val="0096C7"/>
                </a:solidFill>
                <a:latin typeface="Calibri" pitchFamily="34" charset="0"/>
                <a:ea typeface="Calibri" pitchFamily="34" charset="-122"/>
                <a:cs typeface="Calibri" pitchFamily="34" charset="-120"/>
              </a:rPr>
              <a:t>Controlling when and where dependencies are available</a:t>
            </a:r>
            <a:endParaRPr lang="en-US" sz="1100" dirty="0"/>
          </a:p>
        </p:txBody>
      </p:sp>
      <p:sp>
        <p:nvSpPr>
          <p:cNvPr id="6" name="Shape 4"/>
          <p:cNvSpPr/>
          <p:nvPr/>
        </p:nvSpPr>
        <p:spPr>
          <a:xfrm>
            <a:off x="274320" y="960120"/>
            <a:ext cx="1691640" cy="402336"/>
          </a:xfrm>
          <a:prstGeom prst="rect">
            <a:avLst/>
          </a:prstGeom>
          <a:solidFill>
            <a:srgbClr val="0096C7"/>
          </a:solidFill>
          <a:ln w="12700">
            <a:solidFill>
              <a:srgbClr val="0096C7"/>
            </a:solidFill>
            <a:prstDash val="solid"/>
          </a:ln>
        </p:spPr>
      </p:sp>
      <p:sp>
        <p:nvSpPr>
          <p:cNvPr id="7" name="Text 5"/>
          <p:cNvSpPr/>
          <p:nvPr/>
        </p:nvSpPr>
        <p:spPr>
          <a:xfrm>
            <a:off x="320040" y="960120"/>
            <a:ext cx="1645920" cy="402336"/>
          </a:xfrm>
          <a:prstGeom prst="rect">
            <a:avLst/>
          </a:prstGeom>
          <a:noFill/>
          <a:ln/>
        </p:spPr>
        <p:txBody>
          <a:bodyPr wrap="square" lIns="0" tIns="0" rIns="0" bIns="0" rtlCol="0" anchor="ctr"/>
          <a:lstStyle/>
          <a:p>
            <a:pPr marL="0" indent="0" algn="l">
              <a:buNone/>
            </a:pPr>
            <a:r>
              <a:rPr lang="en-US" sz="1200" b="1" dirty="0">
                <a:solidFill>
                  <a:srgbClr val="FFFFFF"/>
                </a:solidFill>
                <a:latin typeface="Trebuchet MS" pitchFamily="34" charset="0"/>
                <a:ea typeface="Trebuchet MS" pitchFamily="34" charset="-122"/>
                <a:cs typeface="Trebuchet MS" pitchFamily="34" charset="-120"/>
              </a:rPr>
              <a:t>Scope</a:t>
            </a:r>
            <a:endParaRPr lang="en-US" sz="1200" dirty="0"/>
          </a:p>
        </p:txBody>
      </p:sp>
      <p:sp>
        <p:nvSpPr>
          <p:cNvPr id="8" name="Shape 6"/>
          <p:cNvSpPr/>
          <p:nvPr/>
        </p:nvSpPr>
        <p:spPr>
          <a:xfrm>
            <a:off x="2148840" y="960120"/>
            <a:ext cx="960120" cy="402336"/>
          </a:xfrm>
          <a:prstGeom prst="rect">
            <a:avLst/>
          </a:prstGeom>
          <a:solidFill>
            <a:srgbClr val="0096C7"/>
          </a:solidFill>
          <a:ln w="12700">
            <a:solidFill>
              <a:srgbClr val="0096C7"/>
            </a:solidFill>
            <a:prstDash val="solid"/>
          </a:ln>
        </p:spPr>
      </p:sp>
      <p:sp>
        <p:nvSpPr>
          <p:cNvPr id="9" name="Text 7"/>
          <p:cNvSpPr/>
          <p:nvPr/>
        </p:nvSpPr>
        <p:spPr>
          <a:xfrm>
            <a:off x="2194560" y="960120"/>
            <a:ext cx="91440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Compile</a:t>
            </a:r>
            <a:endParaRPr lang="en-US" sz="1200" dirty="0"/>
          </a:p>
        </p:txBody>
      </p:sp>
      <p:sp>
        <p:nvSpPr>
          <p:cNvPr id="10" name="Shape 8"/>
          <p:cNvSpPr/>
          <p:nvPr/>
        </p:nvSpPr>
        <p:spPr>
          <a:xfrm>
            <a:off x="3200400" y="960120"/>
            <a:ext cx="960120" cy="402336"/>
          </a:xfrm>
          <a:prstGeom prst="rect">
            <a:avLst/>
          </a:prstGeom>
          <a:solidFill>
            <a:srgbClr val="0096C7"/>
          </a:solidFill>
          <a:ln w="12700">
            <a:solidFill>
              <a:srgbClr val="0096C7"/>
            </a:solidFill>
            <a:prstDash val="solid"/>
          </a:ln>
        </p:spPr>
      </p:sp>
      <p:sp>
        <p:nvSpPr>
          <p:cNvPr id="11" name="Text 9"/>
          <p:cNvSpPr/>
          <p:nvPr/>
        </p:nvSpPr>
        <p:spPr>
          <a:xfrm>
            <a:off x="3246120" y="960120"/>
            <a:ext cx="91440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Test</a:t>
            </a:r>
            <a:endParaRPr lang="en-US" sz="1200" dirty="0"/>
          </a:p>
        </p:txBody>
      </p:sp>
      <p:sp>
        <p:nvSpPr>
          <p:cNvPr id="12" name="Shape 10"/>
          <p:cNvSpPr/>
          <p:nvPr/>
        </p:nvSpPr>
        <p:spPr>
          <a:xfrm>
            <a:off x="4251960" y="960120"/>
            <a:ext cx="777240" cy="402336"/>
          </a:xfrm>
          <a:prstGeom prst="rect">
            <a:avLst/>
          </a:prstGeom>
          <a:solidFill>
            <a:srgbClr val="0096C7"/>
          </a:solidFill>
          <a:ln w="12700">
            <a:solidFill>
              <a:srgbClr val="0096C7"/>
            </a:solidFill>
            <a:prstDash val="solid"/>
          </a:ln>
        </p:spPr>
      </p:sp>
      <p:sp>
        <p:nvSpPr>
          <p:cNvPr id="13" name="Text 11"/>
          <p:cNvSpPr/>
          <p:nvPr/>
        </p:nvSpPr>
        <p:spPr>
          <a:xfrm>
            <a:off x="4297680" y="960120"/>
            <a:ext cx="73152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Runtime</a:t>
            </a:r>
            <a:endParaRPr lang="en-US" sz="1200" dirty="0"/>
          </a:p>
        </p:txBody>
      </p:sp>
      <p:sp>
        <p:nvSpPr>
          <p:cNvPr id="14" name="Shape 12"/>
          <p:cNvSpPr/>
          <p:nvPr/>
        </p:nvSpPr>
        <p:spPr>
          <a:xfrm>
            <a:off x="5029200" y="960120"/>
            <a:ext cx="3794760" cy="402336"/>
          </a:xfrm>
          <a:prstGeom prst="rect">
            <a:avLst/>
          </a:prstGeom>
          <a:solidFill>
            <a:srgbClr val="0096C7"/>
          </a:solidFill>
          <a:ln w="12700">
            <a:solidFill>
              <a:srgbClr val="0096C7"/>
            </a:solidFill>
            <a:prstDash val="solid"/>
          </a:ln>
        </p:spPr>
      </p:sp>
      <p:sp>
        <p:nvSpPr>
          <p:cNvPr id="15" name="Text 13"/>
          <p:cNvSpPr/>
          <p:nvPr/>
        </p:nvSpPr>
        <p:spPr>
          <a:xfrm>
            <a:off x="5074920" y="960120"/>
            <a:ext cx="37490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Description</a:t>
            </a:r>
            <a:endParaRPr lang="en-US" sz="1200" dirty="0"/>
          </a:p>
        </p:txBody>
      </p:sp>
      <p:sp>
        <p:nvSpPr>
          <p:cNvPr id="16" name="Shape 14"/>
          <p:cNvSpPr/>
          <p:nvPr/>
        </p:nvSpPr>
        <p:spPr>
          <a:xfrm>
            <a:off x="274320" y="1389888"/>
            <a:ext cx="8549640" cy="548640"/>
          </a:xfrm>
          <a:prstGeom prst="rect">
            <a:avLst/>
          </a:prstGeom>
          <a:solidFill>
            <a:srgbClr val="1F3A5F"/>
          </a:solidFill>
          <a:ln w="12700">
            <a:solidFill>
              <a:srgbClr val="1F3A5F"/>
            </a:solidFill>
            <a:prstDash val="solid"/>
          </a:ln>
        </p:spPr>
      </p:sp>
      <p:sp>
        <p:nvSpPr>
          <p:cNvPr id="17" name="Shape 15"/>
          <p:cNvSpPr/>
          <p:nvPr/>
        </p:nvSpPr>
        <p:spPr>
          <a:xfrm>
            <a:off x="274320" y="1389888"/>
            <a:ext cx="54864" cy="548640"/>
          </a:xfrm>
          <a:prstGeom prst="rect">
            <a:avLst/>
          </a:prstGeom>
          <a:solidFill>
            <a:srgbClr val="0096C7"/>
          </a:solidFill>
          <a:ln w="12700">
            <a:solidFill>
              <a:srgbClr val="0096C7"/>
            </a:solidFill>
            <a:prstDash val="solid"/>
          </a:ln>
        </p:spPr>
      </p:sp>
      <p:sp>
        <p:nvSpPr>
          <p:cNvPr id="18" name="Text 16"/>
          <p:cNvSpPr/>
          <p:nvPr/>
        </p:nvSpPr>
        <p:spPr>
          <a:xfrm>
            <a:off x="384048" y="1389888"/>
            <a:ext cx="1645920" cy="548640"/>
          </a:xfrm>
          <a:prstGeom prst="rect">
            <a:avLst/>
          </a:prstGeom>
          <a:noFill/>
          <a:ln/>
        </p:spPr>
        <p:txBody>
          <a:bodyPr wrap="square" lIns="0" tIns="0" rIns="0" bIns="0" rtlCol="0" anchor="ctr"/>
          <a:lstStyle/>
          <a:p>
            <a:pPr marL="0" indent="0">
              <a:buNone/>
            </a:pPr>
            <a:r>
              <a:rPr lang="en-US" sz="1200" b="1" dirty="0">
                <a:solidFill>
                  <a:srgbClr val="0096C7"/>
                </a:solidFill>
                <a:latin typeface="Trebuchet MS" pitchFamily="34" charset="0"/>
                <a:ea typeface="Trebuchet MS" pitchFamily="34" charset="-122"/>
                <a:cs typeface="Trebuchet MS" pitchFamily="34" charset="-120"/>
              </a:rPr>
              <a:t>compile</a:t>
            </a:r>
            <a:endParaRPr lang="en-US" sz="1200" dirty="0"/>
          </a:p>
        </p:txBody>
      </p:sp>
      <p:sp>
        <p:nvSpPr>
          <p:cNvPr id="19" name="Text 17"/>
          <p:cNvSpPr/>
          <p:nvPr/>
        </p:nvSpPr>
        <p:spPr>
          <a:xfrm>
            <a:off x="2148840" y="1389888"/>
            <a:ext cx="914400" cy="548640"/>
          </a:xfrm>
          <a:prstGeom prst="rect">
            <a:avLst/>
          </a:prstGeom>
          <a:noFill/>
          <a:ln/>
        </p:spPr>
        <p:txBody>
          <a:bodyPr wrap="square" lIns="0" tIns="0" rIns="0" bIns="0" rtlCol="0" anchor="ctr"/>
          <a:lstStyle/>
          <a:p>
            <a:pPr marL="0" indent="0" algn="ctr">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3200400" y="1389888"/>
            <a:ext cx="914400" cy="548640"/>
          </a:xfrm>
          <a:prstGeom prst="rect">
            <a:avLst/>
          </a:prstGeom>
          <a:noFill/>
          <a:ln/>
        </p:spPr>
        <p:txBody>
          <a:bodyPr wrap="square" lIns="0" tIns="0" rIns="0" bIns="0" rtlCol="0" anchor="ctr"/>
          <a:lstStyle/>
          <a:p>
            <a:pPr marL="0" indent="0" algn="ctr">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4251960" y="1389888"/>
            <a:ext cx="914400" cy="548640"/>
          </a:xfrm>
          <a:prstGeom prst="rect">
            <a:avLst/>
          </a:prstGeom>
          <a:noFill/>
          <a:ln/>
        </p:spPr>
        <p:txBody>
          <a:bodyPr wrap="square" lIns="0" tIns="0" rIns="0" bIns="0" rtlCol="0" anchor="ctr"/>
          <a:lstStyle/>
          <a:p>
            <a:pPr marL="0" indent="0" algn="ctr">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5029200" y="1435608"/>
            <a:ext cx="3749040" cy="45720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Default scope. Available everywhere — compile, test, and runtime classpaths.</a:t>
            </a:r>
            <a:endParaRPr lang="en-US" sz="1000" dirty="0"/>
          </a:p>
        </p:txBody>
      </p:sp>
      <p:sp>
        <p:nvSpPr>
          <p:cNvPr id="23" name="Shape 21"/>
          <p:cNvSpPr/>
          <p:nvPr/>
        </p:nvSpPr>
        <p:spPr>
          <a:xfrm>
            <a:off x="274320" y="1965960"/>
            <a:ext cx="8549640" cy="548640"/>
          </a:xfrm>
          <a:prstGeom prst="rect">
            <a:avLst/>
          </a:prstGeom>
          <a:solidFill>
            <a:srgbClr val="1B2A4A"/>
          </a:solidFill>
          <a:ln w="12700">
            <a:solidFill>
              <a:srgbClr val="1B2A4A"/>
            </a:solidFill>
            <a:prstDash val="solid"/>
          </a:ln>
        </p:spPr>
      </p:sp>
      <p:sp>
        <p:nvSpPr>
          <p:cNvPr id="24" name="Shape 22"/>
          <p:cNvSpPr/>
          <p:nvPr/>
        </p:nvSpPr>
        <p:spPr>
          <a:xfrm>
            <a:off x="274320" y="1965960"/>
            <a:ext cx="54864" cy="548640"/>
          </a:xfrm>
          <a:prstGeom prst="rect">
            <a:avLst/>
          </a:prstGeom>
          <a:solidFill>
            <a:srgbClr val="F4A261"/>
          </a:solidFill>
          <a:ln w="12700">
            <a:solidFill>
              <a:srgbClr val="F4A261"/>
            </a:solidFill>
            <a:prstDash val="solid"/>
          </a:ln>
        </p:spPr>
      </p:sp>
      <p:sp>
        <p:nvSpPr>
          <p:cNvPr id="25" name="Text 23"/>
          <p:cNvSpPr/>
          <p:nvPr/>
        </p:nvSpPr>
        <p:spPr>
          <a:xfrm>
            <a:off x="384048" y="1965960"/>
            <a:ext cx="1645920" cy="548640"/>
          </a:xfrm>
          <a:prstGeom prst="rect">
            <a:avLst/>
          </a:prstGeom>
          <a:noFill/>
          <a:ln/>
        </p:spPr>
        <p:txBody>
          <a:bodyPr wrap="square" lIns="0" tIns="0" rIns="0" bIns="0" rtlCol="0" anchor="ctr"/>
          <a:lstStyle/>
          <a:p>
            <a:pPr marL="0" indent="0">
              <a:buNone/>
            </a:pPr>
            <a:r>
              <a:rPr lang="en-US" sz="1200" b="1" dirty="0">
                <a:solidFill>
                  <a:srgbClr val="F4A261"/>
                </a:solidFill>
                <a:latin typeface="Trebuchet MS" pitchFamily="34" charset="0"/>
                <a:ea typeface="Trebuchet MS" pitchFamily="34" charset="-122"/>
                <a:cs typeface="Trebuchet MS" pitchFamily="34" charset="-120"/>
              </a:rPr>
              <a:t>provided</a:t>
            </a:r>
            <a:endParaRPr lang="en-US" sz="1200" dirty="0"/>
          </a:p>
        </p:txBody>
      </p:sp>
      <p:sp>
        <p:nvSpPr>
          <p:cNvPr id="26" name="Text 24"/>
          <p:cNvSpPr/>
          <p:nvPr/>
        </p:nvSpPr>
        <p:spPr>
          <a:xfrm>
            <a:off x="2148840" y="1965960"/>
            <a:ext cx="914400" cy="548640"/>
          </a:xfrm>
          <a:prstGeom prst="rect">
            <a:avLst/>
          </a:prstGeom>
          <a:noFill/>
          <a:ln/>
        </p:spPr>
        <p:txBody>
          <a:bodyPr wrap="square" lIns="0" tIns="0" rIns="0" bIns="0" rtlCol="0" anchor="ctr"/>
          <a:lstStyle/>
          <a:p>
            <a:pPr marL="0" indent="0" algn="ctr">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3200400" y="1965960"/>
            <a:ext cx="914400" cy="548640"/>
          </a:xfrm>
          <a:prstGeom prst="rect">
            <a:avLst/>
          </a:prstGeom>
          <a:noFill/>
          <a:ln/>
        </p:spPr>
        <p:txBody>
          <a:bodyPr wrap="square" lIns="0" tIns="0" rIns="0" bIns="0" rtlCol="0" anchor="ctr"/>
          <a:lstStyle/>
          <a:p>
            <a:pPr marL="0" indent="0" algn="ctr">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28" name="Text 26"/>
          <p:cNvSpPr/>
          <p:nvPr/>
        </p:nvSpPr>
        <p:spPr>
          <a:xfrm>
            <a:off x="4251960" y="1965960"/>
            <a:ext cx="914400" cy="548640"/>
          </a:xfrm>
          <a:prstGeom prst="rect">
            <a:avLst/>
          </a:prstGeom>
          <a:noFill/>
          <a:ln/>
        </p:spPr>
        <p:txBody>
          <a:bodyPr wrap="square" lIns="0" tIns="0" rIns="0" bIns="0" rtlCol="0" anchor="ctr"/>
          <a:lstStyle/>
          <a:p>
            <a:pPr marL="0" indent="0" algn="ctr">
              <a:buNone/>
            </a:pPr>
            <a:r>
              <a:rPr lang="en-US" sz="1400" b="1" dirty="0">
                <a:solidFill>
                  <a:srgbClr val="F87171"/>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5029200" y="2011680"/>
            <a:ext cx="3749040" cy="45720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Available at compile/test but NOT bundled. JEE containers (e.g., Tomcat) provide it at runtime.</a:t>
            </a:r>
            <a:endParaRPr lang="en-US" sz="1000" dirty="0"/>
          </a:p>
        </p:txBody>
      </p:sp>
      <p:sp>
        <p:nvSpPr>
          <p:cNvPr id="30" name="Shape 28"/>
          <p:cNvSpPr/>
          <p:nvPr/>
        </p:nvSpPr>
        <p:spPr>
          <a:xfrm>
            <a:off x="274320" y="2542032"/>
            <a:ext cx="8549640" cy="548640"/>
          </a:xfrm>
          <a:prstGeom prst="rect">
            <a:avLst/>
          </a:prstGeom>
          <a:solidFill>
            <a:srgbClr val="1F3A5F"/>
          </a:solidFill>
          <a:ln w="12700">
            <a:solidFill>
              <a:srgbClr val="1F3A5F"/>
            </a:solidFill>
            <a:prstDash val="solid"/>
          </a:ln>
        </p:spPr>
      </p:sp>
      <p:sp>
        <p:nvSpPr>
          <p:cNvPr id="31" name="Shape 29"/>
          <p:cNvSpPr/>
          <p:nvPr/>
        </p:nvSpPr>
        <p:spPr>
          <a:xfrm>
            <a:off x="274320" y="2542032"/>
            <a:ext cx="54864" cy="548640"/>
          </a:xfrm>
          <a:prstGeom prst="rect">
            <a:avLst/>
          </a:prstGeom>
          <a:solidFill>
            <a:srgbClr val="2EC4B6"/>
          </a:solidFill>
          <a:ln w="12700">
            <a:solidFill>
              <a:srgbClr val="2EC4B6"/>
            </a:solidFill>
            <a:prstDash val="solid"/>
          </a:ln>
        </p:spPr>
      </p:sp>
      <p:sp>
        <p:nvSpPr>
          <p:cNvPr id="32" name="Text 30"/>
          <p:cNvSpPr/>
          <p:nvPr/>
        </p:nvSpPr>
        <p:spPr>
          <a:xfrm>
            <a:off x="384048" y="2542032"/>
            <a:ext cx="1645920" cy="548640"/>
          </a:xfrm>
          <a:prstGeom prst="rect">
            <a:avLst/>
          </a:prstGeom>
          <a:noFill/>
          <a:ln/>
        </p:spPr>
        <p:txBody>
          <a:bodyPr wrap="square" lIns="0" tIns="0" rIns="0" bIns="0" rtlCol="0" anchor="ctr"/>
          <a:lstStyle/>
          <a:p>
            <a:pPr marL="0" indent="0">
              <a:buNone/>
            </a:pPr>
            <a:r>
              <a:rPr lang="en-US" sz="1200" b="1" dirty="0">
                <a:solidFill>
                  <a:srgbClr val="2EC4B6"/>
                </a:solidFill>
                <a:latin typeface="Trebuchet MS" pitchFamily="34" charset="0"/>
                <a:ea typeface="Trebuchet MS" pitchFamily="34" charset="-122"/>
                <a:cs typeface="Trebuchet MS" pitchFamily="34" charset="-120"/>
              </a:rPr>
              <a:t>runtime</a:t>
            </a:r>
            <a:endParaRPr lang="en-US" sz="1200" dirty="0"/>
          </a:p>
        </p:txBody>
      </p:sp>
      <p:sp>
        <p:nvSpPr>
          <p:cNvPr id="33" name="Text 31"/>
          <p:cNvSpPr/>
          <p:nvPr/>
        </p:nvSpPr>
        <p:spPr>
          <a:xfrm>
            <a:off x="2148840" y="2542032"/>
            <a:ext cx="914400" cy="548640"/>
          </a:xfrm>
          <a:prstGeom prst="rect">
            <a:avLst/>
          </a:prstGeom>
          <a:noFill/>
          <a:ln/>
        </p:spPr>
        <p:txBody>
          <a:bodyPr wrap="square" lIns="0" tIns="0" rIns="0" bIns="0" rtlCol="0" anchor="ctr"/>
          <a:lstStyle/>
          <a:p>
            <a:pPr marL="0" indent="0" algn="ctr">
              <a:buNone/>
            </a:pPr>
            <a:r>
              <a:rPr lang="en-US" sz="1400" b="1" dirty="0">
                <a:solidFill>
                  <a:srgbClr val="F87171"/>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3200400" y="2542032"/>
            <a:ext cx="914400" cy="548640"/>
          </a:xfrm>
          <a:prstGeom prst="rect">
            <a:avLst/>
          </a:prstGeom>
          <a:noFill/>
          <a:ln/>
        </p:spPr>
        <p:txBody>
          <a:bodyPr wrap="square" lIns="0" tIns="0" rIns="0" bIns="0" rtlCol="0" anchor="ctr"/>
          <a:lstStyle/>
          <a:p>
            <a:pPr marL="0" indent="0" algn="ctr">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35" name="Text 33"/>
          <p:cNvSpPr/>
          <p:nvPr/>
        </p:nvSpPr>
        <p:spPr>
          <a:xfrm>
            <a:off x="4251960" y="2542032"/>
            <a:ext cx="914400" cy="548640"/>
          </a:xfrm>
          <a:prstGeom prst="rect">
            <a:avLst/>
          </a:prstGeom>
          <a:noFill/>
          <a:ln/>
        </p:spPr>
        <p:txBody>
          <a:bodyPr wrap="square" lIns="0" tIns="0" rIns="0" bIns="0" rtlCol="0" anchor="ctr"/>
          <a:lstStyle/>
          <a:p>
            <a:pPr marL="0" indent="0" algn="ctr">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36" name="Text 34"/>
          <p:cNvSpPr/>
          <p:nvPr/>
        </p:nvSpPr>
        <p:spPr>
          <a:xfrm>
            <a:off x="5029200" y="2587752"/>
            <a:ext cx="3749040" cy="45720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Not needed to compile but needed at runtime. JDBC drivers are a typical example.</a:t>
            </a:r>
            <a:endParaRPr lang="en-US" sz="1000" dirty="0"/>
          </a:p>
        </p:txBody>
      </p:sp>
      <p:sp>
        <p:nvSpPr>
          <p:cNvPr id="37" name="Shape 35"/>
          <p:cNvSpPr/>
          <p:nvPr/>
        </p:nvSpPr>
        <p:spPr>
          <a:xfrm>
            <a:off x="274320" y="3118104"/>
            <a:ext cx="8549640" cy="548640"/>
          </a:xfrm>
          <a:prstGeom prst="rect">
            <a:avLst/>
          </a:prstGeom>
          <a:solidFill>
            <a:srgbClr val="1B2A4A"/>
          </a:solidFill>
          <a:ln w="12700">
            <a:solidFill>
              <a:srgbClr val="1B2A4A"/>
            </a:solidFill>
            <a:prstDash val="solid"/>
          </a:ln>
        </p:spPr>
      </p:sp>
      <p:sp>
        <p:nvSpPr>
          <p:cNvPr id="38" name="Shape 36"/>
          <p:cNvSpPr/>
          <p:nvPr/>
        </p:nvSpPr>
        <p:spPr>
          <a:xfrm>
            <a:off x="274320" y="3118104"/>
            <a:ext cx="54864" cy="548640"/>
          </a:xfrm>
          <a:prstGeom prst="rect">
            <a:avLst/>
          </a:prstGeom>
          <a:solidFill>
            <a:srgbClr val="A78BFA"/>
          </a:solidFill>
          <a:ln w="12700">
            <a:solidFill>
              <a:srgbClr val="A78BFA"/>
            </a:solidFill>
            <a:prstDash val="solid"/>
          </a:ln>
        </p:spPr>
      </p:sp>
      <p:sp>
        <p:nvSpPr>
          <p:cNvPr id="39" name="Text 37"/>
          <p:cNvSpPr/>
          <p:nvPr/>
        </p:nvSpPr>
        <p:spPr>
          <a:xfrm>
            <a:off x="384048" y="3118104"/>
            <a:ext cx="1645920" cy="548640"/>
          </a:xfrm>
          <a:prstGeom prst="rect">
            <a:avLst/>
          </a:prstGeom>
          <a:noFill/>
          <a:ln/>
        </p:spPr>
        <p:txBody>
          <a:bodyPr wrap="square" lIns="0" tIns="0" rIns="0" bIns="0" rtlCol="0" anchor="ctr"/>
          <a:lstStyle/>
          <a:p>
            <a:pPr marL="0" indent="0">
              <a:buNone/>
            </a:pPr>
            <a:r>
              <a:rPr lang="en-US" sz="1200" b="1" dirty="0">
                <a:solidFill>
                  <a:srgbClr val="A78BFA"/>
                </a:solidFill>
                <a:latin typeface="Trebuchet MS" pitchFamily="34" charset="0"/>
                <a:ea typeface="Trebuchet MS" pitchFamily="34" charset="-122"/>
                <a:cs typeface="Trebuchet MS" pitchFamily="34" charset="-120"/>
              </a:rPr>
              <a:t>test</a:t>
            </a:r>
            <a:endParaRPr lang="en-US" sz="1200" dirty="0"/>
          </a:p>
        </p:txBody>
      </p:sp>
      <p:sp>
        <p:nvSpPr>
          <p:cNvPr id="40" name="Text 38"/>
          <p:cNvSpPr/>
          <p:nvPr/>
        </p:nvSpPr>
        <p:spPr>
          <a:xfrm>
            <a:off x="2148840" y="3118104"/>
            <a:ext cx="914400" cy="548640"/>
          </a:xfrm>
          <a:prstGeom prst="rect">
            <a:avLst/>
          </a:prstGeom>
          <a:noFill/>
          <a:ln/>
        </p:spPr>
        <p:txBody>
          <a:bodyPr wrap="square" lIns="0" tIns="0" rIns="0" bIns="0" rtlCol="0" anchor="ctr"/>
          <a:lstStyle/>
          <a:p>
            <a:pPr marL="0" indent="0" algn="ctr">
              <a:buNone/>
            </a:pPr>
            <a:r>
              <a:rPr lang="en-US" sz="1400" b="1" dirty="0">
                <a:solidFill>
                  <a:srgbClr val="F87171"/>
                </a:solidFill>
                <a:latin typeface="Calibri" pitchFamily="34" charset="0"/>
                <a:ea typeface="Calibri" pitchFamily="34" charset="-122"/>
                <a:cs typeface="Calibri" pitchFamily="34" charset="-120"/>
              </a:rPr>
              <a:t>✗</a:t>
            </a:r>
            <a:endParaRPr lang="en-US" sz="1400" dirty="0"/>
          </a:p>
        </p:txBody>
      </p:sp>
      <p:sp>
        <p:nvSpPr>
          <p:cNvPr id="41" name="Text 39"/>
          <p:cNvSpPr/>
          <p:nvPr/>
        </p:nvSpPr>
        <p:spPr>
          <a:xfrm>
            <a:off x="3200400" y="3118104"/>
            <a:ext cx="914400" cy="548640"/>
          </a:xfrm>
          <a:prstGeom prst="rect">
            <a:avLst/>
          </a:prstGeom>
          <a:noFill/>
          <a:ln/>
        </p:spPr>
        <p:txBody>
          <a:bodyPr wrap="square" lIns="0" tIns="0" rIns="0" bIns="0" rtlCol="0" anchor="ctr"/>
          <a:lstStyle/>
          <a:p>
            <a:pPr marL="0" indent="0" algn="ctr">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42" name="Text 40"/>
          <p:cNvSpPr/>
          <p:nvPr/>
        </p:nvSpPr>
        <p:spPr>
          <a:xfrm>
            <a:off x="4251960" y="3118104"/>
            <a:ext cx="914400" cy="548640"/>
          </a:xfrm>
          <a:prstGeom prst="rect">
            <a:avLst/>
          </a:prstGeom>
          <a:noFill/>
          <a:ln/>
        </p:spPr>
        <p:txBody>
          <a:bodyPr wrap="square" lIns="0" tIns="0" rIns="0" bIns="0" rtlCol="0" anchor="ctr"/>
          <a:lstStyle/>
          <a:p>
            <a:pPr marL="0" indent="0" algn="ctr">
              <a:buNone/>
            </a:pPr>
            <a:r>
              <a:rPr lang="en-US" sz="1400" b="1" dirty="0">
                <a:solidFill>
                  <a:srgbClr val="F87171"/>
                </a:solidFill>
                <a:latin typeface="Calibri" pitchFamily="34" charset="0"/>
                <a:ea typeface="Calibri" pitchFamily="34" charset="-122"/>
                <a:cs typeface="Calibri" pitchFamily="34" charset="-120"/>
              </a:rPr>
              <a:t>✗</a:t>
            </a:r>
            <a:endParaRPr lang="en-US" sz="1400" dirty="0"/>
          </a:p>
        </p:txBody>
      </p:sp>
      <p:sp>
        <p:nvSpPr>
          <p:cNvPr id="43" name="Text 41"/>
          <p:cNvSpPr/>
          <p:nvPr/>
        </p:nvSpPr>
        <p:spPr>
          <a:xfrm>
            <a:off x="5029200" y="3163824"/>
            <a:ext cx="3749040" cy="45720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Only for test compilation and execution. JUnit, Mockito are declared test scope.</a:t>
            </a:r>
            <a:endParaRPr lang="en-US" sz="1000" dirty="0"/>
          </a:p>
        </p:txBody>
      </p:sp>
      <p:sp>
        <p:nvSpPr>
          <p:cNvPr id="44" name="Shape 42"/>
          <p:cNvSpPr/>
          <p:nvPr/>
        </p:nvSpPr>
        <p:spPr>
          <a:xfrm>
            <a:off x="274320" y="3694176"/>
            <a:ext cx="8549640" cy="548640"/>
          </a:xfrm>
          <a:prstGeom prst="rect">
            <a:avLst/>
          </a:prstGeom>
          <a:solidFill>
            <a:srgbClr val="1F3A5F"/>
          </a:solidFill>
          <a:ln w="12700">
            <a:solidFill>
              <a:srgbClr val="1F3A5F"/>
            </a:solidFill>
            <a:prstDash val="solid"/>
          </a:ln>
        </p:spPr>
      </p:sp>
      <p:sp>
        <p:nvSpPr>
          <p:cNvPr id="45" name="Shape 43"/>
          <p:cNvSpPr/>
          <p:nvPr/>
        </p:nvSpPr>
        <p:spPr>
          <a:xfrm>
            <a:off x="274320" y="3694176"/>
            <a:ext cx="54864" cy="548640"/>
          </a:xfrm>
          <a:prstGeom prst="rect">
            <a:avLst/>
          </a:prstGeom>
          <a:solidFill>
            <a:srgbClr val="F87171"/>
          </a:solidFill>
          <a:ln w="12700">
            <a:solidFill>
              <a:srgbClr val="F87171"/>
            </a:solidFill>
            <a:prstDash val="solid"/>
          </a:ln>
        </p:spPr>
      </p:sp>
      <p:sp>
        <p:nvSpPr>
          <p:cNvPr id="46" name="Text 44"/>
          <p:cNvSpPr/>
          <p:nvPr/>
        </p:nvSpPr>
        <p:spPr>
          <a:xfrm>
            <a:off x="384048" y="3694176"/>
            <a:ext cx="1645920" cy="548640"/>
          </a:xfrm>
          <a:prstGeom prst="rect">
            <a:avLst/>
          </a:prstGeom>
          <a:noFill/>
          <a:ln/>
        </p:spPr>
        <p:txBody>
          <a:bodyPr wrap="square" lIns="0" tIns="0" rIns="0" bIns="0" rtlCol="0" anchor="ctr"/>
          <a:lstStyle/>
          <a:p>
            <a:pPr marL="0" indent="0">
              <a:buNone/>
            </a:pPr>
            <a:r>
              <a:rPr lang="en-US" sz="1200" b="1" dirty="0">
                <a:solidFill>
                  <a:srgbClr val="F87171"/>
                </a:solidFill>
                <a:latin typeface="Trebuchet MS" pitchFamily="34" charset="0"/>
                <a:ea typeface="Trebuchet MS" pitchFamily="34" charset="-122"/>
                <a:cs typeface="Trebuchet MS" pitchFamily="34" charset="-120"/>
              </a:rPr>
              <a:t>system</a:t>
            </a:r>
            <a:endParaRPr lang="en-US" sz="1200" dirty="0"/>
          </a:p>
        </p:txBody>
      </p:sp>
      <p:sp>
        <p:nvSpPr>
          <p:cNvPr id="47" name="Text 45"/>
          <p:cNvSpPr/>
          <p:nvPr/>
        </p:nvSpPr>
        <p:spPr>
          <a:xfrm>
            <a:off x="2148840" y="3694176"/>
            <a:ext cx="914400" cy="548640"/>
          </a:xfrm>
          <a:prstGeom prst="rect">
            <a:avLst/>
          </a:prstGeom>
          <a:noFill/>
          <a:ln/>
        </p:spPr>
        <p:txBody>
          <a:bodyPr wrap="square" lIns="0" tIns="0" rIns="0" bIns="0" rtlCol="0" anchor="ctr"/>
          <a:lstStyle/>
          <a:p>
            <a:pPr marL="0" indent="0" algn="ctr">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48" name="Text 46"/>
          <p:cNvSpPr/>
          <p:nvPr/>
        </p:nvSpPr>
        <p:spPr>
          <a:xfrm>
            <a:off x="3200400" y="3694176"/>
            <a:ext cx="914400" cy="548640"/>
          </a:xfrm>
          <a:prstGeom prst="rect">
            <a:avLst/>
          </a:prstGeom>
          <a:noFill/>
          <a:ln/>
        </p:spPr>
        <p:txBody>
          <a:bodyPr wrap="square" lIns="0" tIns="0" rIns="0" bIns="0" rtlCol="0" anchor="ctr"/>
          <a:lstStyle/>
          <a:p>
            <a:pPr marL="0" indent="0" algn="ctr">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49" name="Text 47"/>
          <p:cNvSpPr/>
          <p:nvPr/>
        </p:nvSpPr>
        <p:spPr>
          <a:xfrm>
            <a:off x="4251960" y="3694176"/>
            <a:ext cx="914400" cy="548640"/>
          </a:xfrm>
          <a:prstGeom prst="rect">
            <a:avLst/>
          </a:prstGeom>
          <a:noFill/>
          <a:ln/>
        </p:spPr>
        <p:txBody>
          <a:bodyPr wrap="square" lIns="0" tIns="0" rIns="0" bIns="0" rtlCol="0" anchor="ctr"/>
          <a:lstStyle/>
          <a:p>
            <a:pPr marL="0" indent="0" algn="ctr">
              <a:buNone/>
            </a:pPr>
            <a:r>
              <a:rPr lang="en-US" sz="1400" b="1" dirty="0">
                <a:solidFill>
                  <a:srgbClr val="F87171"/>
                </a:solidFill>
                <a:latin typeface="Calibri" pitchFamily="34" charset="0"/>
                <a:ea typeface="Calibri" pitchFamily="34" charset="-122"/>
                <a:cs typeface="Calibri" pitchFamily="34" charset="-120"/>
              </a:rPr>
              <a:t>✗</a:t>
            </a:r>
            <a:endParaRPr lang="en-US" sz="1400" dirty="0"/>
          </a:p>
        </p:txBody>
      </p:sp>
      <p:sp>
        <p:nvSpPr>
          <p:cNvPr id="50" name="Text 48"/>
          <p:cNvSpPr/>
          <p:nvPr/>
        </p:nvSpPr>
        <p:spPr>
          <a:xfrm>
            <a:off x="5029200" y="3739896"/>
            <a:ext cx="3749040" cy="45720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Like provided but references a JAR via explicit path. Discouraged — not portable.</a:t>
            </a:r>
            <a:endParaRPr lang="en-US" sz="1000" dirty="0"/>
          </a:p>
        </p:txBody>
      </p:sp>
      <p:sp>
        <p:nvSpPr>
          <p:cNvPr id="51" name="Shape 49"/>
          <p:cNvSpPr/>
          <p:nvPr/>
        </p:nvSpPr>
        <p:spPr>
          <a:xfrm>
            <a:off x="274320" y="4270248"/>
            <a:ext cx="8549640" cy="548640"/>
          </a:xfrm>
          <a:prstGeom prst="rect">
            <a:avLst/>
          </a:prstGeom>
          <a:solidFill>
            <a:srgbClr val="1B2A4A"/>
          </a:solidFill>
          <a:ln w="12700">
            <a:solidFill>
              <a:srgbClr val="1B2A4A"/>
            </a:solidFill>
            <a:prstDash val="solid"/>
          </a:ln>
        </p:spPr>
      </p:sp>
      <p:sp>
        <p:nvSpPr>
          <p:cNvPr id="52" name="Shape 50"/>
          <p:cNvSpPr/>
          <p:nvPr/>
        </p:nvSpPr>
        <p:spPr>
          <a:xfrm>
            <a:off x="274320" y="4270248"/>
            <a:ext cx="54864" cy="548640"/>
          </a:xfrm>
          <a:prstGeom prst="rect">
            <a:avLst/>
          </a:prstGeom>
          <a:solidFill>
            <a:srgbClr val="94A3B8"/>
          </a:solidFill>
          <a:ln w="12700">
            <a:solidFill>
              <a:srgbClr val="94A3B8"/>
            </a:solidFill>
            <a:prstDash val="solid"/>
          </a:ln>
        </p:spPr>
      </p:sp>
      <p:sp>
        <p:nvSpPr>
          <p:cNvPr id="53" name="Text 51"/>
          <p:cNvSpPr/>
          <p:nvPr/>
        </p:nvSpPr>
        <p:spPr>
          <a:xfrm>
            <a:off x="384048" y="4270248"/>
            <a:ext cx="1645920" cy="548640"/>
          </a:xfrm>
          <a:prstGeom prst="rect">
            <a:avLst/>
          </a:prstGeom>
          <a:noFill/>
          <a:ln/>
        </p:spPr>
        <p:txBody>
          <a:bodyPr wrap="square" lIns="0" tIns="0" rIns="0" bIns="0" rtlCol="0" anchor="ctr"/>
          <a:lstStyle/>
          <a:p>
            <a:pPr marL="0" indent="0">
              <a:buNone/>
            </a:pPr>
            <a:r>
              <a:rPr lang="en-US" sz="1200" b="1" dirty="0">
                <a:solidFill>
                  <a:srgbClr val="94A3B8"/>
                </a:solidFill>
                <a:latin typeface="Trebuchet MS" pitchFamily="34" charset="0"/>
                <a:ea typeface="Trebuchet MS" pitchFamily="34" charset="-122"/>
                <a:cs typeface="Trebuchet MS" pitchFamily="34" charset="-120"/>
              </a:rPr>
              <a:t>import</a:t>
            </a:r>
            <a:endParaRPr lang="en-US" sz="1200" dirty="0"/>
          </a:p>
        </p:txBody>
      </p:sp>
      <p:sp>
        <p:nvSpPr>
          <p:cNvPr id="54" name="Text 52"/>
          <p:cNvSpPr/>
          <p:nvPr/>
        </p:nvSpPr>
        <p:spPr>
          <a:xfrm>
            <a:off x="2148840" y="4270248"/>
            <a:ext cx="914400" cy="548640"/>
          </a:xfrm>
          <a:prstGeom prst="rect">
            <a:avLst/>
          </a:prstGeom>
          <a:noFill/>
          <a:ln/>
        </p:spPr>
        <p:txBody>
          <a:bodyPr wrap="square" lIns="0" tIns="0" rIns="0" bIns="0" rtlCol="0" anchor="ctr"/>
          <a:lstStyle/>
          <a:p>
            <a:pPr marL="0" indent="0" algn="ctr">
              <a:buNone/>
            </a:pPr>
            <a:r>
              <a:rPr lang="en-US" sz="1400" b="1" dirty="0">
                <a:solidFill>
                  <a:srgbClr val="94A3B8"/>
                </a:solidFill>
                <a:latin typeface="Calibri" pitchFamily="34" charset="0"/>
                <a:ea typeface="Calibri" pitchFamily="34" charset="-122"/>
                <a:cs typeface="Calibri" pitchFamily="34" charset="-120"/>
              </a:rPr>
              <a:t>–</a:t>
            </a:r>
            <a:endParaRPr lang="en-US" sz="1400" dirty="0"/>
          </a:p>
        </p:txBody>
      </p:sp>
      <p:sp>
        <p:nvSpPr>
          <p:cNvPr id="55" name="Text 53"/>
          <p:cNvSpPr/>
          <p:nvPr/>
        </p:nvSpPr>
        <p:spPr>
          <a:xfrm>
            <a:off x="3200400" y="4270248"/>
            <a:ext cx="914400" cy="548640"/>
          </a:xfrm>
          <a:prstGeom prst="rect">
            <a:avLst/>
          </a:prstGeom>
          <a:noFill/>
          <a:ln/>
        </p:spPr>
        <p:txBody>
          <a:bodyPr wrap="square" lIns="0" tIns="0" rIns="0" bIns="0" rtlCol="0" anchor="ctr"/>
          <a:lstStyle/>
          <a:p>
            <a:pPr marL="0" indent="0" algn="ctr">
              <a:buNone/>
            </a:pPr>
            <a:r>
              <a:rPr lang="en-US" sz="1400" b="1" dirty="0">
                <a:solidFill>
                  <a:srgbClr val="94A3B8"/>
                </a:solidFill>
                <a:latin typeface="Calibri" pitchFamily="34" charset="0"/>
                <a:ea typeface="Calibri" pitchFamily="34" charset="-122"/>
                <a:cs typeface="Calibri" pitchFamily="34" charset="-120"/>
              </a:rPr>
              <a:t>–</a:t>
            </a:r>
            <a:endParaRPr lang="en-US" sz="1400" dirty="0"/>
          </a:p>
        </p:txBody>
      </p:sp>
      <p:sp>
        <p:nvSpPr>
          <p:cNvPr id="56" name="Text 54"/>
          <p:cNvSpPr/>
          <p:nvPr/>
        </p:nvSpPr>
        <p:spPr>
          <a:xfrm>
            <a:off x="4251960" y="4270248"/>
            <a:ext cx="914400" cy="548640"/>
          </a:xfrm>
          <a:prstGeom prst="rect">
            <a:avLst/>
          </a:prstGeom>
          <a:noFill/>
          <a:ln/>
        </p:spPr>
        <p:txBody>
          <a:bodyPr wrap="square" lIns="0" tIns="0" rIns="0" bIns="0" rtlCol="0" anchor="ctr"/>
          <a:lstStyle/>
          <a:p>
            <a:pPr marL="0" indent="0" algn="ctr">
              <a:buNone/>
            </a:pPr>
            <a:r>
              <a:rPr lang="en-US" sz="1400" b="1" dirty="0">
                <a:solidFill>
                  <a:srgbClr val="94A3B8"/>
                </a:solidFill>
                <a:latin typeface="Calibri" pitchFamily="34" charset="0"/>
                <a:ea typeface="Calibri" pitchFamily="34" charset="-122"/>
                <a:cs typeface="Calibri" pitchFamily="34" charset="-120"/>
              </a:rPr>
              <a:t>–</a:t>
            </a:r>
            <a:endParaRPr lang="en-US" sz="1400" dirty="0"/>
          </a:p>
        </p:txBody>
      </p:sp>
      <p:sp>
        <p:nvSpPr>
          <p:cNvPr id="57" name="Text 55"/>
          <p:cNvSpPr/>
          <p:nvPr/>
        </p:nvSpPr>
        <p:spPr>
          <a:xfrm>
            <a:off x="5029200" y="4315968"/>
            <a:ext cx="3749040" cy="45720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Only for &lt;dependencyManagement&gt;. Imports a BOM (Bill of Materials) from another POM.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Shape 1"/>
          <p:cNvSpPr/>
          <p:nvPr/>
        </p:nvSpPr>
        <p:spPr>
          <a:xfrm>
            <a:off x="0" y="777240"/>
            <a:ext cx="9144000" cy="36576"/>
          </a:xfrm>
          <a:prstGeom prst="rect">
            <a:avLst/>
          </a:prstGeom>
          <a:solidFill>
            <a:srgbClr val="0096C7"/>
          </a:solidFill>
          <a:ln w="12700">
            <a:solidFill>
              <a:srgbClr val="0096C7"/>
            </a:solidFill>
            <a:prstDash val="solid"/>
          </a:ln>
        </p:spPr>
      </p:sp>
      <p:sp>
        <p:nvSpPr>
          <p:cNvPr id="4" name="Text 2"/>
          <p:cNvSpPr/>
          <p:nvPr/>
        </p:nvSpPr>
        <p:spPr>
          <a:xfrm>
            <a:off x="365760" y="9144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Transitive Dependencies &amp; Version Conflicts</a:t>
            </a:r>
            <a:endParaRPr lang="en-US" sz="2400" dirty="0"/>
          </a:p>
        </p:txBody>
      </p:sp>
      <p:sp>
        <p:nvSpPr>
          <p:cNvPr id="5" name="Text 3"/>
          <p:cNvSpPr/>
          <p:nvPr/>
        </p:nvSpPr>
        <p:spPr>
          <a:xfrm>
            <a:off x="365760" y="566928"/>
            <a:ext cx="7315200" cy="228600"/>
          </a:xfrm>
          <a:prstGeom prst="rect">
            <a:avLst/>
          </a:prstGeom>
          <a:noFill/>
          <a:ln/>
        </p:spPr>
        <p:txBody>
          <a:bodyPr wrap="square" lIns="0" tIns="0" rIns="0" bIns="0" rtlCol="0" anchor="ctr"/>
          <a:lstStyle/>
          <a:p>
            <a:pPr marL="0" indent="0">
              <a:buNone/>
            </a:pPr>
            <a:r>
              <a:rPr lang="en-US" sz="1100" i="1" dirty="0">
                <a:solidFill>
                  <a:srgbClr val="0096C7"/>
                </a:solidFill>
                <a:latin typeface="Calibri" pitchFamily="34" charset="0"/>
                <a:ea typeface="Calibri" pitchFamily="34" charset="-122"/>
                <a:cs typeface="Calibri" pitchFamily="34" charset="-120"/>
              </a:rPr>
              <a:t>How Maven resolves the dependency graph</a:t>
            </a:r>
            <a:endParaRPr lang="en-US" sz="1100" dirty="0"/>
          </a:p>
        </p:txBody>
      </p:sp>
      <p:sp>
        <p:nvSpPr>
          <p:cNvPr id="6" name="Shape 4"/>
          <p:cNvSpPr/>
          <p:nvPr/>
        </p:nvSpPr>
        <p:spPr>
          <a:xfrm>
            <a:off x="274320" y="960120"/>
            <a:ext cx="4023360" cy="3931920"/>
          </a:xfrm>
          <a:prstGeom prst="rect">
            <a:avLst/>
          </a:prstGeom>
          <a:solidFill>
            <a:srgbClr val="1B2A4A"/>
          </a:solidFill>
          <a:ln w="12700">
            <a:solidFill>
              <a:srgbClr val="1B2A4A"/>
            </a:solidFill>
            <a:prstDash val="solid"/>
          </a:ln>
        </p:spPr>
      </p:sp>
      <p:sp>
        <p:nvSpPr>
          <p:cNvPr id="7" name="Text 5"/>
          <p:cNvSpPr/>
          <p:nvPr/>
        </p:nvSpPr>
        <p:spPr>
          <a:xfrm>
            <a:off x="411480" y="1024128"/>
            <a:ext cx="3749040" cy="274320"/>
          </a:xfrm>
          <a:prstGeom prst="rect">
            <a:avLst/>
          </a:prstGeom>
          <a:noFill/>
          <a:ln/>
        </p:spPr>
        <p:txBody>
          <a:bodyPr wrap="square" lIns="0" tIns="0" rIns="0" bIns="0" rtlCol="0" anchor="ctr"/>
          <a:lstStyle/>
          <a:p>
            <a:pPr marL="0" indent="0">
              <a:buNone/>
            </a:pPr>
            <a:r>
              <a:rPr lang="en-US" sz="1300" b="1" dirty="0">
                <a:solidFill>
                  <a:srgbClr val="F4A261"/>
                </a:solidFill>
                <a:latin typeface="Trebuchet MS" pitchFamily="34" charset="0"/>
                <a:ea typeface="Trebuchet MS" pitchFamily="34" charset="-122"/>
                <a:cs typeface="Trebuchet MS" pitchFamily="34" charset="-120"/>
              </a:rPr>
              <a:t>Transitive Dependencies</a:t>
            </a:r>
            <a:endParaRPr lang="en-US" sz="1300" dirty="0"/>
          </a:p>
        </p:txBody>
      </p:sp>
      <p:sp>
        <p:nvSpPr>
          <p:cNvPr id="8" name="Text 6"/>
          <p:cNvSpPr/>
          <p:nvPr/>
        </p:nvSpPr>
        <p:spPr>
          <a:xfrm>
            <a:off x="411480" y="1325880"/>
            <a:ext cx="3749040" cy="82296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When you declare A→B, Maven automatically pulls in all of B's dependencies (B→C, C→D ...). You get the full tree without manually declaring each transitive dep.</a:t>
            </a:r>
            <a:endParaRPr lang="en-US" sz="1100" dirty="0"/>
          </a:p>
        </p:txBody>
      </p:sp>
      <p:sp>
        <p:nvSpPr>
          <p:cNvPr id="9" name="Text 7"/>
          <p:cNvSpPr/>
          <p:nvPr/>
        </p:nvSpPr>
        <p:spPr>
          <a:xfrm>
            <a:off x="411480" y="2240280"/>
            <a:ext cx="3749040" cy="274320"/>
          </a:xfrm>
          <a:prstGeom prst="rect">
            <a:avLst/>
          </a:prstGeom>
          <a:noFill/>
          <a:ln/>
        </p:spPr>
        <p:txBody>
          <a:bodyPr wrap="square" lIns="0" tIns="0" rIns="0" bIns="0" rtlCol="0" anchor="ctr"/>
          <a:lstStyle/>
          <a:p>
            <a:pPr marL="0" indent="0">
              <a:buNone/>
            </a:pPr>
            <a:r>
              <a:rPr lang="en-US" sz="1300" b="1" dirty="0">
                <a:solidFill>
                  <a:srgbClr val="0096C7"/>
                </a:solidFill>
                <a:latin typeface="Trebuchet MS" pitchFamily="34" charset="0"/>
                <a:ea typeface="Trebuchet MS" pitchFamily="34" charset="-122"/>
                <a:cs typeface="Trebuchet MS" pitchFamily="34" charset="-120"/>
              </a:rPr>
              <a:t>Conflict Resolution — Nearest Wins</a:t>
            </a:r>
            <a:endParaRPr lang="en-US" sz="1300" dirty="0"/>
          </a:p>
        </p:txBody>
      </p:sp>
      <p:sp>
        <p:nvSpPr>
          <p:cNvPr id="10" name="Text 8"/>
          <p:cNvSpPr/>
          <p:nvPr/>
        </p:nvSpPr>
        <p:spPr>
          <a:xfrm>
            <a:off x="411480" y="2542032"/>
            <a:ext cx="3749040" cy="73152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If two paths lead to the same artifact with different versions, Maven picks the version closest to the project root in the dependency tree (shortest path).</a:t>
            </a:r>
            <a:endParaRPr lang="en-US" sz="1100" dirty="0"/>
          </a:p>
        </p:txBody>
      </p:sp>
      <p:sp>
        <p:nvSpPr>
          <p:cNvPr id="11" name="Text 9"/>
          <p:cNvSpPr/>
          <p:nvPr/>
        </p:nvSpPr>
        <p:spPr>
          <a:xfrm>
            <a:off x="411480" y="3337560"/>
            <a:ext cx="3749040" cy="228600"/>
          </a:xfrm>
          <a:prstGeom prst="rect">
            <a:avLst/>
          </a:prstGeom>
          <a:noFill/>
          <a:ln/>
        </p:spPr>
        <p:txBody>
          <a:bodyPr wrap="square" lIns="0" tIns="0" rIns="0" bIns="0" rtlCol="0" anchor="ctr"/>
          <a:lstStyle/>
          <a:p>
            <a:pPr marL="0" indent="0">
              <a:buNone/>
            </a:pPr>
            <a:r>
              <a:rPr lang="en-US" sz="1200" b="1" dirty="0">
                <a:solidFill>
                  <a:srgbClr val="F4A261"/>
                </a:solidFill>
                <a:latin typeface="Trebuchet MS" pitchFamily="34" charset="0"/>
                <a:ea typeface="Trebuchet MS" pitchFamily="34" charset="-122"/>
                <a:cs typeface="Trebuchet MS" pitchFamily="34" charset="-120"/>
              </a:rPr>
              <a:t>Solutions:</a:t>
            </a:r>
            <a:endParaRPr lang="en-US" sz="1200" dirty="0"/>
          </a:p>
        </p:txBody>
      </p:sp>
      <p:sp>
        <p:nvSpPr>
          <p:cNvPr id="12" name="Text 10"/>
          <p:cNvSpPr/>
          <p:nvPr/>
        </p:nvSpPr>
        <p:spPr>
          <a:xfrm>
            <a:off x="411480" y="3584448"/>
            <a:ext cx="3657600" cy="1188720"/>
          </a:xfrm>
          <a:prstGeom prst="rect">
            <a:avLst/>
          </a:prstGeom>
          <a:noFill/>
          <a:ln/>
        </p:spPr>
        <p:txBody>
          <a:bodyPr wrap="square" lIns="0" tIns="0" rIns="0" bIns="0" rtlCol="0" anchor="ctr"/>
          <a:lstStyle/>
          <a:p>
            <a:pPr marL="342900" indent="-342900">
              <a:buSzPct val="100000"/>
              <a:buChar char="•"/>
            </a:pPr>
            <a:r>
              <a:rPr lang="en-US" sz="1050" dirty="0">
                <a:solidFill>
                  <a:srgbClr val="EFF6FF"/>
                </a:solidFill>
                <a:latin typeface="Calibri" pitchFamily="34" charset="0"/>
                <a:ea typeface="Calibri" pitchFamily="34" charset="-122"/>
                <a:cs typeface="Calibri" pitchFamily="34" charset="-120"/>
              </a:rPr>
              <a:t>Explicit direct dependency declaration</a:t>
            </a:r>
            <a:endParaRPr lang="en-US" sz="1050" dirty="0"/>
          </a:p>
          <a:p>
            <a:pPr marL="342900" indent="-342900">
              <a:buSzPct val="100000"/>
              <a:buChar char="•"/>
            </a:pPr>
            <a:r>
              <a:rPr lang="en-US" sz="1050" dirty="0">
                <a:solidFill>
                  <a:srgbClr val="EFF6FF"/>
                </a:solidFill>
                <a:latin typeface="Calibri" pitchFamily="34" charset="0"/>
                <a:ea typeface="Calibri" pitchFamily="34" charset="-122"/>
                <a:cs typeface="Calibri" pitchFamily="34" charset="-120"/>
              </a:rPr>
              <a:t>&lt;exclusions&gt; to remove unwanted transitives</a:t>
            </a:r>
            <a:endParaRPr lang="en-US" sz="1050" dirty="0"/>
          </a:p>
          <a:p>
            <a:pPr marL="342900" indent="-342900">
              <a:buSzPct val="100000"/>
              <a:buChar char="•"/>
            </a:pPr>
            <a:r>
              <a:rPr lang="en-US" sz="1050" dirty="0">
                <a:solidFill>
                  <a:srgbClr val="EFF6FF"/>
                </a:solidFill>
                <a:latin typeface="Calibri" pitchFamily="34" charset="0"/>
                <a:ea typeface="Calibri" pitchFamily="34" charset="-122"/>
                <a:cs typeface="Calibri" pitchFamily="34" charset="-120"/>
              </a:rPr>
              <a:t>&lt;dependencyManagement&gt; to enforce a version</a:t>
            </a:r>
            <a:endParaRPr lang="en-US" sz="1050" dirty="0"/>
          </a:p>
          <a:p>
            <a:pPr marL="342900" indent="-342900">
              <a:buSzPct val="100000"/>
              <a:buChar char="•"/>
            </a:pPr>
            <a:r>
              <a:rPr lang="en-US" sz="1050" dirty="0">
                <a:solidFill>
                  <a:srgbClr val="EFF6FF"/>
                </a:solidFill>
                <a:latin typeface="Calibri" pitchFamily="34" charset="0"/>
                <a:ea typeface="Calibri" pitchFamily="34" charset="-122"/>
                <a:cs typeface="Calibri" pitchFamily="34" charset="-120"/>
              </a:rPr>
              <a:t>BOM (Bill of Materials) import</a:t>
            </a:r>
            <a:endParaRPr lang="en-US" sz="1050" dirty="0"/>
          </a:p>
        </p:txBody>
      </p:sp>
      <p:sp>
        <p:nvSpPr>
          <p:cNvPr id="13" name="Shape 11"/>
          <p:cNvSpPr/>
          <p:nvPr/>
        </p:nvSpPr>
        <p:spPr>
          <a:xfrm>
            <a:off x="4572000" y="960120"/>
            <a:ext cx="4297680" cy="3931920"/>
          </a:xfrm>
          <a:prstGeom prst="rect">
            <a:avLst/>
          </a:prstGeom>
          <a:solidFill>
            <a:srgbClr val="0A1628"/>
          </a:solidFill>
          <a:ln w="12700">
            <a:solidFill>
              <a:srgbClr val="0096C7"/>
            </a:solidFill>
            <a:prstDash val="solid"/>
          </a:ln>
        </p:spPr>
      </p:sp>
      <p:sp>
        <p:nvSpPr>
          <p:cNvPr id="14" name="Text 12"/>
          <p:cNvSpPr/>
          <p:nvPr/>
        </p:nvSpPr>
        <p:spPr>
          <a:xfrm>
            <a:off x="4709160" y="1005840"/>
            <a:ext cx="4023360" cy="256032"/>
          </a:xfrm>
          <a:prstGeom prst="rect">
            <a:avLst/>
          </a:prstGeom>
          <a:noFill/>
          <a:ln/>
        </p:spPr>
        <p:txBody>
          <a:bodyPr wrap="square" lIns="0" tIns="0" rIns="0" bIns="0" rtlCol="0" anchor="ctr"/>
          <a:lstStyle/>
          <a:p>
            <a:pPr marL="0" indent="0">
              <a:buNone/>
            </a:pPr>
            <a:r>
              <a:rPr lang="en-US" sz="1100" b="1" dirty="0">
                <a:solidFill>
                  <a:srgbClr val="0096C7"/>
                </a:solidFill>
                <a:latin typeface="Trebuchet MS" pitchFamily="34" charset="0"/>
                <a:ea typeface="Trebuchet MS" pitchFamily="34" charset="-122"/>
                <a:cs typeface="Trebuchet MS" pitchFamily="34" charset="-120"/>
              </a:rPr>
              <a:t>Excluding a Transitive Dep:</a:t>
            </a:r>
            <a:endParaRPr lang="en-US" sz="1100" dirty="0"/>
          </a:p>
        </p:txBody>
      </p:sp>
      <p:sp>
        <p:nvSpPr>
          <p:cNvPr id="15" name="Text 13"/>
          <p:cNvSpPr/>
          <p:nvPr/>
        </p:nvSpPr>
        <p:spPr>
          <a:xfrm>
            <a:off x="4709160" y="1325880"/>
            <a:ext cx="4023360" cy="3474720"/>
          </a:xfrm>
          <a:prstGeom prst="rect">
            <a:avLst/>
          </a:prstGeom>
          <a:noFill/>
          <a:ln/>
        </p:spPr>
        <p:txBody>
          <a:bodyPr wrap="square" lIns="0" tIns="0" rIns="0" bIns="0" rtlCol="0" anchor="ctr"/>
          <a:lstStyle/>
          <a:p>
            <a:pPr marL="0" indent="0">
              <a:buNone/>
            </a:pPr>
            <a:r>
              <a:rPr lang="en-US" sz="1000" dirty="0">
                <a:solidFill>
                  <a:srgbClr val="0096C7"/>
                </a:solidFill>
                <a:latin typeface="Consolas" pitchFamily="34" charset="0"/>
                <a:ea typeface="Consolas" pitchFamily="34" charset="-122"/>
                <a:cs typeface="Consolas" pitchFamily="34" charset="-120"/>
              </a:rPr>
              <a:t>&lt;dependency&gt;</a:t>
            </a:r>
            <a:endParaRPr lang="en-US" sz="1000" dirty="0"/>
          </a:p>
          <a:p>
            <a:pPr marL="0" indent="0">
              <a:buNone/>
            </a:pPr>
            <a:r>
              <a:rPr lang="en-US" sz="1000" dirty="0">
                <a:solidFill>
                  <a:srgbClr val="7EC8E3"/>
                </a:solidFill>
                <a:latin typeface="Consolas" pitchFamily="34" charset="0"/>
                <a:ea typeface="Consolas" pitchFamily="34" charset="-122"/>
                <a:cs typeface="Consolas" pitchFamily="34" charset="-120"/>
              </a:rPr>
              <a:t>  &lt;groupId&gt;com.example&lt;/groupId&gt;</a:t>
            </a:r>
            <a:endParaRPr lang="en-US" sz="1000" dirty="0"/>
          </a:p>
          <a:p>
            <a:pPr marL="0" indent="0">
              <a:buNone/>
            </a:pPr>
            <a:r>
              <a:rPr lang="en-US" sz="1000" dirty="0">
                <a:solidFill>
                  <a:srgbClr val="7EC8E3"/>
                </a:solidFill>
                <a:latin typeface="Consolas" pitchFamily="34" charset="0"/>
                <a:ea typeface="Consolas" pitchFamily="34" charset="-122"/>
                <a:cs typeface="Consolas" pitchFamily="34" charset="-120"/>
              </a:rPr>
              <a:t>  &lt;artifactId&gt;lib-a&lt;/artifactId&gt;</a:t>
            </a:r>
            <a:endParaRPr lang="en-US" sz="1000" dirty="0"/>
          </a:p>
          <a:p>
            <a:pPr marL="0" indent="0">
              <a:buNone/>
            </a:pPr>
            <a:r>
              <a:rPr lang="en-US" sz="1000" dirty="0">
                <a:solidFill>
                  <a:srgbClr val="7EC8E3"/>
                </a:solidFill>
                <a:latin typeface="Consolas" pitchFamily="34" charset="0"/>
                <a:ea typeface="Consolas" pitchFamily="34" charset="-122"/>
                <a:cs typeface="Consolas" pitchFamily="34" charset="-120"/>
              </a:rPr>
              <a:t>  &lt;exclusions&gt;</a:t>
            </a:r>
            <a:endParaRPr lang="en-US" sz="1000" dirty="0"/>
          </a:p>
          <a:p>
            <a:pPr marL="0" indent="0">
              <a:buNone/>
            </a:pPr>
            <a:r>
              <a:rPr lang="en-US" sz="1000" dirty="0">
                <a:solidFill>
                  <a:srgbClr val="94D2BD"/>
                </a:solidFill>
                <a:latin typeface="Consolas" pitchFamily="34" charset="0"/>
                <a:ea typeface="Consolas" pitchFamily="34" charset="-122"/>
                <a:cs typeface="Consolas" pitchFamily="34" charset="-120"/>
              </a:rPr>
              <a:t>    &lt;exclusion&gt;</a:t>
            </a:r>
            <a:endParaRPr lang="en-US" sz="1000" dirty="0"/>
          </a:p>
          <a:p>
            <a:pPr marL="0" indent="0">
              <a:buNone/>
            </a:pPr>
            <a:r>
              <a:rPr lang="en-US" sz="1000" dirty="0">
                <a:solidFill>
                  <a:srgbClr val="94A3B8"/>
                </a:solidFill>
                <a:latin typeface="Consolas" pitchFamily="34" charset="0"/>
                <a:ea typeface="Consolas" pitchFamily="34" charset="-122"/>
                <a:cs typeface="Consolas" pitchFamily="34" charset="-120"/>
              </a:rPr>
              <a:t>      &lt;groupId&gt;com.bad&lt;/groupId&gt;</a:t>
            </a:r>
            <a:endParaRPr lang="en-US" sz="1000" dirty="0"/>
          </a:p>
          <a:p>
            <a:pPr marL="0" indent="0">
              <a:buNone/>
            </a:pPr>
            <a:r>
              <a:rPr lang="en-US" sz="1000" dirty="0">
                <a:solidFill>
                  <a:srgbClr val="94A3B8"/>
                </a:solidFill>
                <a:latin typeface="Consolas" pitchFamily="34" charset="0"/>
                <a:ea typeface="Consolas" pitchFamily="34" charset="-122"/>
                <a:cs typeface="Consolas" pitchFamily="34" charset="-120"/>
              </a:rPr>
              <a:t>      &lt;artifactId&gt;old-lib&lt;/artifactId&gt;</a:t>
            </a:r>
            <a:endParaRPr lang="en-US" sz="1000" dirty="0"/>
          </a:p>
          <a:p>
            <a:pPr marL="0" indent="0">
              <a:buNone/>
            </a:pPr>
            <a:r>
              <a:rPr lang="en-US" sz="1000" dirty="0">
                <a:solidFill>
                  <a:srgbClr val="94D2BD"/>
                </a:solidFill>
                <a:latin typeface="Consolas" pitchFamily="34" charset="0"/>
                <a:ea typeface="Consolas" pitchFamily="34" charset="-122"/>
                <a:cs typeface="Consolas" pitchFamily="34" charset="-120"/>
              </a:rPr>
              <a:t>    &lt;/exclusion&gt;</a:t>
            </a:r>
            <a:endParaRPr lang="en-US" sz="1000" dirty="0"/>
          </a:p>
          <a:p>
            <a:pPr marL="0" indent="0">
              <a:buNone/>
            </a:pPr>
            <a:r>
              <a:rPr lang="en-US" sz="1000" dirty="0">
                <a:solidFill>
                  <a:srgbClr val="7EC8E3"/>
                </a:solidFill>
                <a:latin typeface="Consolas" pitchFamily="34" charset="0"/>
                <a:ea typeface="Consolas" pitchFamily="34" charset="-122"/>
                <a:cs typeface="Consolas" pitchFamily="34" charset="-120"/>
              </a:rPr>
              <a:t>  &lt;/exclusions&gt;</a:t>
            </a:r>
            <a:endParaRPr lang="en-US" sz="1000" dirty="0"/>
          </a:p>
          <a:p>
            <a:pPr marL="0" indent="0">
              <a:buNone/>
            </a:pPr>
            <a:r>
              <a:rPr lang="en-US" sz="1000" dirty="0">
                <a:solidFill>
                  <a:srgbClr val="0096C7"/>
                </a:solidFill>
                <a:latin typeface="Consolas" pitchFamily="34" charset="0"/>
                <a:ea typeface="Consolas" pitchFamily="34" charset="-122"/>
                <a:cs typeface="Consolas" pitchFamily="34" charset="-120"/>
              </a:rPr>
              <a:t>&lt;/dependency&gt;</a:t>
            </a:r>
            <a:endParaRPr lang="en-US" sz="1000" dirty="0"/>
          </a:p>
          <a:p>
            <a:pPr marL="0" indent="0">
              <a:buNone/>
            </a:pPr>
            <a:endParaRPr lang="en-US" sz="1000" dirty="0"/>
          </a:p>
          <a:p>
            <a:pPr marL="0" indent="0">
              <a:buNone/>
            </a:pPr>
            <a:r>
              <a:rPr lang="en-US" sz="1000" i="1" dirty="0">
                <a:solidFill>
                  <a:srgbClr val="94A3B8"/>
                </a:solidFill>
                <a:latin typeface="Consolas" pitchFamily="34" charset="0"/>
                <a:ea typeface="Consolas" pitchFamily="34" charset="-122"/>
                <a:cs typeface="Consolas" pitchFamily="34" charset="-120"/>
              </a:rPr>
              <a:t>&lt;!-- Force version via mgmt: --&gt;</a:t>
            </a:r>
            <a:endParaRPr lang="en-US" sz="1000" dirty="0"/>
          </a:p>
          <a:p>
            <a:pPr marL="0" indent="0">
              <a:buNone/>
            </a:pPr>
            <a:r>
              <a:rPr lang="en-US" sz="1000" dirty="0">
                <a:solidFill>
                  <a:srgbClr val="0096C7"/>
                </a:solidFill>
                <a:latin typeface="Consolas" pitchFamily="34" charset="0"/>
                <a:ea typeface="Consolas" pitchFamily="34" charset="-122"/>
                <a:cs typeface="Consolas" pitchFamily="34" charset="-120"/>
              </a:rPr>
              <a:t>&lt;dependencyManagement&gt;</a:t>
            </a:r>
            <a:endParaRPr lang="en-US" sz="1000" dirty="0"/>
          </a:p>
          <a:p>
            <a:pPr marL="0" indent="0">
              <a:buNone/>
            </a:pPr>
            <a:r>
              <a:rPr lang="en-US" sz="1000" dirty="0">
                <a:solidFill>
                  <a:srgbClr val="7EC8E3"/>
                </a:solidFill>
                <a:latin typeface="Consolas" pitchFamily="34" charset="0"/>
                <a:ea typeface="Consolas" pitchFamily="34" charset="-122"/>
                <a:cs typeface="Consolas" pitchFamily="34" charset="-120"/>
              </a:rPr>
              <a:t>  &lt;dependencies&gt;</a:t>
            </a:r>
            <a:endParaRPr lang="en-US" sz="1000" dirty="0"/>
          </a:p>
          <a:p>
            <a:pPr marL="0" indent="0">
              <a:buNone/>
            </a:pPr>
            <a:r>
              <a:rPr lang="en-US" sz="1000" i="1" dirty="0">
                <a:solidFill>
                  <a:srgbClr val="94A3B8"/>
                </a:solidFill>
                <a:latin typeface="Consolas" pitchFamily="34" charset="0"/>
                <a:ea typeface="Consolas" pitchFamily="34" charset="-122"/>
                <a:cs typeface="Consolas" pitchFamily="34" charset="-120"/>
              </a:rPr>
              <a:t>    &lt;!-- pin specific version --&gt;</a:t>
            </a:r>
            <a:endParaRPr lang="en-US" sz="1000" dirty="0"/>
          </a:p>
          <a:p>
            <a:pPr marL="0" indent="0">
              <a:buNone/>
            </a:pPr>
            <a:r>
              <a:rPr lang="en-US" sz="1000" dirty="0">
                <a:solidFill>
                  <a:srgbClr val="7EC8E3"/>
                </a:solidFill>
                <a:latin typeface="Consolas" pitchFamily="34" charset="0"/>
                <a:ea typeface="Consolas" pitchFamily="34" charset="-122"/>
                <a:cs typeface="Consolas" pitchFamily="34" charset="-120"/>
              </a:rPr>
              <a:t>  &lt;/dependencies&gt;</a:t>
            </a:r>
            <a:endParaRPr lang="en-US" sz="1000" dirty="0"/>
          </a:p>
          <a:p>
            <a:pPr marL="0" indent="0">
              <a:buNone/>
            </a:pPr>
            <a:r>
              <a:rPr lang="en-US" sz="1000" dirty="0">
                <a:solidFill>
                  <a:srgbClr val="0096C7"/>
                </a:solidFill>
                <a:latin typeface="Consolas" pitchFamily="34" charset="0"/>
                <a:ea typeface="Consolas" pitchFamily="34" charset="-122"/>
                <a:cs typeface="Consolas" pitchFamily="34" charset="-120"/>
              </a:rPr>
              <a:t>&lt;/dependencyManagement&gt;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Shape 1"/>
          <p:cNvSpPr/>
          <p:nvPr/>
        </p:nvSpPr>
        <p:spPr>
          <a:xfrm>
            <a:off x="0" y="777240"/>
            <a:ext cx="9144000" cy="36576"/>
          </a:xfrm>
          <a:prstGeom prst="rect">
            <a:avLst/>
          </a:prstGeom>
          <a:solidFill>
            <a:srgbClr val="0096C7"/>
          </a:solidFill>
          <a:ln w="12700">
            <a:solidFill>
              <a:srgbClr val="0096C7"/>
            </a:solidFill>
            <a:prstDash val="solid"/>
          </a:ln>
        </p:spPr>
      </p:sp>
      <p:sp>
        <p:nvSpPr>
          <p:cNvPr id="4" name="Text 2"/>
          <p:cNvSpPr/>
          <p:nvPr/>
        </p:nvSpPr>
        <p:spPr>
          <a:xfrm>
            <a:off x="365760" y="9144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Maven Plugins &amp; Execution</a:t>
            </a:r>
            <a:endParaRPr lang="en-US" sz="2400" dirty="0"/>
          </a:p>
        </p:txBody>
      </p:sp>
      <p:sp>
        <p:nvSpPr>
          <p:cNvPr id="5" name="Text 3"/>
          <p:cNvSpPr/>
          <p:nvPr/>
        </p:nvSpPr>
        <p:spPr>
          <a:xfrm>
            <a:off x="365760" y="566928"/>
            <a:ext cx="7315200" cy="228600"/>
          </a:xfrm>
          <a:prstGeom prst="rect">
            <a:avLst/>
          </a:prstGeom>
          <a:noFill/>
          <a:ln/>
        </p:spPr>
        <p:txBody>
          <a:bodyPr wrap="square" lIns="0" tIns="0" rIns="0" bIns="0" rtlCol="0" anchor="ctr"/>
          <a:lstStyle/>
          <a:p>
            <a:pPr marL="0" indent="0">
              <a:buNone/>
            </a:pPr>
            <a:r>
              <a:rPr lang="en-US" sz="1100" i="1" dirty="0">
                <a:solidFill>
                  <a:srgbClr val="0096C7"/>
                </a:solidFill>
                <a:latin typeface="Calibri" pitchFamily="34" charset="0"/>
                <a:ea typeface="Calibri" pitchFamily="34" charset="-122"/>
                <a:cs typeface="Calibri" pitchFamily="34" charset="-120"/>
              </a:rPr>
              <a:t>Plugins are how Maven does everything</a:t>
            </a:r>
            <a:endParaRPr lang="en-US" sz="1100" dirty="0"/>
          </a:p>
        </p:txBody>
      </p:sp>
      <p:sp>
        <p:nvSpPr>
          <p:cNvPr id="6" name="Shape 4"/>
          <p:cNvSpPr/>
          <p:nvPr/>
        </p:nvSpPr>
        <p:spPr>
          <a:xfrm>
            <a:off x="274320" y="960120"/>
            <a:ext cx="8549640" cy="685800"/>
          </a:xfrm>
          <a:prstGeom prst="rect">
            <a:avLst/>
          </a:prstGeom>
          <a:solidFill>
            <a:srgbClr val="1F3A5F"/>
          </a:solidFill>
          <a:ln w="12700">
            <a:solidFill>
              <a:srgbClr val="1F3A5F"/>
            </a:solidFill>
            <a:prstDash val="solid"/>
          </a:ln>
        </p:spPr>
      </p:sp>
      <p:sp>
        <p:nvSpPr>
          <p:cNvPr id="7" name="Text 5"/>
          <p:cNvSpPr/>
          <p:nvPr/>
        </p:nvSpPr>
        <p:spPr>
          <a:xfrm>
            <a:off x="411480" y="1005840"/>
            <a:ext cx="8229600" cy="594360"/>
          </a:xfrm>
          <a:prstGeom prst="rect">
            <a:avLst/>
          </a:prstGeom>
          <a:noFill/>
          <a:ln/>
        </p:spPr>
        <p:txBody>
          <a:bodyPr wrap="square" lIns="0" tIns="0" rIns="0" bIns="0" rtlCol="0" anchor="ctr"/>
          <a:lstStyle/>
          <a:p>
            <a:pPr marL="0" indent="0">
              <a:buNone/>
            </a:pPr>
            <a:r>
              <a:rPr lang="en-US" sz="1200" dirty="0">
                <a:solidFill>
                  <a:srgbClr val="EFF6FF"/>
                </a:solidFill>
                <a:latin typeface="Calibri" pitchFamily="34" charset="0"/>
                <a:ea typeface="Calibri" pitchFamily="34" charset="-122"/>
                <a:cs typeface="Calibri" pitchFamily="34" charset="-120"/>
              </a:rPr>
              <a:t>Plugins bind goals to lifecycle phases. A goal is a specific task (like compile:compile or surefire:test). Each plugin has one or more goals.</a:t>
            </a:r>
            <a:endParaRPr lang="en-US" sz="1200" dirty="0"/>
          </a:p>
        </p:txBody>
      </p:sp>
      <p:sp>
        <p:nvSpPr>
          <p:cNvPr id="8" name="Shape 6"/>
          <p:cNvSpPr/>
          <p:nvPr/>
        </p:nvSpPr>
        <p:spPr>
          <a:xfrm>
            <a:off x="274320" y="1828800"/>
            <a:ext cx="4206240" cy="3108960"/>
          </a:xfrm>
          <a:prstGeom prst="rect">
            <a:avLst/>
          </a:prstGeom>
          <a:solidFill>
            <a:srgbClr val="1B2A4A"/>
          </a:solidFill>
          <a:ln w="12700">
            <a:solidFill>
              <a:srgbClr val="1B2A4A"/>
            </a:solidFill>
            <a:prstDash val="solid"/>
          </a:ln>
        </p:spPr>
      </p:sp>
      <p:sp>
        <p:nvSpPr>
          <p:cNvPr id="9" name="Shape 7"/>
          <p:cNvSpPr/>
          <p:nvPr/>
        </p:nvSpPr>
        <p:spPr>
          <a:xfrm>
            <a:off x="274320" y="1828800"/>
            <a:ext cx="4206240" cy="54864"/>
          </a:xfrm>
          <a:prstGeom prst="rect">
            <a:avLst/>
          </a:prstGeom>
          <a:solidFill>
            <a:srgbClr val="0096C7"/>
          </a:solidFill>
          <a:ln w="12700">
            <a:solidFill>
              <a:srgbClr val="0096C7"/>
            </a:solidFill>
            <a:prstDash val="solid"/>
          </a:ln>
        </p:spPr>
      </p:sp>
      <p:sp>
        <p:nvSpPr>
          <p:cNvPr id="10" name="Text 8"/>
          <p:cNvSpPr/>
          <p:nvPr/>
        </p:nvSpPr>
        <p:spPr>
          <a:xfrm>
            <a:off x="384048" y="1901952"/>
            <a:ext cx="3931920" cy="292608"/>
          </a:xfrm>
          <a:prstGeom prst="rect">
            <a:avLst/>
          </a:prstGeom>
          <a:noFill/>
          <a:ln/>
        </p:spPr>
        <p:txBody>
          <a:bodyPr wrap="square" lIns="0" tIns="0" rIns="0" bIns="0" rtlCol="0" anchor="ctr"/>
          <a:lstStyle/>
          <a:p>
            <a:pPr marL="0" indent="0">
              <a:buNone/>
            </a:pPr>
            <a:r>
              <a:rPr lang="en-US" sz="1400" b="1" dirty="0">
                <a:solidFill>
                  <a:srgbClr val="0096C7"/>
                </a:solidFill>
                <a:latin typeface="Trebuchet MS" pitchFamily="34" charset="0"/>
                <a:ea typeface="Trebuchet MS" pitchFamily="34" charset="-122"/>
                <a:cs typeface="Trebuchet MS" pitchFamily="34" charset="-120"/>
              </a:rPr>
              <a:t>Compiler Plugin</a:t>
            </a:r>
            <a:endParaRPr lang="en-US" sz="1400" dirty="0"/>
          </a:p>
        </p:txBody>
      </p:sp>
      <p:sp>
        <p:nvSpPr>
          <p:cNvPr id="11" name="Text 9"/>
          <p:cNvSpPr/>
          <p:nvPr/>
        </p:nvSpPr>
        <p:spPr>
          <a:xfrm>
            <a:off x="384048" y="2212848"/>
            <a:ext cx="3931920" cy="36576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Controls Java source/target version for compilation.</a:t>
            </a:r>
            <a:endParaRPr lang="en-US" sz="1100" dirty="0"/>
          </a:p>
        </p:txBody>
      </p:sp>
      <p:sp>
        <p:nvSpPr>
          <p:cNvPr id="12" name="Shape 10"/>
          <p:cNvSpPr/>
          <p:nvPr/>
        </p:nvSpPr>
        <p:spPr>
          <a:xfrm>
            <a:off x="384048" y="2633472"/>
            <a:ext cx="3886200" cy="1298448"/>
          </a:xfrm>
          <a:prstGeom prst="rect">
            <a:avLst/>
          </a:prstGeom>
          <a:solidFill>
            <a:srgbClr val="0A1628"/>
          </a:solidFill>
          <a:ln w="12700">
            <a:solidFill>
              <a:srgbClr val="0A1628"/>
            </a:solidFill>
            <a:prstDash val="solid"/>
          </a:ln>
        </p:spPr>
      </p:sp>
      <p:sp>
        <p:nvSpPr>
          <p:cNvPr id="13" name="Text 11"/>
          <p:cNvSpPr/>
          <p:nvPr/>
        </p:nvSpPr>
        <p:spPr>
          <a:xfrm>
            <a:off x="438912" y="2670048"/>
            <a:ext cx="3749040" cy="1234440"/>
          </a:xfrm>
          <a:prstGeom prst="rect">
            <a:avLst/>
          </a:prstGeom>
          <a:noFill/>
          <a:ln/>
        </p:spPr>
        <p:txBody>
          <a:bodyPr wrap="square" lIns="0" tIns="0" rIns="0" bIns="0" rtlCol="0" anchor="ctr"/>
          <a:lstStyle/>
          <a:p>
            <a:pPr marL="0" indent="0">
              <a:buNone/>
            </a:pPr>
            <a:r>
              <a:rPr lang="en-US" sz="950" dirty="0">
                <a:solidFill>
                  <a:srgbClr val="0096C7"/>
                </a:solidFill>
                <a:latin typeface="Consolas" pitchFamily="34" charset="0"/>
                <a:ea typeface="Consolas" pitchFamily="34" charset="-122"/>
                <a:cs typeface="Consolas" pitchFamily="34" charset="-120"/>
              </a:rPr>
              <a:t>&lt;plugin&gt;</a:t>
            </a:r>
            <a:endParaRPr lang="en-US" sz="950" dirty="0"/>
          </a:p>
          <a:p>
            <a:pPr marL="0" indent="0">
              <a:buNone/>
            </a:pPr>
            <a:r>
              <a:rPr lang="en-US" sz="950" dirty="0">
                <a:solidFill>
                  <a:srgbClr val="7EC8E3"/>
                </a:solidFill>
                <a:latin typeface="Consolas" pitchFamily="34" charset="0"/>
                <a:ea typeface="Consolas" pitchFamily="34" charset="-122"/>
                <a:cs typeface="Consolas" pitchFamily="34" charset="-120"/>
              </a:rPr>
              <a:t>  &lt;groupId&gt;org.apache.maven.plugins&lt;/groupId&gt;</a:t>
            </a:r>
            <a:endParaRPr lang="en-US" sz="950" dirty="0"/>
          </a:p>
          <a:p>
            <a:pPr marL="0" indent="0">
              <a:buNone/>
            </a:pPr>
            <a:r>
              <a:rPr lang="en-US" sz="950" dirty="0">
                <a:solidFill>
                  <a:srgbClr val="94D2BD"/>
                </a:solidFill>
                <a:latin typeface="Consolas" pitchFamily="34" charset="0"/>
                <a:ea typeface="Consolas" pitchFamily="34" charset="-122"/>
                <a:cs typeface="Consolas" pitchFamily="34" charset="-120"/>
              </a:rPr>
              <a:t>  &lt;artifactId&gt;maven-compiler-plugin&lt;/artifactId&gt;</a:t>
            </a:r>
            <a:endParaRPr lang="en-US" sz="950" dirty="0"/>
          </a:p>
          <a:p>
            <a:pPr marL="0" indent="0">
              <a:buNone/>
            </a:pPr>
            <a:r>
              <a:rPr lang="en-US" sz="950" dirty="0">
                <a:solidFill>
                  <a:srgbClr val="7EC8E3"/>
                </a:solidFill>
                <a:latin typeface="Consolas" pitchFamily="34" charset="0"/>
                <a:ea typeface="Consolas" pitchFamily="34" charset="-122"/>
                <a:cs typeface="Consolas" pitchFamily="34" charset="-120"/>
              </a:rPr>
              <a:t>  &lt;configuration&gt;</a:t>
            </a:r>
            <a:endParaRPr lang="en-US" sz="950" dirty="0"/>
          </a:p>
          <a:p>
            <a:pPr marL="0" indent="0">
              <a:buNone/>
            </a:pPr>
            <a:r>
              <a:rPr lang="en-US" sz="950" dirty="0">
                <a:solidFill>
                  <a:srgbClr val="94D2BD"/>
                </a:solidFill>
                <a:latin typeface="Consolas" pitchFamily="34" charset="0"/>
                <a:ea typeface="Consolas" pitchFamily="34" charset="-122"/>
                <a:cs typeface="Consolas" pitchFamily="34" charset="-120"/>
              </a:rPr>
              <a:t>    &lt;source&gt;17&lt;/source&gt;</a:t>
            </a:r>
            <a:endParaRPr lang="en-US" sz="950" dirty="0"/>
          </a:p>
          <a:p>
            <a:pPr marL="0" indent="0">
              <a:buNone/>
            </a:pPr>
            <a:r>
              <a:rPr lang="en-US" sz="950" dirty="0">
                <a:solidFill>
                  <a:srgbClr val="7EC8E3"/>
                </a:solidFill>
                <a:latin typeface="Consolas" pitchFamily="34" charset="0"/>
                <a:ea typeface="Consolas" pitchFamily="34" charset="-122"/>
                <a:cs typeface="Consolas" pitchFamily="34" charset="-120"/>
              </a:rPr>
              <a:t>    &lt;target&gt;17&lt;/target&gt;</a:t>
            </a:r>
            <a:endParaRPr lang="en-US" sz="950" dirty="0"/>
          </a:p>
          <a:p>
            <a:pPr marL="0" indent="0">
              <a:buNone/>
            </a:pPr>
            <a:r>
              <a:rPr lang="en-US" sz="950" dirty="0">
                <a:solidFill>
                  <a:srgbClr val="94D2BD"/>
                </a:solidFill>
                <a:latin typeface="Consolas" pitchFamily="34" charset="0"/>
                <a:ea typeface="Consolas" pitchFamily="34" charset="-122"/>
                <a:cs typeface="Consolas" pitchFamily="34" charset="-120"/>
              </a:rPr>
              <a:t>  &lt;/configuration&gt;</a:t>
            </a:r>
            <a:endParaRPr lang="en-US" sz="950" dirty="0"/>
          </a:p>
          <a:p>
            <a:pPr marL="0" indent="0">
              <a:buNone/>
            </a:pPr>
            <a:r>
              <a:rPr lang="en-US" sz="950" dirty="0">
                <a:solidFill>
                  <a:srgbClr val="0096C7"/>
                </a:solidFill>
                <a:latin typeface="Consolas" pitchFamily="34" charset="0"/>
                <a:ea typeface="Consolas" pitchFamily="34" charset="-122"/>
                <a:cs typeface="Consolas" pitchFamily="34" charset="-120"/>
              </a:rPr>
              <a:t>&lt;/plugin&gt;</a:t>
            </a:r>
            <a:endParaRPr lang="en-US" sz="950" dirty="0"/>
          </a:p>
        </p:txBody>
      </p:sp>
      <p:sp>
        <p:nvSpPr>
          <p:cNvPr id="14" name="Shape 12"/>
          <p:cNvSpPr/>
          <p:nvPr/>
        </p:nvSpPr>
        <p:spPr>
          <a:xfrm>
            <a:off x="4709160" y="1828800"/>
            <a:ext cx="4206240" cy="3108960"/>
          </a:xfrm>
          <a:prstGeom prst="rect">
            <a:avLst/>
          </a:prstGeom>
          <a:solidFill>
            <a:srgbClr val="1B2A4A"/>
          </a:solidFill>
          <a:ln w="12700">
            <a:solidFill>
              <a:srgbClr val="1B2A4A"/>
            </a:solidFill>
            <a:prstDash val="solid"/>
          </a:ln>
        </p:spPr>
      </p:sp>
      <p:sp>
        <p:nvSpPr>
          <p:cNvPr id="15" name="Shape 13"/>
          <p:cNvSpPr/>
          <p:nvPr/>
        </p:nvSpPr>
        <p:spPr>
          <a:xfrm>
            <a:off x="4709160" y="1828800"/>
            <a:ext cx="4206240" cy="54864"/>
          </a:xfrm>
          <a:prstGeom prst="rect">
            <a:avLst/>
          </a:prstGeom>
          <a:solidFill>
            <a:srgbClr val="F4A261"/>
          </a:solidFill>
          <a:ln w="12700">
            <a:solidFill>
              <a:srgbClr val="F4A261"/>
            </a:solidFill>
            <a:prstDash val="solid"/>
          </a:ln>
        </p:spPr>
      </p:sp>
      <p:sp>
        <p:nvSpPr>
          <p:cNvPr id="16" name="Text 14"/>
          <p:cNvSpPr/>
          <p:nvPr/>
        </p:nvSpPr>
        <p:spPr>
          <a:xfrm>
            <a:off x="4818888" y="1901952"/>
            <a:ext cx="3931920" cy="292608"/>
          </a:xfrm>
          <a:prstGeom prst="rect">
            <a:avLst/>
          </a:prstGeom>
          <a:noFill/>
          <a:ln/>
        </p:spPr>
        <p:txBody>
          <a:bodyPr wrap="square" lIns="0" tIns="0" rIns="0" bIns="0" rtlCol="0" anchor="ctr"/>
          <a:lstStyle/>
          <a:p>
            <a:pPr marL="0" indent="0">
              <a:buNone/>
            </a:pPr>
            <a:r>
              <a:rPr lang="en-US" sz="1400" b="1" dirty="0">
                <a:solidFill>
                  <a:srgbClr val="F4A261"/>
                </a:solidFill>
                <a:latin typeface="Trebuchet MS" pitchFamily="34" charset="0"/>
                <a:ea typeface="Trebuchet MS" pitchFamily="34" charset="-122"/>
                <a:cs typeface="Trebuchet MS" pitchFamily="34" charset="-120"/>
              </a:rPr>
              <a:t>Surefire Plugin</a:t>
            </a:r>
            <a:endParaRPr lang="en-US" sz="1400" dirty="0"/>
          </a:p>
        </p:txBody>
      </p:sp>
      <p:sp>
        <p:nvSpPr>
          <p:cNvPr id="17" name="Text 15"/>
          <p:cNvSpPr/>
          <p:nvPr/>
        </p:nvSpPr>
        <p:spPr>
          <a:xfrm>
            <a:off x="4818888" y="2212848"/>
            <a:ext cx="3931920" cy="36576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Runs unit tests. Generates test reports. Skips with -DskipTests.</a:t>
            </a:r>
            <a:endParaRPr lang="en-US" sz="1100" dirty="0"/>
          </a:p>
        </p:txBody>
      </p:sp>
      <p:sp>
        <p:nvSpPr>
          <p:cNvPr id="18" name="Shape 16"/>
          <p:cNvSpPr/>
          <p:nvPr/>
        </p:nvSpPr>
        <p:spPr>
          <a:xfrm>
            <a:off x="4818888" y="2633472"/>
            <a:ext cx="3886200" cy="1298448"/>
          </a:xfrm>
          <a:prstGeom prst="rect">
            <a:avLst/>
          </a:prstGeom>
          <a:solidFill>
            <a:srgbClr val="0A1628"/>
          </a:solidFill>
          <a:ln w="12700">
            <a:solidFill>
              <a:srgbClr val="0A1628"/>
            </a:solidFill>
            <a:prstDash val="solid"/>
          </a:ln>
        </p:spPr>
      </p:sp>
      <p:sp>
        <p:nvSpPr>
          <p:cNvPr id="19" name="Text 17"/>
          <p:cNvSpPr/>
          <p:nvPr/>
        </p:nvSpPr>
        <p:spPr>
          <a:xfrm>
            <a:off x="4873752" y="2670048"/>
            <a:ext cx="3749040" cy="1234440"/>
          </a:xfrm>
          <a:prstGeom prst="rect">
            <a:avLst/>
          </a:prstGeom>
          <a:noFill/>
          <a:ln/>
        </p:spPr>
        <p:txBody>
          <a:bodyPr wrap="square" lIns="0" tIns="0" rIns="0" bIns="0" rtlCol="0" anchor="ctr"/>
          <a:lstStyle/>
          <a:p>
            <a:pPr marL="0" indent="0">
              <a:buNone/>
            </a:pPr>
            <a:r>
              <a:rPr lang="en-US" sz="950" dirty="0">
                <a:solidFill>
                  <a:srgbClr val="0096C7"/>
                </a:solidFill>
                <a:latin typeface="Consolas" pitchFamily="34" charset="0"/>
                <a:ea typeface="Consolas" pitchFamily="34" charset="-122"/>
                <a:cs typeface="Consolas" pitchFamily="34" charset="-120"/>
              </a:rPr>
              <a:t>&lt;plugin&gt;</a:t>
            </a:r>
            <a:endParaRPr lang="en-US" sz="950" dirty="0"/>
          </a:p>
          <a:p>
            <a:pPr marL="0" indent="0">
              <a:buNone/>
            </a:pPr>
            <a:r>
              <a:rPr lang="en-US" sz="950" dirty="0">
                <a:solidFill>
                  <a:srgbClr val="7EC8E3"/>
                </a:solidFill>
                <a:latin typeface="Consolas" pitchFamily="34" charset="0"/>
                <a:ea typeface="Consolas" pitchFamily="34" charset="-122"/>
                <a:cs typeface="Consolas" pitchFamily="34" charset="-120"/>
              </a:rPr>
              <a:t>  &lt;artifactId&gt;maven-surefire-plugin&lt;/artifactId&gt;</a:t>
            </a:r>
            <a:endParaRPr lang="en-US" sz="950" dirty="0"/>
          </a:p>
          <a:p>
            <a:pPr marL="0" indent="0">
              <a:buNone/>
            </a:pPr>
            <a:r>
              <a:rPr lang="en-US" sz="950" dirty="0">
                <a:solidFill>
                  <a:srgbClr val="94D2BD"/>
                </a:solidFill>
                <a:latin typeface="Consolas" pitchFamily="34" charset="0"/>
                <a:ea typeface="Consolas" pitchFamily="34" charset="-122"/>
                <a:cs typeface="Consolas" pitchFamily="34" charset="-120"/>
              </a:rPr>
              <a:t>  &lt;version&gt;3.1.2&lt;/version&gt;</a:t>
            </a:r>
            <a:endParaRPr lang="en-US" sz="950" dirty="0"/>
          </a:p>
          <a:p>
            <a:pPr marL="0" indent="0">
              <a:buNone/>
            </a:pPr>
            <a:r>
              <a:rPr lang="en-US" sz="950" dirty="0">
                <a:solidFill>
                  <a:srgbClr val="7EC8E3"/>
                </a:solidFill>
                <a:latin typeface="Consolas" pitchFamily="34" charset="0"/>
                <a:ea typeface="Consolas" pitchFamily="34" charset="-122"/>
                <a:cs typeface="Consolas" pitchFamily="34" charset="-120"/>
              </a:rPr>
              <a:t>  &lt;configuration&gt;</a:t>
            </a:r>
            <a:endParaRPr lang="en-US" sz="950" dirty="0"/>
          </a:p>
          <a:p>
            <a:pPr marL="0" indent="0">
              <a:buNone/>
            </a:pPr>
            <a:r>
              <a:rPr lang="en-US" sz="950" dirty="0">
                <a:solidFill>
                  <a:srgbClr val="94D2BD"/>
                </a:solidFill>
                <a:latin typeface="Consolas" pitchFamily="34" charset="0"/>
                <a:ea typeface="Consolas" pitchFamily="34" charset="-122"/>
                <a:cs typeface="Consolas" pitchFamily="34" charset="-120"/>
              </a:rPr>
              <a:t>    &lt;includes&gt;**/*Test.java&lt;/includes&gt;</a:t>
            </a:r>
            <a:endParaRPr lang="en-US" sz="950" dirty="0"/>
          </a:p>
          <a:p>
            <a:pPr marL="0" indent="0">
              <a:buNone/>
            </a:pPr>
            <a:r>
              <a:rPr lang="en-US" sz="950" dirty="0">
                <a:solidFill>
                  <a:srgbClr val="7EC8E3"/>
                </a:solidFill>
                <a:latin typeface="Consolas" pitchFamily="34" charset="0"/>
                <a:ea typeface="Consolas" pitchFamily="34" charset="-122"/>
                <a:cs typeface="Consolas" pitchFamily="34" charset="-120"/>
              </a:rPr>
              <a:t>  &lt;/configuration&gt;</a:t>
            </a:r>
            <a:endParaRPr lang="en-US" sz="950" dirty="0"/>
          </a:p>
          <a:p>
            <a:pPr marL="0" indent="0">
              <a:buNone/>
            </a:pPr>
            <a:r>
              <a:rPr lang="en-US" sz="950" dirty="0">
                <a:solidFill>
                  <a:srgbClr val="0096C7"/>
                </a:solidFill>
                <a:latin typeface="Consolas" pitchFamily="34" charset="0"/>
                <a:ea typeface="Consolas" pitchFamily="34" charset="-122"/>
                <a:cs typeface="Consolas" pitchFamily="34" charset="-120"/>
              </a:rPr>
              <a:t>&lt;/plugin&gt;</a:t>
            </a:r>
            <a:endParaRPr lang="en-US" sz="950" dirty="0"/>
          </a:p>
        </p:txBody>
      </p:sp>
      <p:sp>
        <p:nvSpPr>
          <p:cNvPr id="20" name="Text 18"/>
          <p:cNvSpPr/>
          <p:nvPr/>
        </p:nvSpPr>
        <p:spPr>
          <a:xfrm>
            <a:off x="274320" y="4681728"/>
            <a:ext cx="8549640" cy="274320"/>
          </a:xfrm>
          <a:prstGeom prst="rect">
            <a:avLst/>
          </a:prstGeom>
          <a:noFill/>
          <a:ln/>
        </p:spPr>
        <p:txBody>
          <a:bodyPr wrap="square" lIns="0" tIns="0" rIns="0" bIns="0" rtlCol="0" anchor="ctr"/>
          <a:lstStyle/>
          <a:p>
            <a:pPr marL="0" indent="0" algn="ctr">
              <a:buNone/>
            </a:pPr>
            <a:r>
              <a:rPr lang="en-US" sz="1200" b="1" dirty="0">
                <a:solidFill>
                  <a:srgbClr val="0096C7"/>
                </a:solidFill>
                <a:latin typeface="Consolas" pitchFamily="34" charset="0"/>
                <a:ea typeface="Consolas" pitchFamily="34" charset="-122"/>
                <a:cs typeface="Consolas" pitchFamily="34" charset="-120"/>
              </a:rPr>
              <a:t>mvn compile  |  mvn test  |  mvn package  |  mvn verify  |  mvn deploy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Shape 1"/>
          <p:cNvSpPr/>
          <p:nvPr/>
        </p:nvSpPr>
        <p:spPr>
          <a:xfrm>
            <a:off x="0" y="777240"/>
            <a:ext cx="9144000" cy="36576"/>
          </a:xfrm>
          <a:prstGeom prst="rect">
            <a:avLst/>
          </a:prstGeom>
          <a:solidFill>
            <a:srgbClr val="0096C7"/>
          </a:solidFill>
          <a:ln w="12700">
            <a:solidFill>
              <a:srgbClr val="0096C7"/>
            </a:solidFill>
            <a:prstDash val="solid"/>
          </a:ln>
        </p:spPr>
      </p:sp>
      <p:sp>
        <p:nvSpPr>
          <p:cNvPr id="4" name="Text 2"/>
          <p:cNvSpPr/>
          <p:nvPr/>
        </p:nvSpPr>
        <p:spPr>
          <a:xfrm>
            <a:off x="365760" y="9144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Shade Plugin — Creating an Uber JAR</a:t>
            </a:r>
            <a:endParaRPr lang="en-US" sz="2400" dirty="0"/>
          </a:p>
        </p:txBody>
      </p:sp>
      <p:sp>
        <p:nvSpPr>
          <p:cNvPr id="5" name="Text 3"/>
          <p:cNvSpPr/>
          <p:nvPr/>
        </p:nvSpPr>
        <p:spPr>
          <a:xfrm>
            <a:off x="365760" y="566928"/>
            <a:ext cx="7315200" cy="228600"/>
          </a:xfrm>
          <a:prstGeom prst="rect">
            <a:avLst/>
          </a:prstGeom>
          <a:noFill/>
          <a:ln/>
        </p:spPr>
        <p:txBody>
          <a:bodyPr wrap="square" lIns="0" tIns="0" rIns="0" bIns="0" rtlCol="0" anchor="ctr"/>
          <a:lstStyle/>
          <a:p>
            <a:pPr marL="0" indent="0">
              <a:buNone/>
            </a:pPr>
            <a:r>
              <a:rPr lang="en-US" sz="1100" i="1" dirty="0">
                <a:solidFill>
                  <a:srgbClr val="0096C7"/>
                </a:solidFill>
                <a:latin typeface="Calibri" pitchFamily="34" charset="0"/>
                <a:ea typeface="Calibri" pitchFamily="34" charset="-122"/>
                <a:cs typeface="Calibri" pitchFamily="34" charset="-120"/>
              </a:rPr>
              <a:t>Packaging all dependencies into a single executable JAR</a:t>
            </a:r>
            <a:endParaRPr lang="en-US" sz="1100" dirty="0"/>
          </a:p>
        </p:txBody>
      </p:sp>
      <p:sp>
        <p:nvSpPr>
          <p:cNvPr id="6" name="Shape 4"/>
          <p:cNvSpPr/>
          <p:nvPr/>
        </p:nvSpPr>
        <p:spPr>
          <a:xfrm>
            <a:off x="274320" y="960120"/>
            <a:ext cx="4023360" cy="3931920"/>
          </a:xfrm>
          <a:prstGeom prst="rect">
            <a:avLst/>
          </a:prstGeom>
          <a:solidFill>
            <a:srgbClr val="1B2A4A"/>
          </a:solidFill>
          <a:ln w="12700">
            <a:solidFill>
              <a:srgbClr val="1B2A4A"/>
            </a:solidFill>
            <a:prstDash val="solid"/>
          </a:ln>
        </p:spPr>
      </p:sp>
      <p:sp>
        <p:nvSpPr>
          <p:cNvPr id="7" name="Text 5"/>
          <p:cNvSpPr/>
          <p:nvPr/>
        </p:nvSpPr>
        <p:spPr>
          <a:xfrm>
            <a:off x="411480" y="1024128"/>
            <a:ext cx="3749040" cy="292608"/>
          </a:xfrm>
          <a:prstGeom prst="rect">
            <a:avLst/>
          </a:prstGeom>
          <a:noFill/>
          <a:ln/>
        </p:spPr>
        <p:txBody>
          <a:bodyPr wrap="square" lIns="0" tIns="0" rIns="0" bIns="0" rtlCol="0" anchor="ctr"/>
          <a:lstStyle/>
          <a:p>
            <a:pPr marL="0" indent="0">
              <a:buNone/>
            </a:pPr>
            <a:r>
              <a:rPr lang="en-US" sz="1400" b="1" dirty="0">
                <a:solidFill>
                  <a:srgbClr val="F4A261"/>
                </a:solidFill>
                <a:latin typeface="Trebuchet MS" pitchFamily="34" charset="0"/>
                <a:ea typeface="Trebuchet MS" pitchFamily="34" charset="-122"/>
                <a:cs typeface="Trebuchet MS" pitchFamily="34" charset="-120"/>
              </a:rPr>
              <a:t>What is an Uber JAR?</a:t>
            </a:r>
            <a:endParaRPr lang="en-US" sz="1400" dirty="0"/>
          </a:p>
        </p:txBody>
      </p:sp>
      <p:sp>
        <p:nvSpPr>
          <p:cNvPr id="8" name="Text 6"/>
          <p:cNvSpPr/>
          <p:nvPr/>
        </p:nvSpPr>
        <p:spPr>
          <a:xfrm>
            <a:off x="411480" y="1344168"/>
            <a:ext cx="3749040" cy="114300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An Uber (German for 'over/super') JAR is a single fat JAR that contains your compiled code PLUS all its dependency JARs merged inside it.</a:t>
            </a:r>
            <a:endParaRPr lang="en-US" sz="1100" dirty="0"/>
          </a:p>
          <a:p>
            <a:pPr marL="0" indent="0">
              <a:buNone/>
            </a:pPr>
            <a:endParaRPr lang="en-US" sz="1100" dirty="0"/>
          </a:p>
          <a:p>
            <a:pPr marL="0" indent="0">
              <a:buNone/>
            </a:pPr>
            <a:r>
              <a:rPr lang="en-US" sz="1100" dirty="0">
                <a:solidFill>
                  <a:srgbClr val="EFF6FF"/>
                </a:solidFill>
                <a:latin typeface="Calibri" pitchFamily="34" charset="0"/>
                <a:ea typeface="Calibri" pitchFamily="34" charset="-122"/>
                <a:cs typeface="Calibri" pitchFamily="34" charset="-120"/>
              </a:rPr>
              <a:t>This makes deployment trivially simple — ship one file, run anywhere with java -jar.</a:t>
            </a:r>
            <a:endParaRPr lang="en-US" sz="1100" dirty="0"/>
          </a:p>
        </p:txBody>
      </p:sp>
      <p:sp>
        <p:nvSpPr>
          <p:cNvPr id="9" name="Text 7"/>
          <p:cNvSpPr/>
          <p:nvPr/>
        </p:nvSpPr>
        <p:spPr>
          <a:xfrm>
            <a:off x="411480" y="2560320"/>
            <a:ext cx="3749040" cy="256032"/>
          </a:xfrm>
          <a:prstGeom prst="rect">
            <a:avLst/>
          </a:prstGeom>
          <a:noFill/>
          <a:ln/>
        </p:spPr>
        <p:txBody>
          <a:bodyPr wrap="square" lIns="0" tIns="0" rIns="0" bIns="0" rtlCol="0" anchor="ctr"/>
          <a:lstStyle/>
          <a:p>
            <a:pPr marL="0" indent="0">
              <a:buNone/>
            </a:pPr>
            <a:r>
              <a:rPr lang="en-US" sz="1200" b="1" dirty="0">
                <a:solidFill>
                  <a:srgbClr val="0096C7"/>
                </a:solidFill>
                <a:latin typeface="Trebuchet MS" pitchFamily="34" charset="0"/>
                <a:ea typeface="Trebuchet MS" pitchFamily="34" charset="-122"/>
                <a:cs typeface="Trebuchet MS" pitchFamily="34" charset="-120"/>
              </a:rPr>
              <a:t>When to use:</a:t>
            </a:r>
            <a:endParaRPr lang="en-US" sz="1200" dirty="0"/>
          </a:p>
        </p:txBody>
      </p:sp>
      <p:sp>
        <p:nvSpPr>
          <p:cNvPr id="10" name="Text 8"/>
          <p:cNvSpPr/>
          <p:nvPr/>
        </p:nvSpPr>
        <p:spPr>
          <a:xfrm>
            <a:off x="411480" y="2834640"/>
            <a:ext cx="3657600" cy="1005840"/>
          </a:xfrm>
          <a:prstGeom prst="rect">
            <a:avLst/>
          </a:prstGeom>
          <a:noFill/>
          <a:ln/>
        </p:spPr>
        <p:txBody>
          <a:bodyPr wrap="square" lIns="0" tIns="0" rIns="0" bIns="0" rtlCol="0" anchor="ctr"/>
          <a:lstStyle/>
          <a:p>
            <a:pPr marL="342900" indent="-342900">
              <a:buSzPct val="100000"/>
              <a:buChar char="•"/>
            </a:pPr>
            <a:r>
              <a:rPr lang="en-US" sz="1100" dirty="0">
                <a:solidFill>
                  <a:srgbClr val="EFF6FF"/>
                </a:solidFill>
                <a:latin typeface="Calibri" pitchFamily="34" charset="0"/>
                <a:ea typeface="Calibri" pitchFamily="34" charset="-122"/>
                <a:cs typeface="Calibri" pitchFamily="34" charset="-120"/>
              </a:rPr>
              <a:t>CLI tools that need to be self-contained</a:t>
            </a:r>
            <a:endParaRPr lang="en-US" sz="1100" dirty="0"/>
          </a:p>
          <a:p>
            <a:pPr marL="342900" indent="-342900">
              <a:buSzPct val="100000"/>
              <a:buChar char="•"/>
            </a:pPr>
            <a:r>
              <a:rPr lang="en-US" sz="1100" dirty="0">
                <a:solidFill>
                  <a:srgbClr val="EFF6FF"/>
                </a:solidFill>
                <a:latin typeface="Calibri" pitchFamily="34" charset="0"/>
                <a:ea typeface="Calibri" pitchFamily="34" charset="-122"/>
                <a:cs typeface="Calibri" pitchFamily="34" charset="-120"/>
              </a:rPr>
              <a:t>Microservices deployed to containers</a:t>
            </a:r>
            <a:endParaRPr lang="en-US" sz="1100" dirty="0"/>
          </a:p>
          <a:p>
            <a:pPr marL="342900" indent="-342900">
              <a:buSzPct val="100000"/>
              <a:buChar char="•"/>
            </a:pPr>
            <a:r>
              <a:rPr lang="en-US" sz="1100" dirty="0">
                <a:solidFill>
                  <a:srgbClr val="EFF6FF"/>
                </a:solidFill>
                <a:latin typeface="Calibri" pitchFamily="34" charset="0"/>
                <a:ea typeface="Calibri" pitchFamily="34" charset="-122"/>
                <a:cs typeface="Calibri" pitchFamily="34" charset="-120"/>
              </a:rPr>
              <a:t>Spark/Hadoop jobs submitted to clusters</a:t>
            </a:r>
            <a:endParaRPr lang="en-US" sz="1100" dirty="0"/>
          </a:p>
          <a:p>
            <a:pPr marL="342900" indent="-342900">
              <a:buSzPct val="100000"/>
              <a:buChar char="•"/>
            </a:pPr>
            <a:r>
              <a:rPr lang="en-US" sz="1100" dirty="0">
                <a:solidFill>
                  <a:srgbClr val="EFF6FF"/>
                </a:solidFill>
                <a:latin typeface="Calibri" pitchFamily="34" charset="0"/>
                <a:ea typeface="Calibri" pitchFamily="34" charset="-122"/>
                <a:cs typeface="Calibri" pitchFamily="34" charset="-120"/>
              </a:rPr>
              <a:t>Anywhere classpath management is painful</a:t>
            </a:r>
            <a:endParaRPr lang="en-US" sz="1100" dirty="0"/>
          </a:p>
        </p:txBody>
      </p:sp>
      <p:sp>
        <p:nvSpPr>
          <p:cNvPr id="11" name="Text 9"/>
          <p:cNvSpPr/>
          <p:nvPr/>
        </p:nvSpPr>
        <p:spPr>
          <a:xfrm>
            <a:off x="411480" y="3931920"/>
            <a:ext cx="3657600" cy="548640"/>
          </a:xfrm>
          <a:prstGeom prst="rect">
            <a:avLst/>
          </a:prstGeom>
          <a:noFill/>
          <a:ln/>
        </p:spPr>
        <p:txBody>
          <a:bodyPr wrap="square" lIns="0" tIns="0" rIns="0" bIns="0" rtlCol="0" anchor="ctr"/>
          <a:lstStyle/>
          <a:p>
            <a:pPr marL="0" indent="0">
              <a:buNone/>
            </a:pPr>
            <a:r>
              <a:rPr lang="en-US" sz="1100" i="1" dirty="0">
                <a:solidFill>
                  <a:srgbClr val="F87171"/>
                </a:solidFill>
                <a:latin typeface="Calibri" pitchFamily="34" charset="0"/>
                <a:ea typeface="Calibri" pitchFamily="34" charset="-122"/>
                <a:cs typeface="Calibri" pitchFamily="34" charset="-120"/>
              </a:rPr>
              <a:t>⚠  Watch for class name conflicts from merged JARs</a:t>
            </a:r>
            <a:endParaRPr lang="en-US" sz="1100" dirty="0"/>
          </a:p>
        </p:txBody>
      </p:sp>
      <p:sp>
        <p:nvSpPr>
          <p:cNvPr id="12" name="Shape 10"/>
          <p:cNvSpPr/>
          <p:nvPr/>
        </p:nvSpPr>
        <p:spPr>
          <a:xfrm>
            <a:off x="4572000" y="960120"/>
            <a:ext cx="4297680" cy="3931920"/>
          </a:xfrm>
          <a:prstGeom prst="rect">
            <a:avLst/>
          </a:prstGeom>
          <a:solidFill>
            <a:srgbClr val="0A1628"/>
          </a:solidFill>
          <a:ln w="12700">
            <a:solidFill>
              <a:srgbClr val="0096C7"/>
            </a:solidFill>
            <a:prstDash val="solid"/>
          </a:ln>
        </p:spPr>
      </p:sp>
      <p:sp>
        <p:nvSpPr>
          <p:cNvPr id="13" name="Text 11"/>
          <p:cNvSpPr/>
          <p:nvPr/>
        </p:nvSpPr>
        <p:spPr>
          <a:xfrm>
            <a:off x="4709160" y="1024128"/>
            <a:ext cx="4023360" cy="3749040"/>
          </a:xfrm>
          <a:prstGeom prst="rect">
            <a:avLst/>
          </a:prstGeom>
          <a:noFill/>
          <a:ln/>
        </p:spPr>
        <p:txBody>
          <a:bodyPr wrap="square" lIns="0" tIns="0" rIns="0" bIns="0" rtlCol="0" anchor="ctr"/>
          <a:lstStyle/>
          <a:p>
            <a:pPr marL="0" indent="0">
              <a:buNone/>
            </a:pPr>
            <a:r>
              <a:rPr lang="en-US" sz="950" dirty="0">
                <a:solidFill>
                  <a:srgbClr val="0096C7"/>
                </a:solidFill>
                <a:latin typeface="Consolas" pitchFamily="34" charset="0"/>
                <a:ea typeface="Consolas" pitchFamily="34" charset="-122"/>
                <a:cs typeface="Consolas" pitchFamily="34" charset="-120"/>
              </a:rPr>
              <a:t>&lt;plugin&gt;</a:t>
            </a:r>
            <a:endParaRPr lang="en-US" sz="950" dirty="0"/>
          </a:p>
          <a:p>
            <a:pPr marL="0" indent="0">
              <a:buNone/>
            </a:pPr>
            <a:r>
              <a:rPr lang="en-US" sz="950" dirty="0">
                <a:solidFill>
                  <a:srgbClr val="7EC8E3"/>
                </a:solidFill>
                <a:latin typeface="Consolas" pitchFamily="34" charset="0"/>
                <a:ea typeface="Consolas" pitchFamily="34" charset="-122"/>
                <a:cs typeface="Consolas" pitchFamily="34" charset="-120"/>
              </a:rPr>
              <a:t>  &lt;groupId&gt;org.apache.maven.plugins&lt;/groupId&gt;</a:t>
            </a:r>
            <a:endParaRPr lang="en-US" sz="950" dirty="0"/>
          </a:p>
          <a:p>
            <a:pPr marL="0" indent="0">
              <a:buNone/>
            </a:pPr>
            <a:r>
              <a:rPr lang="en-US" sz="950" dirty="0">
                <a:solidFill>
                  <a:srgbClr val="7EC8E3"/>
                </a:solidFill>
                <a:latin typeface="Consolas" pitchFamily="34" charset="0"/>
                <a:ea typeface="Consolas" pitchFamily="34" charset="-122"/>
                <a:cs typeface="Consolas" pitchFamily="34" charset="-120"/>
              </a:rPr>
              <a:t>  &lt;artifactId&gt;maven-shade-plugin&lt;/artifactId&gt;</a:t>
            </a:r>
            <a:endParaRPr lang="en-US" sz="950" dirty="0"/>
          </a:p>
          <a:p>
            <a:pPr marL="0" indent="0">
              <a:buNone/>
            </a:pPr>
            <a:r>
              <a:rPr lang="en-US" sz="950" dirty="0">
                <a:solidFill>
                  <a:srgbClr val="7EC8E3"/>
                </a:solidFill>
                <a:latin typeface="Consolas" pitchFamily="34" charset="0"/>
                <a:ea typeface="Consolas" pitchFamily="34" charset="-122"/>
                <a:cs typeface="Consolas" pitchFamily="34" charset="-120"/>
              </a:rPr>
              <a:t>  &lt;version&gt;3.5.0&lt;/version&gt;</a:t>
            </a:r>
            <a:endParaRPr lang="en-US" sz="950" dirty="0"/>
          </a:p>
          <a:p>
            <a:pPr marL="0" indent="0">
              <a:buNone/>
            </a:pPr>
            <a:r>
              <a:rPr lang="en-US" sz="950" dirty="0">
                <a:solidFill>
                  <a:srgbClr val="94D2BD"/>
                </a:solidFill>
                <a:latin typeface="Consolas" pitchFamily="34" charset="0"/>
                <a:ea typeface="Consolas" pitchFamily="34" charset="-122"/>
                <a:cs typeface="Consolas" pitchFamily="34" charset="-120"/>
              </a:rPr>
              <a:t>  &lt;executions&gt;</a:t>
            </a:r>
            <a:endParaRPr lang="en-US" sz="950" dirty="0"/>
          </a:p>
          <a:p>
            <a:pPr marL="0" indent="0">
              <a:buNone/>
            </a:pPr>
            <a:r>
              <a:rPr lang="en-US" sz="950" dirty="0">
                <a:solidFill>
                  <a:srgbClr val="94D2BD"/>
                </a:solidFill>
                <a:latin typeface="Consolas" pitchFamily="34" charset="0"/>
                <a:ea typeface="Consolas" pitchFamily="34" charset="-122"/>
                <a:cs typeface="Consolas" pitchFamily="34" charset="-120"/>
              </a:rPr>
              <a:t>    &lt;execution&gt;</a:t>
            </a:r>
            <a:endParaRPr lang="en-US" sz="950" dirty="0"/>
          </a:p>
          <a:p>
            <a:pPr marL="0" indent="0">
              <a:buNone/>
            </a:pPr>
            <a:r>
              <a:rPr lang="en-US" sz="950" dirty="0">
                <a:solidFill>
                  <a:srgbClr val="94A3B8"/>
                </a:solidFill>
                <a:latin typeface="Consolas" pitchFamily="34" charset="0"/>
                <a:ea typeface="Consolas" pitchFamily="34" charset="-122"/>
                <a:cs typeface="Consolas" pitchFamily="34" charset="-120"/>
              </a:rPr>
              <a:t>      &lt;phase&gt;package&lt;/phase&gt;</a:t>
            </a:r>
            <a:endParaRPr lang="en-US" sz="950" dirty="0"/>
          </a:p>
          <a:p>
            <a:pPr marL="0" indent="0">
              <a:buNone/>
            </a:pPr>
            <a:r>
              <a:rPr lang="en-US" sz="950" dirty="0">
                <a:solidFill>
                  <a:srgbClr val="94A3B8"/>
                </a:solidFill>
                <a:latin typeface="Consolas" pitchFamily="34" charset="0"/>
                <a:ea typeface="Consolas" pitchFamily="34" charset="-122"/>
                <a:cs typeface="Consolas" pitchFamily="34" charset="-120"/>
              </a:rPr>
              <a:t>      &lt;goals&gt;&lt;goal&gt;shade&lt;/goal&gt;&lt;/goals&gt;</a:t>
            </a:r>
            <a:endParaRPr lang="en-US" sz="950" dirty="0"/>
          </a:p>
          <a:p>
            <a:pPr marL="0" indent="0">
              <a:buNone/>
            </a:pPr>
            <a:r>
              <a:rPr lang="en-US" sz="950" dirty="0">
                <a:solidFill>
                  <a:srgbClr val="94A3B8"/>
                </a:solidFill>
                <a:latin typeface="Consolas" pitchFamily="34" charset="0"/>
                <a:ea typeface="Consolas" pitchFamily="34" charset="-122"/>
                <a:cs typeface="Consolas" pitchFamily="34" charset="-120"/>
              </a:rPr>
              <a:t>      &lt;configuration&gt;</a:t>
            </a:r>
            <a:endParaRPr lang="en-US" sz="950" dirty="0"/>
          </a:p>
          <a:p>
            <a:pPr marL="0" indent="0">
              <a:buNone/>
            </a:pPr>
            <a:r>
              <a:rPr lang="en-US" sz="950" dirty="0">
                <a:solidFill>
                  <a:srgbClr val="F4A261"/>
                </a:solidFill>
                <a:latin typeface="Consolas" pitchFamily="34" charset="0"/>
                <a:ea typeface="Consolas" pitchFamily="34" charset="-122"/>
                <a:cs typeface="Consolas" pitchFamily="34" charset="-120"/>
              </a:rPr>
              <a:t>        &lt;transformers&gt;</a:t>
            </a:r>
            <a:endParaRPr lang="en-US" sz="950" dirty="0"/>
          </a:p>
          <a:p>
            <a:pPr marL="0" indent="0">
              <a:buNone/>
            </a:pPr>
            <a:r>
              <a:rPr lang="en-US" sz="950" dirty="0">
                <a:solidFill>
                  <a:srgbClr val="F4A261"/>
                </a:solidFill>
                <a:latin typeface="Consolas" pitchFamily="34" charset="0"/>
                <a:ea typeface="Consolas" pitchFamily="34" charset="-122"/>
                <a:cs typeface="Consolas" pitchFamily="34" charset="-120"/>
              </a:rPr>
              <a:t>          &lt;transformer</a:t>
            </a:r>
            <a:endParaRPr lang="en-US" sz="950" dirty="0"/>
          </a:p>
          <a:p>
            <a:pPr marL="0" indent="0">
              <a:buNone/>
            </a:pPr>
            <a:r>
              <a:rPr lang="en-US" sz="950" dirty="0">
                <a:solidFill>
                  <a:srgbClr val="F4A261"/>
                </a:solidFill>
                <a:latin typeface="Consolas" pitchFamily="34" charset="0"/>
                <a:ea typeface="Consolas" pitchFamily="34" charset="-122"/>
                <a:cs typeface="Consolas" pitchFamily="34" charset="-120"/>
              </a:rPr>
              <a:t>   impl="ManifestResourceTransformer"&gt;</a:t>
            </a:r>
            <a:endParaRPr lang="en-US" sz="950" dirty="0"/>
          </a:p>
          <a:p>
            <a:pPr marL="0" indent="0">
              <a:buNone/>
            </a:pPr>
            <a:r>
              <a:rPr lang="en-US" sz="950" dirty="0">
                <a:solidFill>
                  <a:srgbClr val="0096C7"/>
                </a:solidFill>
                <a:latin typeface="Consolas" pitchFamily="34" charset="0"/>
                <a:ea typeface="Consolas" pitchFamily="34" charset="-122"/>
                <a:cs typeface="Consolas" pitchFamily="34" charset="-120"/>
              </a:rPr>
              <a:t>            &lt;mainClass&gt;com.App&lt;/mainClass&gt;</a:t>
            </a:r>
            <a:endParaRPr lang="en-US" sz="950" dirty="0"/>
          </a:p>
          <a:p>
            <a:pPr marL="0" indent="0">
              <a:buNone/>
            </a:pPr>
            <a:r>
              <a:rPr lang="en-US" sz="950" dirty="0">
                <a:solidFill>
                  <a:srgbClr val="F4A261"/>
                </a:solidFill>
                <a:latin typeface="Consolas" pitchFamily="34" charset="0"/>
                <a:ea typeface="Consolas" pitchFamily="34" charset="-122"/>
                <a:cs typeface="Consolas" pitchFamily="34" charset="-120"/>
              </a:rPr>
              <a:t>          &lt;/transformer&gt;</a:t>
            </a:r>
            <a:endParaRPr lang="en-US" sz="950" dirty="0"/>
          </a:p>
          <a:p>
            <a:pPr marL="0" indent="0">
              <a:buNone/>
            </a:pPr>
            <a:r>
              <a:rPr lang="en-US" sz="950" dirty="0">
                <a:solidFill>
                  <a:srgbClr val="F4A261"/>
                </a:solidFill>
                <a:latin typeface="Consolas" pitchFamily="34" charset="0"/>
                <a:ea typeface="Consolas" pitchFamily="34" charset="-122"/>
                <a:cs typeface="Consolas" pitchFamily="34" charset="-120"/>
              </a:rPr>
              <a:t>        &lt;/transformers&gt;</a:t>
            </a:r>
            <a:endParaRPr lang="en-US" sz="950" dirty="0"/>
          </a:p>
          <a:p>
            <a:pPr marL="0" indent="0">
              <a:buNone/>
            </a:pPr>
            <a:r>
              <a:rPr lang="en-US" sz="950" dirty="0">
                <a:solidFill>
                  <a:srgbClr val="94A3B8"/>
                </a:solidFill>
                <a:latin typeface="Consolas" pitchFamily="34" charset="0"/>
                <a:ea typeface="Consolas" pitchFamily="34" charset="-122"/>
                <a:cs typeface="Consolas" pitchFamily="34" charset="-120"/>
              </a:rPr>
              <a:t>      &lt;/configuration&gt;</a:t>
            </a:r>
            <a:endParaRPr lang="en-US" sz="950" dirty="0"/>
          </a:p>
          <a:p>
            <a:pPr marL="0" indent="0">
              <a:buNone/>
            </a:pPr>
            <a:r>
              <a:rPr lang="en-US" sz="950" dirty="0">
                <a:solidFill>
                  <a:srgbClr val="94D2BD"/>
                </a:solidFill>
                <a:latin typeface="Consolas" pitchFamily="34" charset="0"/>
                <a:ea typeface="Consolas" pitchFamily="34" charset="-122"/>
                <a:cs typeface="Consolas" pitchFamily="34" charset="-120"/>
              </a:rPr>
              <a:t>    &lt;/execution&gt;&lt;/executions&gt;</a:t>
            </a:r>
            <a:endParaRPr lang="en-US" sz="950" dirty="0"/>
          </a:p>
          <a:p>
            <a:pPr marL="0" indent="0">
              <a:buNone/>
            </a:pPr>
            <a:r>
              <a:rPr lang="en-US" sz="950" dirty="0">
                <a:solidFill>
                  <a:srgbClr val="0096C7"/>
                </a:solidFill>
                <a:latin typeface="Consolas" pitchFamily="34" charset="0"/>
                <a:ea typeface="Consolas" pitchFamily="34" charset="-122"/>
                <a:cs typeface="Consolas" pitchFamily="34" charset="-120"/>
              </a:rPr>
              <a:t>&lt;/plugin&gt;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Shape 1"/>
          <p:cNvSpPr/>
          <p:nvPr/>
        </p:nvSpPr>
        <p:spPr>
          <a:xfrm>
            <a:off x="0" y="777240"/>
            <a:ext cx="9144000" cy="36576"/>
          </a:xfrm>
          <a:prstGeom prst="rect">
            <a:avLst/>
          </a:prstGeom>
          <a:solidFill>
            <a:srgbClr val="0096C7"/>
          </a:solidFill>
          <a:ln w="12700">
            <a:solidFill>
              <a:srgbClr val="0096C7"/>
            </a:solidFill>
            <a:prstDash val="solid"/>
          </a:ln>
        </p:spPr>
      </p:sp>
      <p:sp>
        <p:nvSpPr>
          <p:cNvPr id="4" name="Text 2"/>
          <p:cNvSpPr/>
          <p:nvPr/>
        </p:nvSpPr>
        <p:spPr>
          <a:xfrm>
            <a:off x="365760" y="9144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Maven Wrapper (mvnw)</a:t>
            </a:r>
            <a:endParaRPr lang="en-US" sz="2400" dirty="0"/>
          </a:p>
        </p:txBody>
      </p:sp>
      <p:sp>
        <p:nvSpPr>
          <p:cNvPr id="5" name="Text 3"/>
          <p:cNvSpPr/>
          <p:nvPr/>
        </p:nvSpPr>
        <p:spPr>
          <a:xfrm>
            <a:off x="365760" y="566928"/>
            <a:ext cx="7315200" cy="228600"/>
          </a:xfrm>
          <a:prstGeom prst="rect">
            <a:avLst/>
          </a:prstGeom>
          <a:noFill/>
          <a:ln/>
        </p:spPr>
        <p:txBody>
          <a:bodyPr wrap="square" lIns="0" tIns="0" rIns="0" bIns="0" rtlCol="0" anchor="ctr"/>
          <a:lstStyle/>
          <a:p>
            <a:pPr marL="0" indent="0">
              <a:buNone/>
            </a:pPr>
            <a:r>
              <a:rPr lang="en-US" sz="1100" i="1" dirty="0">
                <a:solidFill>
                  <a:srgbClr val="0096C7"/>
                </a:solidFill>
                <a:latin typeface="Calibri" pitchFamily="34" charset="0"/>
                <a:ea typeface="Calibri" pitchFamily="34" charset="-122"/>
                <a:cs typeface="Calibri" pitchFamily="34" charset="-120"/>
              </a:rPr>
              <a:t>Ensuring consistent Maven version across all environments</a:t>
            </a:r>
            <a:endParaRPr lang="en-US" sz="1100" dirty="0"/>
          </a:p>
        </p:txBody>
      </p:sp>
      <p:sp>
        <p:nvSpPr>
          <p:cNvPr id="6" name="Shape 4"/>
          <p:cNvSpPr/>
          <p:nvPr/>
        </p:nvSpPr>
        <p:spPr>
          <a:xfrm>
            <a:off x="274320" y="1005840"/>
            <a:ext cx="4206240" cy="1828800"/>
          </a:xfrm>
          <a:prstGeom prst="rect">
            <a:avLst/>
          </a:prstGeom>
          <a:solidFill>
            <a:srgbClr val="1F3A5F"/>
          </a:solidFill>
          <a:ln w="12700">
            <a:solidFill>
              <a:srgbClr val="1F3A5F"/>
            </a:solidFill>
            <a:prstDash val="solid"/>
          </a:ln>
          <a:effectLst>
            <a:outerShdw blurRad="63500" dist="25400" dir="8100000" algn="bl" rotWithShape="0">
              <a:srgbClr val="000000">
                <a:alpha val="25000"/>
              </a:srgbClr>
            </a:outerShdw>
          </a:effectLst>
        </p:spPr>
      </p:sp>
      <p:sp>
        <p:nvSpPr>
          <p:cNvPr id="7" name="Shape 5"/>
          <p:cNvSpPr/>
          <p:nvPr/>
        </p:nvSpPr>
        <p:spPr>
          <a:xfrm>
            <a:off x="274320" y="1005840"/>
            <a:ext cx="64008" cy="1828800"/>
          </a:xfrm>
          <a:prstGeom prst="rect">
            <a:avLst/>
          </a:prstGeom>
          <a:solidFill>
            <a:srgbClr val="F4A261"/>
          </a:solidFill>
          <a:ln w="12700">
            <a:solidFill>
              <a:srgbClr val="F4A261"/>
            </a:solidFill>
            <a:prstDash val="solid"/>
          </a:ln>
        </p:spPr>
      </p:sp>
      <p:sp>
        <p:nvSpPr>
          <p:cNvPr id="8" name="Text 6"/>
          <p:cNvSpPr/>
          <p:nvPr/>
        </p:nvSpPr>
        <p:spPr>
          <a:xfrm>
            <a:off x="411480" y="1069848"/>
            <a:ext cx="4023360" cy="274320"/>
          </a:xfrm>
          <a:prstGeom prst="rect">
            <a:avLst/>
          </a:prstGeom>
          <a:noFill/>
          <a:ln/>
        </p:spPr>
        <p:txBody>
          <a:bodyPr wrap="square" lIns="0" tIns="0" rIns="0" bIns="0" rtlCol="0" anchor="ctr"/>
          <a:lstStyle/>
          <a:p>
            <a:pPr marL="0" indent="0">
              <a:buNone/>
            </a:pPr>
            <a:r>
              <a:rPr lang="en-US" sz="1300" b="1" dirty="0">
                <a:solidFill>
                  <a:srgbClr val="F4A261"/>
                </a:solidFill>
                <a:latin typeface="Trebuchet MS" pitchFamily="34" charset="0"/>
                <a:ea typeface="Trebuchet MS" pitchFamily="34" charset="-122"/>
                <a:cs typeface="Trebuchet MS" pitchFamily="34" charset="-120"/>
              </a:rPr>
              <a:t>The Problem</a:t>
            </a:r>
            <a:endParaRPr lang="en-US" sz="1300" dirty="0"/>
          </a:p>
        </p:txBody>
      </p:sp>
      <p:sp>
        <p:nvSpPr>
          <p:cNvPr id="9" name="Text 7"/>
          <p:cNvSpPr/>
          <p:nvPr/>
        </p:nvSpPr>
        <p:spPr>
          <a:xfrm>
            <a:off x="411480" y="1353312"/>
            <a:ext cx="4005072" cy="141732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Different developers and CI servers may have different Maven versions installed, causing 'it works on my machine' build failures.</a:t>
            </a:r>
            <a:endParaRPr lang="en-US" sz="1100" dirty="0"/>
          </a:p>
        </p:txBody>
      </p:sp>
      <p:sp>
        <p:nvSpPr>
          <p:cNvPr id="10" name="Shape 8"/>
          <p:cNvSpPr/>
          <p:nvPr/>
        </p:nvSpPr>
        <p:spPr>
          <a:xfrm>
            <a:off x="4709160" y="1005840"/>
            <a:ext cx="4206240" cy="1828800"/>
          </a:xfrm>
          <a:prstGeom prst="rect">
            <a:avLst/>
          </a:prstGeom>
          <a:solidFill>
            <a:srgbClr val="1F3A5F"/>
          </a:solidFill>
          <a:ln w="12700">
            <a:solidFill>
              <a:srgbClr val="1F3A5F"/>
            </a:solidFill>
            <a:prstDash val="solid"/>
          </a:ln>
          <a:effectLst>
            <a:outerShdw blurRad="63500" dist="25400" dir="8100000" algn="bl" rotWithShape="0">
              <a:srgbClr val="000000">
                <a:alpha val="25000"/>
              </a:srgbClr>
            </a:outerShdw>
          </a:effectLst>
        </p:spPr>
      </p:sp>
      <p:sp>
        <p:nvSpPr>
          <p:cNvPr id="11" name="Shape 9"/>
          <p:cNvSpPr/>
          <p:nvPr/>
        </p:nvSpPr>
        <p:spPr>
          <a:xfrm>
            <a:off x="4709160" y="1005840"/>
            <a:ext cx="64008" cy="1828800"/>
          </a:xfrm>
          <a:prstGeom prst="rect">
            <a:avLst/>
          </a:prstGeom>
          <a:solidFill>
            <a:srgbClr val="0096C7"/>
          </a:solidFill>
          <a:ln w="12700">
            <a:solidFill>
              <a:srgbClr val="0096C7"/>
            </a:solidFill>
            <a:prstDash val="solid"/>
          </a:ln>
        </p:spPr>
      </p:sp>
      <p:sp>
        <p:nvSpPr>
          <p:cNvPr id="12" name="Text 10"/>
          <p:cNvSpPr/>
          <p:nvPr/>
        </p:nvSpPr>
        <p:spPr>
          <a:xfrm>
            <a:off x="4846320" y="1069848"/>
            <a:ext cx="4023360" cy="274320"/>
          </a:xfrm>
          <a:prstGeom prst="rect">
            <a:avLst/>
          </a:prstGeom>
          <a:noFill/>
          <a:ln/>
        </p:spPr>
        <p:txBody>
          <a:bodyPr wrap="square" lIns="0" tIns="0" rIns="0" bIns="0" rtlCol="0" anchor="ctr"/>
          <a:lstStyle/>
          <a:p>
            <a:pPr marL="0" indent="0">
              <a:buNone/>
            </a:pPr>
            <a:r>
              <a:rPr lang="en-US" sz="1300" b="1" dirty="0">
                <a:solidFill>
                  <a:srgbClr val="0096C7"/>
                </a:solidFill>
                <a:latin typeface="Trebuchet MS" pitchFamily="34" charset="0"/>
                <a:ea typeface="Trebuchet MS" pitchFamily="34" charset="-122"/>
                <a:cs typeface="Trebuchet MS" pitchFamily="34" charset="-120"/>
              </a:rPr>
              <a:t>The Solution</a:t>
            </a:r>
            <a:endParaRPr lang="en-US" sz="1300" dirty="0"/>
          </a:p>
        </p:txBody>
      </p:sp>
      <p:sp>
        <p:nvSpPr>
          <p:cNvPr id="13" name="Text 11"/>
          <p:cNvSpPr/>
          <p:nvPr/>
        </p:nvSpPr>
        <p:spPr>
          <a:xfrm>
            <a:off x="4846320" y="1353312"/>
            <a:ext cx="4005072" cy="141732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mvnw (Maven Wrapper) is a script committed to your repo. It auto-downloads and uses the exact Maven version specified in .mvn/wrapper/maven-wrapper.properties.</a:t>
            </a:r>
            <a:endParaRPr lang="en-US" sz="1100" dirty="0"/>
          </a:p>
        </p:txBody>
      </p:sp>
      <p:sp>
        <p:nvSpPr>
          <p:cNvPr id="14" name="Shape 12"/>
          <p:cNvSpPr/>
          <p:nvPr/>
        </p:nvSpPr>
        <p:spPr>
          <a:xfrm>
            <a:off x="274320" y="3017520"/>
            <a:ext cx="4206240" cy="1828800"/>
          </a:xfrm>
          <a:prstGeom prst="rect">
            <a:avLst/>
          </a:prstGeom>
          <a:solidFill>
            <a:srgbClr val="1F3A5F"/>
          </a:solidFill>
          <a:ln w="12700">
            <a:solidFill>
              <a:srgbClr val="1F3A5F"/>
            </a:solidFill>
            <a:prstDash val="solid"/>
          </a:ln>
          <a:effectLst>
            <a:outerShdw blurRad="63500" dist="25400" dir="8100000" algn="bl" rotWithShape="0">
              <a:srgbClr val="000000">
                <a:alpha val="25000"/>
              </a:srgbClr>
            </a:outerShdw>
          </a:effectLst>
        </p:spPr>
      </p:sp>
      <p:sp>
        <p:nvSpPr>
          <p:cNvPr id="15" name="Shape 13"/>
          <p:cNvSpPr/>
          <p:nvPr/>
        </p:nvSpPr>
        <p:spPr>
          <a:xfrm>
            <a:off x="274320" y="3017520"/>
            <a:ext cx="64008" cy="1828800"/>
          </a:xfrm>
          <a:prstGeom prst="rect">
            <a:avLst/>
          </a:prstGeom>
          <a:solidFill>
            <a:srgbClr val="2EC4B6"/>
          </a:solidFill>
          <a:ln w="12700">
            <a:solidFill>
              <a:srgbClr val="2EC4B6"/>
            </a:solidFill>
            <a:prstDash val="solid"/>
          </a:ln>
        </p:spPr>
      </p:sp>
      <p:sp>
        <p:nvSpPr>
          <p:cNvPr id="16" name="Text 14"/>
          <p:cNvSpPr/>
          <p:nvPr/>
        </p:nvSpPr>
        <p:spPr>
          <a:xfrm>
            <a:off x="411480" y="3081528"/>
            <a:ext cx="4023360" cy="274320"/>
          </a:xfrm>
          <a:prstGeom prst="rect">
            <a:avLst/>
          </a:prstGeom>
          <a:noFill/>
          <a:ln/>
        </p:spPr>
        <p:txBody>
          <a:bodyPr wrap="square" lIns="0" tIns="0" rIns="0" bIns="0" rtlCol="0" anchor="ctr"/>
          <a:lstStyle/>
          <a:p>
            <a:pPr marL="0" indent="0">
              <a:buNone/>
            </a:pPr>
            <a:r>
              <a:rPr lang="en-US" sz="1300" b="1" dirty="0">
                <a:solidFill>
                  <a:srgbClr val="2EC4B6"/>
                </a:solidFill>
                <a:latin typeface="Trebuchet MS" pitchFamily="34" charset="0"/>
                <a:ea typeface="Trebuchet MS" pitchFamily="34" charset="-122"/>
                <a:cs typeface="Trebuchet MS" pitchFamily="34" charset="-120"/>
              </a:rPr>
              <a:t>How to Generate</a:t>
            </a:r>
            <a:endParaRPr lang="en-US" sz="1300" dirty="0"/>
          </a:p>
        </p:txBody>
      </p:sp>
      <p:sp>
        <p:nvSpPr>
          <p:cNvPr id="17" name="Text 15"/>
          <p:cNvSpPr/>
          <p:nvPr/>
        </p:nvSpPr>
        <p:spPr>
          <a:xfrm>
            <a:off x="411480" y="3364992"/>
            <a:ext cx="4005072" cy="141732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Run: mvn wrapper:wrapper</a:t>
            </a:r>
            <a:endParaRPr lang="en-US" sz="1100" dirty="0"/>
          </a:p>
          <a:p>
            <a:pPr marL="0" indent="0">
              <a:buNone/>
            </a:pPr>
            <a:r>
              <a:rPr lang="en-US" sz="1100" dirty="0">
                <a:solidFill>
                  <a:srgbClr val="EFF6FF"/>
                </a:solidFill>
                <a:latin typeface="Calibri" pitchFamily="34" charset="0"/>
                <a:ea typeface="Calibri" pitchFamily="34" charset="-122"/>
                <a:cs typeface="Calibri" pitchFamily="34" charset="-120"/>
              </a:rPr>
              <a:t>This creates mvnw, mvnw.cmd, and .mvn/ directory in your project root.</a:t>
            </a:r>
            <a:endParaRPr lang="en-US" sz="1100" dirty="0"/>
          </a:p>
        </p:txBody>
      </p:sp>
      <p:sp>
        <p:nvSpPr>
          <p:cNvPr id="18" name="Shape 16"/>
          <p:cNvSpPr/>
          <p:nvPr/>
        </p:nvSpPr>
        <p:spPr>
          <a:xfrm>
            <a:off x="4709160" y="3017520"/>
            <a:ext cx="4206240" cy="1828800"/>
          </a:xfrm>
          <a:prstGeom prst="rect">
            <a:avLst/>
          </a:prstGeom>
          <a:solidFill>
            <a:srgbClr val="1F3A5F"/>
          </a:solidFill>
          <a:ln w="12700">
            <a:solidFill>
              <a:srgbClr val="1F3A5F"/>
            </a:solidFill>
            <a:prstDash val="solid"/>
          </a:ln>
          <a:effectLst>
            <a:outerShdw blurRad="63500" dist="25400" dir="8100000" algn="bl" rotWithShape="0">
              <a:srgbClr val="000000">
                <a:alpha val="25000"/>
              </a:srgbClr>
            </a:outerShdw>
          </a:effectLst>
        </p:spPr>
      </p:sp>
      <p:sp>
        <p:nvSpPr>
          <p:cNvPr id="19" name="Shape 17"/>
          <p:cNvSpPr/>
          <p:nvPr/>
        </p:nvSpPr>
        <p:spPr>
          <a:xfrm>
            <a:off x="4709160" y="3017520"/>
            <a:ext cx="64008" cy="1828800"/>
          </a:xfrm>
          <a:prstGeom prst="rect">
            <a:avLst/>
          </a:prstGeom>
          <a:solidFill>
            <a:srgbClr val="A78BFA"/>
          </a:solidFill>
          <a:ln w="12700">
            <a:solidFill>
              <a:srgbClr val="A78BFA"/>
            </a:solidFill>
            <a:prstDash val="solid"/>
          </a:ln>
        </p:spPr>
      </p:sp>
      <p:sp>
        <p:nvSpPr>
          <p:cNvPr id="20" name="Text 18"/>
          <p:cNvSpPr/>
          <p:nvPr/>
        </p:nvSpPr>
        <p:spPr>
          <a:xfrm>
            <a:off x="4846320" y="3081528"/>
            <a:ext cx="4023360" cy="274320"/>
          </a:xfrm>
          <a:prstGeom prst="rect">
            <a:avLst/>
          </a:prstGeom>
          <a:noFill/>
          <a:ln/>
        </p:spPr>
        <p:txBody>
          <a:bodyPr wrap="square" lIns="0" tIns="0" rIns="0" bIns="0" rtlCol="0" anchor="ctr"/>
          <a:lstStyle/>
          <a:p>
            <a:pPr marL="0" indent="0">
              <a:buNone/>
            </a:pPr>
            <a:r>
              <a:rPr lang="en-US" sz="1300" b="1" dirty="0">
                <a:solidFill>
                  <a:srgbClr val="A78BFA"/>
                </a:solidFill>
                <a:latin typeface="Trebuchet MS" pitchFamily="34" charset="0"/>
                <a:ea typeface="Trebuchet MS" pitchFamily="34" charset="-122"/>
                <a:cs typeface="Trebuchet MS" pitchFamily="34" charset="-120"/>
              </a:rPr>
              <a:t>Usage</a:t>
            </a:r>
            <a:endParaRPr lang="en-US" sz="1300" dirty="0"/>
          </a:p>
        </p:txBody>
      </p:sp>
      <p:sp>
        <p:nvSpPr>
          <p:cNvPr id="21" name="Text 19"/>
          <p:cNvSpPr/>
          <p:nvPr/>
        </p:nvSpPr>
        <p:spPr>
          <a:xfrm>
            <a:off x="4846320" y="3364992"/>
            <a:ext cx="4005072" cy="1417320"/>
          </a:xfrm>
          <a:prstGeom prst="rect">
            <a:avLst/>
          </a:prstGeom>
          <a:noFill/>
          <a:ln/>
        </p:spPr>
        <p:txBody>
          <a:bodyPr wrap="square" lIns="0" tIns="0" rIns="0" bIns="0" rtlCol="0" anchor="ctr"/>
          <a:lstStyle/>
          <a:p>
            <a:pPr marL="0" indent="0">
              <a:buNone/>
            </a:pPr>
            <a:r>
              <a:rPr lang="en-US" sz="1100" dirty="0">
                <a:solidFill>
                  <a:srgbClr val="EFF6FF"/>
                </a:solidFill>
                <a:latin typeface="Calibri" pitchFamily="34" charset="0"/>
                <a:ea typeface="Calibri" pitchFamily="34" charset="-122"/>
                <a:cs typeface="Calibri" pitchFamily="34" charset="-120"/>
              </a:rPr>
              <a:t>./mvnw clean package</a:t>
            </a:r>
            <a:endParaRPr lang="en-US" sz="1100" dirty="0"/>
          </a:p>
          <a:p>
            <a:pPr marL="0" indent="0">
              <a:buNone/>
            </a:pPr>
            <a:r>
              <a:rPr lang="en-US" sz="1100" dirty="0">
                <a:solidFill>
                  <a:srgbClr val="EFF6FF"/>
                </a:solidFill>
                <a:latin typeface="Calibri" pitchFamily="34" charset="0"/>
                <a:ea typeface="Calibri" pitchFamily="34" charset="-122"/>
                <a:cs typeface="Calibri" pitchFamily="34" charset="-120"/>
              </a:rPr>
              <a:t>./mvnw spring-boot:run</a:t>
            </a:r>
            <a:endParaRPr lang="en-US" sz="1100" dirty="0"/>
          </a:p>
          <a:p>
            <a:pPr marL="0" indent="0">
              <a:buNone/>
            </a:pPr>
            <a:r>
              <a:rPr lang="en-US" sz="1100" dirty="0">
                <a:solidFill>
                  <a:srgbClr val="EFF6FF"/>
                </a:solidFill>
                <a:latin typeface="Calibri" pitchFamily="34" charset="0"/>
                <a:ea typeface="Calibri" pitchFamily="34" charset="-122"/>
                <a:cs typeface="Calibri" pitchFamily="34" charset="-120"/>
              </a:rPr>
              <a:t># Windows: mvnw.cmd clean install</a:t>
            </a:r>
            <a:endParaRPr lang="en-US" sz="1100" dirty="0"/>
          </a:p>
        </p:txBody>
      </p:sp>
      <p:sp>
        <p:nvSpPr>
          <p:cNvPr id="22" name="Shape 20"/>
          <p:cNvSpPr/>
          <p:nvPr/>
        </p:nvSpPr>
        <p:spPr>
          <a:xfrm>
            <a:off x="274320" y="4645152"/>
            <a:ext cx="8549640" cy="320040"/>
          </a:xfrm>
          <a:prstGeom prst="rect">
            <a:avLst/>
          </a:prstGeom>
          <a:solidFill>
            <a:srgbClr val="1F3A5F"/>
          </a:solidFill>
          <a:ln w="12700">
            <a:solidFill>
              <a:srgbClr val="1F3A5F"/>
            </a:solidFill>
            <a:prstDash val="solid"/>
          </a:ln>
        </p:spPr>
      </p:sp>
      <p:sp>
        <p:nvSpPr>
          <p:cNvPr id="23" name="Text 21"/>
          <p:cNvSpPr/>
          <p:nvPr/>
        </p:nvSpPr>
        <p:spPr>
          <a:xfrm>
            <a:off x="365760" y="4663440"/>
            <a:ext cx="8321040" cy="274320"/>
          </a:xfrm>
          <a:prstGeom prst="rect">
            <a:avLst/>
          </a:prstGeom>
          <a:noFill/>
          <a:ln/>
        </p:spPr>
        <p:txBody>
          <a:bodyPr wrap="square" lIns="0" tIns="0" rIns="0" bIns="0" rtlCol="0" anchor="ctr"/>
          <a:lstStyle/>
          <a:p>
            <a:pPr marL="0" indent="0" algn="ctr">
              <a:buNone/>
            </a:pPr>
            <a:r>
              <a:rPr lang="en-US" sz="1100" dirty="0">
                <a:solidFill>
                  <a:srgbClr val="0096C7"/>
                </a:solidFill>
                <a:latin typeface="Calibri" pitchFamily="34" charset="0"/>
                <a:ea typeface="Calibri" pitchFamily="34" charset="-122"/>
                <a:cs typeface="Calibri" pitchFamily="34" charset="-120"/>
              </a:rPr>
              <a:t>✔ No Maven pre-installation required   ✔ Version pinned in repo   ✔ Works offline (cached in ~/.m2/wrapper)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Shape 1"/>
          <p:cNvSpPr/>
          <p:nvPr/>
        </p:nvSpPr>
        <p:spPr>
          <a:xfrm>
            <a:off x="0" y="777240"/>
            <a:ext cx="9144000" cy="36576"/>
          </a:xfrm>
          <a:prstGeom prst="rect">
            <a:avLst/>
          </a:prstGeom>
          <a:solidFill>
            <a:srgbClr val="0096C7"/>
          </a:solidFill>
          <a:ln w="12700">
            <a:solidFill>
              <a:srgbClr val="0096C7"/>
            </a:solidFill>
            <a:prstDash val="solid"/>
          </a:ln>
        </p:spPr>
      </p:sp>
      <p:sp>
        <p:nvSpPr>
          <p:cNvPr id="4" name="Text 2"/>
          <p:cNvSpPr/>
          <p:nvPr/>
        </p:nvSpPr>
        <p:spPr>
          <a:xfrm>
            <a:off x="365760" y="9144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Maven &amp; Docker Integration</a:t>
            </a:r>
            <a:endParaRPr lang="en-US" sz="2400" dirty="0"/>
          </a:p>
        </p:txBody>
      </p:sp>
      <p:sp>
        <p:nvSpPr>
          <p:cNvPr id="5" name="Text 3"/>
          <p:cNvSpPr/>
          <p:nvPr/>
        </p:nvSpPr>
        <p:spPr>
          <a:xfrm>
            <a:off x="365760" y="566928"/>
            <a:ext cx="7315200" cy="228600"/>
          </a:xfrm>
          <a:prstGeom prst="rect">
            <a:avLst/>
          </a:prstGeom>
          <a:noFill/>
          <a:ln/>
        </p:spPr>
        <p:txBody>
          <a:bodyPr wrap="square" lIns="0" tIns="0" rIns="0" bIns="0" rtlCol="0" anchor="ctr"/>
          <a:lstStyle/>
          <a:p>
            <a:pPr marL="0" indent="0">
              <a:buNone/>
            </a:pPr>
            <a:r>
              <a:rPr lang="en-US" sz="1100" i="1" dirty="0">
                <a:solidFill>
                  <a:srgbClr val="0096C7"/>
                </a:solidFill>
                <a:latin typeface="Calibri" pitchFamily="34" charset="0"/>
                <a:ea typeface="Calibri" pitchFamily="34" charset="-122"/>
                <a:cs typeface="Calibri" pitchFamily="34" charset="-120"/>
              </a:rPr>
              <a:t>dockerfile-maven-plugin, Dockerizing apps, Pushing to registries</a:t>
            </a:r>
            <a:endParaRPr lang="en-US" sz="1100" dirty="0"/>
          </a:p>
        </p:txBody>
      </p:sp>
      <p:sp>
        <p:nvSpPr>
          <p:cNvPr id="6" name="Shape 4"/>
          <p:cNvSpPr/>
          <p:nvPr/>
        </p:nvSpPr>
        <p:spPr>
          <a:xfrm>
            <a:off x="274320" y="960120"/>
            <a:ext cx="4023360" cy="3931920"/>
          </a:xfrm>
          <a:prstGeom prst="rect">
            <a:avLst/>
          </a:prstGeom>
          <a:solidFill>
            <a:srgbClr val="1B2A4A"/>
          </a:solidFill>
          <a:ln w="12700">
            <a:solidFill>
              <a:srgbClr val="1B2A4A"/>
            </a:solidFill>
            <a:prstDash val="solid"/>
          </a:ln>
        </p:spPr>
      </p:sp>
      <p:sp>
        <p:nvSpPr>
          <p:cNvPr id="7" name="Text 5"/>
          <p:cNvSpPr/>
          <p:nvPr/>
        </p:nvSpPr>
        <p:spPr>
          <a:xfrm>
            <a:off x="411480" y="1024128"/>
            <a:ext cx="3749040" cy="274320"/>
          </a:xfrm>
          <a:prstGeom prst="rect">
            <a:avLst/>
          </a:prstGeom>
          <a:noFill/>
          <a:ln/>
        </p:spPr>
        <p:txBody>
          <a:bodyPr wrap="square" lIns="0" tIns="0" rIns="0" bIns="0" rtlCol="0" anchor="ctr"/>
          <a:lstStyle/>
          <a:p>
            <a:pPr marL="0" indent="0">
              <a:buNone/>
            </a:pPr>
            <a:r>
              <a:rPr lang="en-US" sz="1300" b="1" dirty="0">
                <a:solidFill>
                  <a:srgbClr val="F4A261"/>
                </a:solidFill>
                <a:latin typeface="Trebuchet MS" pitchFamily="34" charset="0"/>
                <a:ea typeface="Trebuchet MS" pitchFamily="34" charset="-122"/>
                <a:cs typeface="Trebuchet MS" pitchFamily="34" charset="-120"/>
              </a:rPr>
              <a:t>Integration Overview</a:t>
            </a:r>
            <a:endParaRPr lang="en-US" sz="1300" dirty="0"/>
          </a:p>
        </p:txBody>
      </p:sp>
      <p:sp>
        <p:nvSpPr>
          <p:cNvPr id="8" name="Shape 6"/>
          <p:cNvSpPr/>
          <p:nvPr/>
        </p:nvSpPr>
        <p:spPr>
          <a:xfrm>
            <a:off x="384048" y="1389888"/>
            <a:ext cx="320040" cy="320040"/>
          </a:xfrm>
          <a:prstGeom prst="ellipse">
            <a:avLst/>
          </a:prstGeom>
          <a:solidFill>
            <a:srgbClr val="0096C7"/>
          </a:solidFill>
          <a:ln w="12700">
            <a:solidFill>
              <a:srgbClr val="0096C7"/>
            </a:solidFill>
            <a:prstDash val="solid"/>
          </a:ln>
        </p:spPr>
      </p:sp>
      <p:sp>
        <p:nvSpPr>
          <p:cNvPr id="9" name="Text 7"/>
          <p:cNvSpPr/>
          <p:nvPr/>
        </p:nvSpPr>
        <p:spPr>
          <a:xfrm>
            <a:off x="384048" y="138988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1</a:t>
            </a:r>
            <a:endParaRPr lang="en-US" sz="1100" dirty="0"/>
          </a:p>
        </p:txBody>
      </p:sp>
      <p:sp>
        <p:nvSpPr>
          <p:cNvPr id="10" name="Text 8"/>
          <p:cNvSpPr/>
          <p:nvPr/>
        </p:nvSpPr>
        <p:spPr>
          <a:xfrm>
            <a:off x="777240" y="1389888"/>
            <a:ext cx="1188720" cy="320040"/>
          </a:xfrm>
          <a:prstGeom prst="rect">
            <a:avLst/>
          </a:prstGeom>
          <a:noFill/>
          <a:ln/>
        </p:spPr>
        <p:txBody>
          <a:bodyPr wrap="square" lIns="0" tIns="0" rIns="0" bIns="0" rtlCol="0" anchor="ctr"/>
          <a:lstStyle/>
          <a:p>
            <a:pPr marL="0" indent="0">
              <a:buNone/>
            </a:pPr>
            <a:r>
              <a:rPr lang="en-US" sz="1100" b="1" dirty="0">
                <a:solidFill>
                  <a:srgbClr val="F4A261"/>
                </a:solidFill>
                <a:latin typeface="Trebuchet MS" pitchFamily="34" charset="0"/>
                <a:ea typeface="Trebuchet MS" pitchFamily="34" charset="-122"/>
                <a:cs typeface="Trebuchet MS" pitchFamily="34" charset="-120"/>
              </a:rPr>
              <a:t>1. Build JAR</a:t>
            </a:r>
            <a:endParaRPr lang="en-US" sz="1100" dirty="0"/>
          </a:p>
        </p:txBody>
      </p:sp>
      <p:sp>
        <p:nvSpPr>
          <p:cNvPr id="11" name="Text 9"/>
          <p:cNvSpPr/>
          <p:nvPr/>
        </p:nvSpPr>
        <p:spPr>
          <a:xfrm>
            <a:off x="2011680" y="1389888"/>
            <a:ext cx="2194560" cy="32004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mvn package produces the application JAR in target/</a:t>
            </a:r>
            <a:endParaRPr lang="en-US" sz="1000" dirty="0"/>
          </a:p>
        </p:txBody>
      </p:sp>
      <p:sp>
        <p:nvSpPr>
          <p:cNvPr id="12" name="Shape 10"/>
          <p:cNvSpPr/>
          <p:nvPr/>
        </p:nvSpPr>
        <p:spPr>
          <a:xfrm>
            <a:off x="384048" y="2029968"/>
            <a:ext cx="320040" cy="320040"/>
          </a:xfrm>
          <a:prstGeom prst="ellipse">
            <a:avLst/>
          </a:prstGeom>
          <a:solidFill>
            <a:srgbClr val="0096C7"/>
          </a:solidFill>
          <a:ln w="12700">
            <a:solidFill>
              <a:srgbClr val="0096C7"/>
            </a:solidFill>
            <a:prstDash val="solid"/>
          </a:ln>
        </p:spPr>
      </p:sp>
      <p:sp>
        <p:nvSpPr>
          <p:cNvPr id="13" name="Text 11"/>
          <p:cNvSpPr/>
          <p:nvPr/>
        </p:nvSpPr>
        <p:spPr>
          <a:xfrm>
            <a:off x="384048" y="202996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2</a:t>
            </a:r>
            <a:endParaRPr lang="en-US" sz="1100" dirty="0"/>
          </a:p>
        </p:txBody>
      </p:sp>
      <p:sp>
        <p:nvSpPr>
          <p:cNvPr id="14" name="Text 12"/>
          <p:cNvSpPr/>
          <p:nvPr/>
        </p:nvSpPr>
        <p:spPr>
          <a:xfrm>
            <a:off x="777240" y="2029968"/>
            <a:ext cx="1188720" cy="320040"/>
          </a:xfrm>
          <a:prstGeom prst="rect">
            <a:avLst/>
          </a:prstGeom>
          <a:noFill/>
          <a:ln/>
        </p:spPr>
        <p:txBody>
          <a:bodyPr wrap="square" lIns="0" tIns="0" rIns="0" bIns="0" rtlCol="0" anchor="ctr"/>
          <a:lstStyle/>
          <a:p>
            <a:pPr marL="0" indent="0">
              <a:buNone/>
            </a:pPr>
            <a:r>
              <a:rPr lang="en-US" sz="1100" b="1" dirty="0">
                <a:solidFill>
                  <a:srgbClr val="F4A261"/>
                </a:solidFill>
                <a:latin typeface="Trebuchet MS" pitchFamily="34" charset="0"/>
                <a:ea typeface="Trebuchet MS" pitchFamily="34" charset="-122"/>
                <a:cs typeface="Trebuchet MS" pitchFamily="34" charset="-120"/>
              </a:rPr>
              <a:t>2. Write Dockerfile</a:t>
            </a:r>
            <a:endParaRPr lang="en-US" sz="1100" dirty="0"/>
          </a:p>
        </p:txBody>
      </p:sp>
      <p:sp>
        <p:nvSpPr>
          <p:cNvPr id="15" name="Text 13"/>
          <p:cNvSpPr/>
          <p:nvPr/>
        </p:nvSpPr>
        <p:spPr>
          <a:xfrm>
            <a:off x="2011680" y="2029968"/>
            <a:ext cx="2194560" cy="32004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Multi-stage Dockerfile: base image → copy JAR → ENTRYPOINT</a:t>
            </a:r>
            <a:endParaRPr lang="en-US" sz="1000" dirty="0"/>
          </a:p>
        </p:txBody>
      </p:sp>
      <p:sp>
        <p:nvSpPr>
          <p:cNvPr id="16" name="Shape 14"/>
          <p:cNvSpPr/>
          <p:nvPr/>
        </p:nvSpPr>
        <p:spPr>
          <a:xfrm>
            <a:off x="384048" y="2670048"/>
            <a:ext cx="320040" cy="320040"/>
          </a:xfrm>
          <a:prstGeom prst="ellipse">
            <a:avLst/>
          </a:prstGeom>
          <a:solidFill>
            <a:srgbClr val="0096C7"/>
          </a:solidFill>
          <a:ln w="12700">
            <a:solidFill>
              <a:srgbClr val="0096C7"/>
            </a:solidFill>
            <a:prstDash val="solid"/>
          </a:ln>
        </p:spPr>
      </p:sp>
      <p:sp>
        <p:nvSpPr>
          <p:cNvPr id="17" name="Text 15"/>
          <p:cNvSpPr/>
          <p:nvPr/>
        </p:nvSpPr>
        <p:spPr>
          <a:xfrm>
            <a:off x="384048" y="267004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3</a:t>
            </a:r>
            <a:endParaRPr lang="en-US" sz="1100" dirty="0"/>
          </a:p>
        </p:txBody>
      </p:sp>
      <p:sp>
        <p:nvSpPr>
          <p:cNvPr id="18" name="Text 16"/>
          <p:cNvSpPr/>
          <p:nvPr/>
        </p:nvSpPr>
        <p:spPr>
          <a:xfrm>
            <a:off x="777240" y="2670048"/>
            <a:ext cx="1188720" cy="320040"/>
          </a:xfrm>
          <a:prstGeom prst="rect">
            <a:avLst/>
          </a:prstGeom>
          <a:noFill/>
          <a:ln/>
        </p:spPr>
        <p:txBody>
          <a:bodyPr wrap="square" lIns="0" tIns="0" rIns="0" bIns="0" rtlCol="0" anchor="ctr"/>
          <a:lstStyle/>
          <a:p>
            <a:pPr marL="0" indent="0">
              <a:buNone/>
            </a:pPr>
            <a:r>
              <a:rPr lang="en-US" sz="1100" b="1" dirty="0">
                <a:solidFill>
                  <a:srgbClr val="F4A261"/>
                </a:solidFill>
                <a:latin typeface="Trebuchet MS" pitchFamily="34" charset="0"/>
                <a:ea typeface="Trebuchet MS" pitchFamily="34" charset="-122"/>
                <a:cs typeface="Trebuchet MS" pitchFamily="34" charset="-120"/>
              </a:rPr>
              <a:t>3. Build Image</a:t>
            </a:r>
            <a:endParaRPr lang="en-US" sz="1100" dirty="0"/>
          </a:p>
        </p:txBody>
      </p:sp>
      <p:sp>
        <p:nvSpPr>
          <p:cNvPr id="19" name="Text 17"/>
          <p:cNvSpPr/>
          <p:nvPr/>
        </p:nvSpPr>
        <p:spPr>
          <a:xfrm>
            <a:off x="2011680" y="2670048"/>
            <a:ext cx="2194560" cy="32004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dockerfile-maven-plugin runs docker build as part of mvn install</a:t>
            </a:r>
            <a:endParaRPr lang="en-US" sz="1000" dirty="0"/>
          </a:p>
        </p:txBody>
      </p:sp>
      <p:sp>
        <p:nvSpPr>
          <p:cNvPr id="20" name="Shape 18"/>
          <p:cNvSpPr/>
          <p:nvPr/>
        </p:nvSpPr>
        <p:spPr>
          <a:xfrm>
            <a:off x="384048" y="3310128"/>
            <a:ext cx="320040" cy="320040"/>
          </a:xfrm>
          <a:prstGeom prst="ellipse">
            <a:avLst/>
          </a:prstGeom>
          <a:solidFill>
            <a:srgbClr val="0096C7"/>
          </a:solidFill>
          <a:ln w="12700">
            <a:solidFill>
              <a:srgbClr val="0096C7"/>
            </a:solidFill>
            <a:prstDash val="solid"/>
          </a:ln>
        </p:spPr>
      </p:sp>
      <p:sp>
        <p:nvSpPr>
          <p:cNvPr id="21" name="Text 19"/>
          <p:cNvSpPr/>
          <p:nvPr/>
        </p:nvSpPr>
        <p:spPr>
          <a:xfrm>
            <a:off x="384048" y="331012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4</a:t>
            </a:r>
            <a:endParaRPr lang="en-US" sz="1100" dirty="0"/>
          </a:p>
        </p:txBody>
      </p:sp>
      <p:sp>
        <p:nvSpPr>
          <p:cNvPr id="22" name="Text 20"/>
          <p:cNvSpPr/>
          <p:nvPr/>
        </p:nvSpPr>
        <p:spPr>
          <a:xfrm>
            <a:off x="777240" y="3310128"/>
            <a:ext cx="1188720" cy="320040"/>
          </a:xfrm>
          <a:prstGeom prst="rect">
            <a:avLst/>
          </a:prstGeom>
          <a:noFill/>
          <a:ln/>
        </p:spPr>
        <p:txBody>
          <a:bodyPr wrap="square" lIns="0" tIns="0" rIns="0" bIns="0" rtlCol="0" anchor="ctr"/>
          <a:lstStyle/>
          <a:p>
            <a:pPr marL="0" indent="0">
              <a:buNone/>
            </a:pPr>
            <a:r>
              <a:rPr lang="en-US" sz="1100" b="1" dirty="0">
                <a:solidFill>
                  <a:srgbClr val="F4A261"/>
                </a:solidFill>
                <a:latin typeface="Trebuchet MS" pitchFamily="34" charset="0"/>
                <a:ea typeface="Trebuchet MS" pitchFamily="34" charset="-122"/>
                <a:cs typeface="Trebuchet MS" pitchFamily="34" charset="-120"/>
              </a:rPr>
              <a:t>4. Tag Image</a:t>
            </a:r>
            <a:endParaRPr lang="en-US" sz="1100" dirty="0"/>
          </a:p>
        </p:txBody>
      </p:sp>
      <p:sp>
        <p:nvSpPr>
          <p:cNvPr id="23" name="Text 21"/>
          <p:cNvSpPr/>
          <p:nvPr/>
        </p:nvSpPr>
        <p:spPr>
          <a:xfrm>
            <a:off x="2011680" y="3310128"/>
            <a:ext cx="2194560" cy="32004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Plugin tags image with project version automatically</a:t>
            </a:r>
            <a:endParaRPr lang="en-US" sz="1000" dirty="0"/>
          </a:p>
        </p:txBody>
      </p:sp>
      <p:sp>
        <p:nvSpPr>
          <p:cNvPr id="24" name="Shape 22"/>
          <p:cNvSpPr/>
          <p:nvPr/>
        </p:nvSpPr>
        <p:spPr>
          <a:xfrm>
            <a:off x="384048" y="3950208"/>
            <a:ext cx="320040" cy="320040"/>
          </a:xfrm>
          <a:prstGeom prst="ellipse">
            <a:avLst/>
          </a:prstGeom>
          <a:solidFill>
            <a:srgbClr val="0096C7"/>
          </a:solidFill>
          <a:ln w="12700">
            <a:solidFill>
              <a:srgbClr val="0096C7"/>
            </a:solidFill>
            <a:prstDash val="solid"/>
          </a:ln>
        </p:spPr>
      </p:sp>
      <p:sp>
        <p:nvSpPr>
          <p:cNvPr id="25" name="Text 23"/>
          <p:cNvSpPr/>
          <p:nvPr/>
        </p:nvSpPr>
        <p:spPr>
          <a:xfrm>
            <a:off x="384048" y="395020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5</a:t>
            </a:r>
            <a:endParaRPr lang="en-US" sz="1100" dirty="0"/>
          </a:p>
        </p:txBody>
      </p:sp>
      <p:sp>
        <p:nvSpPr>
          <p:cNvPr id="26" name="Text 24"/>
          <p:cNvSpPr/>
          <p:nvPr/>
        </p:nvSpPr>
        <p:spPr>
          <a:xfrm>
            <a:off x="777240" y="3950208"/>
            <a:ext cx="1188720" cy="320040"/>
          </a:xfrm>
          <a:prstGeom prst="rect">
            <a:avLst/>
          </a:prstGeom>
          <a:noFill/>
          <a:ln/>
        </p:spPr>
        <p:txBody>
          <a:bodyPr wrap="square" lIns="0" tIns="0" rIns="0" bIns="0" rtlCol="0" anchor="ctr"/>
          <a:lstStyle/>
          <a:p>
            <a:pPr marL="0" indent="0">
              <a:buNone/>
            </a:pPr>
            <a:r>
              <a:rPr lang="en-US" sz="1100" b="1" dirty="0">
                <a:solidFill>
                  <a:srgbClr val="F4A261"/>
                </a:solidFill>
                <a:latin typeface="Trebuchet MS" pitchFamily="34" charset="0"/>
                <a:ea typeface="Trebuchet MS" pitchFamily="34" charset="-122"/>
                <a:cs typeface="Trebuchet MS" pitchFamily="34" charset="-120"/>
              </a:rPr>
              <a:t>5. Push to Registry</a:t>
            </a:r>
            <a:endParaRPr lang="en-US" sz="1100" dirty="0"/>
          </a:p>
        </p:txBody>
      </p:sp>
      <p:sp>
        <p:nvSpPr>
          <p:cNvPr id="27" name="Text 25"/>
          <p:cNvSpPr/>
          <p:nvPr/>
        </p:nvSpPr>
        <p:spPr>
          <a:xfrm>
            <a:off x="2011680" y="3950208"/>
            <a:ext cx="2194560" cy="320040"/>
          </a:xfrm>
          <a:prstGeom prst="rect">
            <a:avLst/>
          </a:prstGeom>
          <a:noFill/>
          <a:ln/>
        </p:spPr>
        <p:txBody>
          <a:bodyPr wrap="square" lIns="0" tIns="0" rIns="0" bIns="0" rtlCol="0" anchor="ctr"/>
          <a:lstStyle/>
          <a:p>
            <a:pPr marL="0" indent="0">
              <a:buNone/>
            </a:pPr>
            <a:r>
              <a:rPr lang="en-US" sz="1000" dirty="0">
                <a:solidFill>
                  <a:srgbClr val="EFF6FF"/>
                </a:solidFill>
                <a:latin typeface="Calibri" pitchFamily="34" charset="0"/>
                <a:ea typeface="Calibri" pitchFamily="34" charset="-122"/>
                <a:cs typeface="Calibri" pitchFamily="34" charset="-120"/>
              </a:rPr>
              <a:t>mvn deploy pushes image to Docker Hub / ECR / GCR</a:t>
            </a:r>
            <a:endParaRPr lang="en-US" sz="1000" dirty="0"/>
          </a:p>
        </p:txBody>
      </p:sp>
      <p:sp>
        <p:nvSpPr>
          <p:cNvPr id="28" name="Shape 26"/>
          <p:cNvSpPr/>
          <p:nvPr/>
        </p:nvSpPr>
        <p:spPr>
          <a:xfrm>
            <a:off x="4572000" y="960120"/>
            <a:ext cx="4297680" cy="3931920"/>
          </a:xfrm>
          <a:prstGeom prst="rect">
            <a:avLst/>
          </a:prstGeom>
          <a:solidFill>
            <a:srgbClr val="0A1628"/>
          </a:solidFill>
          <a:ln w="12700">
            <a:solidFill>
              <a:srgbClr val="0096C7"/>
            </a:solidFill>
            <a:prstDash val="solid"/>
          </a:ln>
        </p:spPr>
      </p:sp>
      <p:sp>
        <p:nvSpPr>
          <p:cNvPr id="29" name="Text 27"/>
          <p:cNvSpPr/>
          <p:nvPr/>
        </p:nvSpPr>
        <p:spPr>
          <a:xfrm>
            <a:off x="4709160" y="1005840"/>
            <a:ext cx="4023360" cy="228600"/>
          </a:xfrm>
          <a:prstGeom prst="rect">
            <a:avLst/>
          </a:prstGeom>
          <a:noFill/>
          <a:ln/>
        </p:spPr>
        <p:txBody>
          <a:bodyPr wrap="square" lIns="0" tIns="0" rIns="0" bIns="0" rtlCol="0" anchor="ctr"/>
          <a:lstStyle/>
          <a:p>
            <a:pPr marL="0" indent="0">
              <a:buNone/>
            </a:pPr>
            <a:r>
              <a:rPr lang="en-US" sz="1100" b="1" dirty="0">
                <a:solidFill>
                  <a:srgbClr val="0096C7"/>
                </a:solidFill>
                <a:latin typeface="Trebuchet MS" pitchFamily="34" charset="0"/>
                <a:ea typeface="Trebuchet MS" pitchFamily="34" charset="-122"/>
                <a:cs typeface="Trebuchet MS" pitchFamily="34" charset="-120"/>
              </a:rPr>
              <a:t>Dockerfile (multi-stage):</a:t>
            </a:r>
            <a:endParaRPr lang="en-US" sz="1100" dirty="0"/>
          </a:p>
        </p:txBody>
      </p:sp>
      <p:sp>
        <p:nvSpPr>
          <p:cNvPr id="30" name="Text 28"/>
          <p:cNvSpPr/>
          <p:nvPr/>
        </p:nvSpPr>
        <p:spPr>
          <a:xfrm>
            <a:off x="4709160" y="1261872"/>
            <a:ext cx="4023360" cy="3520440"/>
          </a:xfrm>
          <a:prstGeom prst="rect">
            <a:avLst/>
          </a:prstGeom>
          <a:noFill/>
          <a:ln/>
        </p:spPr>
        <p:txBody>
          <a:bodyPr wrap="square" lIns="0" tIns="0" rIns="0" bIns="0" rtlCol="0" anchor="ctr"/>
          <a:lstStyle/>
          <a:p>
            <a:pPr marL="0" indent="0">
              <a:buNone/>
            </a:pPr>
            <a:r>
              <a:rPr lang="en-US" sz="1000" dirty="0">
                <a:solidFill>
                  <a:srgbClr val="F4A261"/>
                </a:solidFill>
                <a:latin typeface="Consolas" pitchFamily="34" charset="0"/>
                <a:ea typeface="Consolas" pitchFamily="34" charset="-122"/>
                <a:cs typeface="Consolas" pitchFamily="34" charset="-120"/>
              </a:rPr>
              <a:t>FROM eclipse-temurin:17-jdk AS build</a:t>
            </a:r>
            <a:endParaRPr lang="en-US" sz="1000" dirty="0"/>
          </a:p>
          <a:p>
            <a:pPr marL="0" indent="0">
              <a:buNone/>
            </a:pPr>
            <a:r>
              <a:rPr lang="en-US" sz="1000" dirty="0">
                <a:solidFill>
                  <a:srgbClr val="7EC8E3"/>
                </a:solidFill>
                <a:latin typeface="Consolas" pitchFamily="34" charset="0"/>
                <a:ea typeface="Consolas" pitchFamily="34" charset="-122"/>
                <a:cs typeface="Consolas" pitchFamily="34" charset="-120"/>
              </a:rPr>
              <a:t>WORKDIR /app</a:t>
            </a:r>
            <a:endParaRPr lang="en-US" sz="1000" dirty="0"/>
          </a:p>
          <a:p>
            <a:pPr marL="0" indent="0">
              <a:buNone/>
            </a:pPr>
            <a:r>
              <a:rPr lang="en-US" sz="1000" dirty="0">
                <a:solidFill>
                  <a:srgbClr val="7EC8E3"/>
                </a:solidFill>
                <a:latin typeface="Consolas" pitchFamily="34" charset="0"/>
                <a:ea typeface="Consolas" pitchFamily="34" charset="-122"/>
                <a:cs typeface="Consolas" pitchFamily="34" charset="-120"/>
              </a:rPr>
              <a:t>COPY . .</a:t>
            </a:r>
            <a:endParaRPr lang="en-US" sz="1000" dirty="0"/>
          </a:p>
          <a:p>
            <a:pPr marL="0" indent="0">
              <a:buNone/>
            </a:pPr>
            <a:r>
              <a:rPr lang="en-US" sz="1000" dirty="0">
                <a:solidFill>
                  <a:srgbClr val="94D2BD"/>
                </a:solidFill>
                <a:latin typeface="Consolas" pitchFamily="34" charset="0"/>
                <a:ea typeface="Consolas" pitchFamily="34" charset="-122"/>
                <a:cs typeface="Consolas" pitchFamily="34" charset="-120"/>
              </a:rPr>
              <a:t>RUN ./mvnw package -DskipTests</a:t>
            </a:r>
            <a:endParaRPr lang="en-US" sz="1000" dirty="0"/>
          </a:p>
          <a:p>
            <a:pPr marL="0" indent="0">
              <a:buNone/>
            </a:pPr>
            <a:endParaRPr lang="en-US" sz="1000" dirty="0"/>
          </a:p>
          <a:p>
            <a:pPr marL="0" indent="0">
              <a:buNone/>
            </a:pPr>
            <a:r>
              <a:rPr lang="en-US" sz="1000" dirty="0">
                <a:solidFill>
                  <a:srgbClr val="F4A261"/>
                </a:solidFill>
                <a:latin typeface="Consolas" pitchFamily="34" charset="0"/>
                <a:ea typeface="Consolas" pitchFamily="34" charset="-122"/>
                <a:cs typeface="Consolas" pitchFamily="34" charset="-120"/>
              </a:rPr>
              <a:t>FROM eclipse-temurin:17-jre</a:t>
            </a:r>
            <a:endParaRPr lang="en-US" sz="1000" dirty="0"/>
          </a:p>
          <a:p>
            <a:pPr marL="0" indent="0">
              <a:buNone/>
            </a:pPr>
            <a:r>
              <a:rPr lang="en-US" sz="1000" dirty="0">
                <a:solidFill>
                  <a:srgbClr val="7EC8E3"/>
                </a:solidFill>
                <a:latin typeface="Consolas" pitchFamily="34" charset="0"/>
                <a:ea typeface="Consolas" pitchFamily="34" charset="-122"/>
                <a:cs typeface="Consolas" pitchFamily="34" charset="-120"/>
              </a:rPr>
              <a:t>WORKDIR /app</a:t>
            </a:r>
            <a:endParaRPr lang="en-US" sz="1000" dirty="0"/>
          </a:p>
          <a:p>
            <a:pPr marL="0" indent="0">
              <a:buNone/>
            </a:pPr>
            <a:r>
              <a:rPr lang="en-US" sz="1000" dirty="0">
                <a:solidFill>
                  <a:srgbClr val="7EC8E3"/>
                </a:solidFill>
                <a:latin typeface="Consolas" pitchFamily="34" charset="0"/>
                <a:ea typeface="Consolas" pitchFamily="34" charset="-122"/>
                <a:cs typeface="Consolas" pitchFamily="34" charset="-120"/>
              </a:rPr>
              <a:t>COPY --from=build /app/target/*.jar app.jar</a:t>
            </a:r>
            <a:endParaRPr lang="en-US" sz="1000" dirty="0"/>
          </a:p>
          <a:p>
            <a:pPr marL="0" indent="0">
              <a:buNone/>
            </a:pPr>
            <a:r>
              <a:rPr lang="en-US" sz="1000" dirty="0">
                <a:solidFill>
                  <a:srgbClr val="94A3B8"/>
                </a:solidFill>
                <a:latin typeface="Consolas" pitchFamily="34" charset="0"/>
                <a:ea typeface="Consolas" pitchFamily="34" charset="-122"/>
                <a:cs typeface="Consolas" pitchFamily="34" charset="-120"/>
              </a:rPr>
              <a:t>EXPOSE 8080</a:t>
            </a:r>
            <a:endParaRPr lang="en-US" sz="1000" dirty="0"/>
          </a:p>
          <a:p>
            <a:pPr marL="0" indent="0">
              <a:buNone/>
            </a:pPr>
            <a:r>
              <a:rPr lang="en-US" sz="1000" dirty="0">
                <a:solidFill>
                  <a:srgbClr val="0096C7"/>
                </a:solidFill>
                <a:latin typeface="Consolas" pitchFamily="34" charset="0"/>
                <a:ea typeface="Consolas" pitchFamily="34" charset="-122"/>
                <a:cs typeface="Consolas" pitchFamily="34" charset="-120"/>
              </a:rPr>
              <a:t>ENTRYPOINT ["java","-jar","app.jar"]</a:t>
            </a:r>
            <a:endParaRPr lang="en-US" sz="1000" dirty="0"/>
          </a:p>
          <a:p>
            <a:pPr marL="0" indent="0">
              <a:buNone/>
            </a:pPr>
            <a:endParaRPr lang="en-US" sz="1000" dirty="0"/>
          </a:p>
          <a:p>
            <a:pPr marL="0" indent="0">
              <a:buNone/>
            </a:pPr>
            <a:r>
              <a:rPr lang="en-US" sz="1000" i="1" dirty="0">
                <a:solidFill>
                  <a:srgbClr val="94A3B8"/>
                </a:solidFill>
                <a:latin typeface="Consolas" pitchFamily="34" charset="0"/>
                <a:ea typeface="Consolas" pitchFamily="34" charset="-122"/>
                <a:cs typeface="Consolas" pitchFamily="34" charset="-120"/>
              </a:rPr>
              <a:t># Build &amp; push via Maven:</a:t>
            </a:r>
            <a:endParaRPr lang="en-US" sz="1000" dirty="0"/>
          </a:p>
          <a:p>
            <a:pPr marL="0" indent="0">
              <a:buNone/>
            </a:pPr>
            <a:r>
              <a:rPr lang="en-US" sz="1000" dirty="0">
                <a:solidFill>
                  <a:srgbClr val="F4A261"/>
                </a:solidFill>
                <a:latin typeface="Consolas" pitchFamily="34" charset="0"/>
                <a:ea typeface="Consolas" pitchFamily="34" charset="-122"/>
                <a:cs typeface="Consolas" pitchFamily="34" charset="-120"/>
              </a:rPr>
              <a:t>mvn dockerfile:build dockerfile:push</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51B7E9-68FF-3703-7DB3-9DC3DB044ECE}"/>
              </a:ext>
            </a:extLst>
          </p:cNvPr>
          <p:cNvSpPr txBox="1"/>
          <p:nvPr/>
        </p:nvSpPr>
        <p:spPr>
          <a:xfrm>
            <a:off x="952052" y="763792"/>
            <a:ext cx="6901030" cy="646331"/>
          </a:xfrm>
          <a:prstGeom prst="rect">
            <a:avLst/>
          </a:prstGeom>
          <a:noFill/>
        </p:spPr>
        <p:txBody>
          <a:bodyPr wrap="square">
            <a:spAutoFit/>
          </a:bodyPr>
          <a:lstStyle/>
          <a:p>
            <a:pPr>
              <a:buNone/>
            </a:pPr>
            <a:r>
              <a:rPr lang="en-US" b="1" dirty="0"/>
              <a:t>Pull Maven Image (One-Time)</a:t>
            </a:r>
          </a:p>
          <a:p>
            <a:pPr rtl="0">
              <a:buNone/>
            </a:pPr>
            <a:r>
              <a:rPr lang="en-US" dirty="0">
                <a:latin typeface="Courier New" panose="02070309020205020404" pitchFamily="49" charset="0"/>
              </a:rPr>
              <a:t>docker pull maven:3.9.10-eclipse-temurin-17</a:t>
            </a:r>
          </a:p>
        </p:txBody>
      </p:sp>
      <p:sp>
        <p:nvSpPr>
          <p:cNvPr id="5" name="TextBox 4">
            <a:extLst>
              <a:ext uri="{FF2B5EF4-FFF2-40B4-BE49-F238E27FC236}">
                <a16:creationId xmlns:a16="http://schemas.microsoft.com/office/drawing/2014/main" id="{F590BEC6-C78D-26FE-9D4E-032004C602D2}"/>
              </a:ext>
            </a:extLst>
          </p:cNvPr>
          <p:cNvSpPr txBox="1"/>
          <p:nvPr/>
        </p:nvSpPr>
        <p:spPr>
          <a:xfrm>
            <a:off x="785308" y="2247912"/>
            <a:ext cx="8358692" cy="369332"/>
          </a:xfrm>
          <a:prstGeom prst="rect">
            <a:avLst/>
          </a:prstGeom>
          <a:noFill/>
        </p:spPr>
        <p:txBody>
          <a:bodyPr wrap="square">
            <a:spAutoFit/>
          </a:bodyPr>
          <a:lstStyle/>
          <a:p>
            <a:r>
              <a:rPr lang="en-IN" dirty="0"/>
              <a:t>docker run --rm -it -v ${PWD}:/app -w /app maven:3.9.10-eclipse-temurin-17</a:t>
            </a:r>
          </a:p>
        </p:txBody>
      </p:sp>
      <p:sp>
        <p:nvSpPr>
          <p:cNvPr id="7" name="TextBox 6">
            <a:extLst>
              <a:ext uri="{FF2B5EF4-FFF2-40B4-BE49-F238E27FC236}">
                <a16:creationId xmlns:a16="http://schemas.microsoft.com/office/drawing/2014/main" id="{B4C300B5-3464-E3E7-A2D8-36DF5918B4A0}"/>
              </a:ext>
            </a:extLst>
          </p:cNvPr>
          <p:cNvSpPr txBox="1"/>
          <p:nvPr/>
        </p:nvSpPr>
        <p:spPr>
          <a:xfrm>
            <a:off x="785308" y="2971374"/>
            <a:ext cx="7810052" cy="646331"/>
          </a:xfrm>
          <a:prstGeom prst="rect">
            <a:avLst/>
          </a:prstGeom>
          <a:noFill/>
        </p:spPr>
        <p:txBody>
          <a:bodyPr wrap="square">
            <a:spAutoFit/>
          </a:bodyPr>
          <a:lstStyle/>
          <a:p>
            <a:r>
              <a:rPr lang="en-IN" dirty="0" err="1"/>
              <a:t>mvn</a:t>
            </a:r>
            <a:r>
              <a:rPr lang="en-IN" dirty="0"/>
              <a:t> </a:t>
            </a:r>
            <a:r>
              <a:rPr lang="en-IN" dirty="0" err="1"/>
              <a:t>archetype:generate</a:t>
            </a:r>
            <a:r>
              <a:rPr lang="en-IN" dirty="0"/>
              <a:t> -</a:t>
            </a:r>
            <a:r>
              <a:rPr lang="en-IN" dirty="0" err="1"/>
              <a:t>DgroupId</a:t>
            </a:r>
            <a:r>
              <a:rPr lang="en-IN" dirty="0"/>
              <a:t>=</a:t>
            </a:r>
            <a:r>
              <a:rPr lang="en-IN" dirty="0" err="1"/>
              <a:t>com.example</a:t>
            </a:r>
            <a:r>
              <a:rPr lang="en-IN" dirty="0"/>
              <a:t> -</a:t>
            </a:r>
            <a:r>
              <a:rPr lang="en-IN" dirty="0" err="1"/>
              <a:t>DartifactId</a:t>
            </a:r>
            <a:r>
              <a:rPr lang="en-IN" dirty="0"/>
              <a:t>=demo-app -</a:t>
            </a:r>
            <a:r>
              <a:rPr lang="en-IN" dirty="0" err="1"/>
              <a:t>DarchetypeArtifactId</a:t>
            </a:r>
            <a:r>
              <a:rPr lang="en-IN" dirty="0"/>
              <a:t>=maven-archetype-</a:t>
            </a:r>
            <a:r>
              <a:rPr lang="en-IN" dirty="0" err="1"/>
              <a:t>quickstart</a:t>
            </a:r>
            <a:r>
              <a:rPr lang="en-IN" dirty="0"/>
              <a:t> -</a:t>
            </a:r>
            <a:r>
              <a:rPr lang="en-IN" dirty="0" err="1"/>
              <a:t>DinteractiveMode</a:t>
            </a:r>
            <a:r>
              <a:rPr lang="en-IN" dirty="0"/>
              <a:t>=false</a:t>
            </a:r>
          </a:p>
        </p:txBody>
      </p:sp>
    </p:spTree>
    <p:extLst>
      <p:ext uri="{BB962C8B-B14F-4D97-AF65-F5344CB8AC3E}">
        <p14:creationId xmlns:p14="http://schemas.microsoft.com/office/powerpoint/2010/main" val="3841322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57C05F-EF6E-0BB9-F125-34150E522050}"/>
              </a:ext>
            </a:extLst>
          </p:cNvPr>
          <p:cNvSpPr txBox="1"/>
          <p:nvPr/>
        </p:nvSpPr>
        <p:spPr>
          <a:xfrm>
            <a:off x="333487" y="724418"/>
            <a:ext cx="8304904" cy="2585323"/>
          </a:xfrm>
          <a:prstGeom prst="rect">
            <a:avLst/>
          </a:prstGeom>
          <a:noFill/>
        </p:spPr>
        <p:txBody>
          <a:bodyPr wrap="square">
            <a:spAutoFit/>
          </a:bodyPr>
          <a:lstStyle/>
          <a:p>
            <a:endParaRPr lang="en-IN" dirty="0"/>
          </a:p>
          <a:p>
            <a:r>
              <a:rPr lang="en-IN" dirty="0" err="1"/>
              <a:t>mkdir</a:t>
            </a:r>
            <a:r>
              <a:rPr lang="en-IN" dirty="0"/>
              <a:t> test123</a:t>
            </a:r>
          </a:p>
          <a:p>
            <a:r>
              <a:rPr lang="en-IN" dirty="0"/>
              <a:t>cd test123</a:t>
            </a:r>
          </a:p>
          <a:p>
            <a:r>
              <a:rPr lang="en-IN" dirty="0"/>
              <a:t>docker run --rm -it -v %cd%:/app -w /app maven:3.9.10-eclipse-temurin-17 </a:t>
            </a:r>
            <a:r>
              <a:rPr lang="en-IN" dirty="0" err="1"/>
              <a:t>mvn</a:t>
            </a:r>
            <a:r>
              <a:rPr lang="en-IN" dirty="0"/>
              <a:t> </a:t>
            </a:r>
            <a:r>
              <a:rPr lang="en-IN" dirty="0" err="1"/>
              <a:t>archetype:generate</a:t>
            </a:r>
            <a:r>
              <a:rPr lang="en-IN" dirty="0"/>
              <a:t> -</a:t>
            </a:r>
            <a:r>
              <a:rPr lang="en-IN" dirty="0" err="1"/>
              <a:t>DgroupId</a:t>
            </a:r>
            <a:r>
              <a:rPr lang="en-IN" dirty="0"/>
              <a:t>=</a:t>
            </a:r>
            <a:r>
              <a:rPr lang="en-IN" dirty="0" err="1"/>
              <a:t>com.example</a:t>
            </a:r>
            <a:r>
              <a:rPr lang="en-IN" dirty="0"/>
              <a:t> -</a:t>
            </a:r>
            <a:r>
              <a:rPr lang="en-IN" dirty="0" err="1"/>
              <a:t>DartifactId</a:t>
            </a:r>
            <a:r>
              <a:rPr lang="en-IN" dirty="0"/>
              <a:t>=demo-app -</a:t>
            </a:r>
            <a:r>
              <a:rPr lang="en-IN" dirty="0" err="1"/>
              <a:t>DarchetypeArtifactId</a:t>
            </a:r>
            <a:r>
              <a:rPr lang="en-IN" dirty="0"/>
              <a:t>=maven-archetype-</a:t>
            </a:r>
            <a:r>
              <a:rPr lang="en-IN" dirty="0" err="1"/>
              <a:t>quickstart</a:t>
            </a:r>
            <a:r>
              <a:rPr lang="en-IN" dirty="0"/>
              <a:t> -</a:t>
            </a:r>
            <a:r>
              <a:rPr lang="en-IN" dirty="0" err="1"/>
              <a:t>DinteractiveMode</a:t>
            </a:r>
            <a:r>
              <a:rPr lang="en-IN" dirty="0"/>
              <a:t>=false</a:t>
            </a:r>
          </a:p>
          <a:p>
            <a:r>
              <a:rPr lang="en-IN" dirty="0"/>
              <a:t>cd demo-app</a:t>
            </a:r>
          </a:p>
          <a:p>
            <a:r>
              <a:rPr lang="en-IN" dirty="0"/>
              <a:t>docker run --rm -it -v %cd%:/app -w /app maven:3.9.10-eclipse-temurin-17 </a:t>
            </a:r>
            <a:r>
              <a:rPr lang="en-IN" dirty="0" err="1"/>
              <a:t>mvn</a:t>
            </a:r>
            <a:r>
              <a:rPr lang="en-IN" dirty="0"/>
              <a:t> clean install</a:t>
            </a:r>
          </a:p>
        </p:txBody>
      </p:sp>
    </p:spTree>
    <p:extLst>
      <p:ext uri="{BB962C8B-B14F-4D97-AF65-F5344CB8AC3E}">
        <p14:creationId xmlns:p14="http://schemas.microsoft.com/office/powerpoint/2010/main" val="142040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1789</Words>
  <Application>Microsoft Office PowerPoint</Application>
  <PresentationFormat>On-screen Show (16:9)</PresentationFormat>
  <Paragraphs>298</Paragraphs>
  <Slides>14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Consolas</vt:lpstr>
      <vt:lpstr>Courier New</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Maven Build Automation</dc:title>
  <dc:subject>PptxGenJS Presentation</dc:subject>
  <dc:creator>PptxGenJS</dc:creator>
  <cp:lastModifiedBy>Manpreet Kaur</cp:lastModifiedBy>
  <cp:revision>4</cp:revision>
  <dcterms:created xsi:type="dcterms:W3CDTF">2026-04-08T04:24:55Z</dcterms:created>
  <dcterms:modified xsi:type="dcterms:W3CDTF">2026-04-09T06:11:04Z</dcterms:modified>
</cp:coreProperties>
</file>